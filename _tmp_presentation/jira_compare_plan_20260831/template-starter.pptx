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7358d5dde8497e" /><Relationship Type="http://schemas.openxmlformats.org/officeDocument/2006/relationships/extended-properties" Target="/docProps/app.xml" Id="R43a357b7e0bb4da7" /><Relationship Type="http://schemas.openxmlformats.org/officeDocument/2006/relationships/officeDocument" Target="/ppt/presentation.xml" Id="R50d14e5b851c41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e791fb3f4a4c26"/>
  </p:sldMasterIdLst>
  <p:notesMasterIdLst>
    <p:notesMasterId xmlns:r="http://schemas.openxmlformats.org/officeDocument/2006/relationships" r:id="R19d7c584a0de4faa"/>
  </p:notesMasterIdLst>
  <p:sldIdLst>
    <p:sldId xmlns:r="http://schemas.openxmlformats.org/officeDocument/2006/relationships" id="256" r:id="Rc58b0e126a1e4b9d"/>
    <p:sldId xmlns:r="http://schemas.openxmlformats.org/officeDocument/2006/relationships" id="257" r:id="R1f24e84674cc407e"/>
    <p:sldId xmlns:r="http://schemas.openxmlformats.org/officeDocument/2006/relationships" id="258" r:id="Rd903fc12350a4a77"/>
    <p:sldId xmlns:r="http://schemas.openxmlformats.org/officeDocument/2006/relationships" id="259" r:id="R38ecd6b57f864cdd"/>
    <p:sldId xmlns:r="http://schemas.openxmlformats.org/officeDocument/2006/relationships" id="260" r:id="Rd6e0249847eb4a0e"/>
    <p:sldId xmlns:r="http://schemas.openxmlformats.org/officeDocument/2006/relationships" id="261" r:id="R256aabbfc6d249aa"/>
    <p:sldId xmlns:r="http://schemas.openxmlformats.org/officeDocument/2006/relationships" id="262" r:id="R54c7c7427d0946b6"/>
    <p:sldId xmlns:r="http://schemas.openxmlformats.org/officeDocument/2006/relationships" id="263" r:id="Ra5f7f019cd2a4eea"/>
    <p:sldId xmlns:r="http://schemas.openxmlformats.org/officeDocument/2006/relationships" id="264" r:id="R900beecb811c4c6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4848168959467f" /><Relationship Type="http://schemas.openxmlformats.org/officeDocument/2006/relationships/slideMaster" Target="/ppt/slideMasters/slideMaster1.xml" Id="Rece791fb3f4a4c26" /><Relationship Type="http://schemas.openxmlformats.org/officeDocument/2006/relationships/notesMaster" Target="/ppt/notesMasters/notesMaster1.xml" Id="R19d7c584a0de4faa" /><Relationship Type="http://schemas.openxmlformats.org/officeDocument/2006/relationships/presProps" Target="/ppt/presProps.xml" Id="R66441512fbb34409" /><Relationship Type="http://schemas.openxmlformats.org/officeDocument/2006/relationships/tableStyles" Target="/ppt/tableStyles.xml" Id="Rc352563b9b3644fa" /><Relationship Type="http://schemas.openxmlformats.org/officeDocument/2006/relationships/slide" Target="/ppt/slides/slide1.xml" Id="Rc58b0e126a1e4b9d" /><Relationship Type="http://schemas.openxmlformats.org/officeDocument/2006/relationships/slide" Target="/ppt/slides/slide2.xml" Id="R1f24e84674cc407e" /><Relationship Type="http://schemas.openxmlformats.org/officeDocument/2006/relationships/slide" Target="/ppt/slides/slide3.xml" Id="Rd903fc12350a4a77" /><Relationship Type="http://schemas.openxmlformats.org/officeDocument/2006/relationships/slide" Target="/ppt/slides/slide4.xml" Id="R38ecd6b57f864cdd" /><Relationship Type="http://schemas.openxmlformats.org/officeDocument/2006/relationships/slide" Target="/ppt/slides/slide5.xml" Id="Rd6e0249847eb4a0e" /><Relationship Type="http://schemas.openxmlformats.org/officeDocument/2006/relationships/slide" Target="/ppt/slides/slide6.xml" Id="R256aabbfc6d249aa" /><Relationship Type="http://schemas.openxmlformats.org/officeDocument/2006/relationships/slide" Target="/ppt/slides/slide7.xml" Id="R54c7c7427d0946b6" /><Relationship Type="http://schemas.openxmlformats.org/officeDocument/2006/relationships/slide" Target="/ppt/slides/slide8.xml" Id="Ra5f7f019cd2a4eea" /><Relationship Type="http://schemas.openxmlformats.org/officeDocument/2006/relationships/slide" Target="/ppt/slides/slide9.xml" Id="R900beecb811c4c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13844ea309948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7255c015054c10" /><Relationship Type="http://schemas.openxmlformats.org/officeDocument/2006/relationships/notesMaster" Target="/ppt/notesMasters/notesMaster1.xml" Id="Rc018c89e66034d1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2b2761862ca48ca" /><Relationship Type="http://schemas.openxmlformats.org/officeDocument/2006/relationships/notesMaster" Target="/ppt/notesMasters/notesMaster1.xml" Id="R3073ce2aa559453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7c36550966f47f0" /><Relationship Type="http://schemas.openxmlformats.org/officeDocument/2006/relationships/notesMaster" Target="/ppt/notesMasters/notesMaster1.xml" Id="R30dbe419de5a497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0bc93f81ac641ea" /><Relationship Type="http://schemas.openxmlformats.org/officeDocument/2006/relationships/notesMaster" Target="/ppt/notesMasters/notesMaster1.xml" Id="R46495f6cd392453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2f7ab52e80a42c5" /><Relationship Type="http://schemas.openxmlformats.org/officeDocument/2006/relationships/notesMaster" Target="/ppt/notesMasters/notesMaster1.xml" Id="Rb3633574071549c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14d325c3b4345f3" /><Relationship Type="http://schemas.openxmlformats.org/officeDocument/2006/relationships/notesMaster" Target="/ppt/notesMasters/notesMaster1.xml" Id="R6cb8589d3116427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1ef24b58e2a4a25" /><Relationship Type="http://schemas.openxmlformats.org/officeDocument/2006/relationships/notesMaster" Target="/ppt/notesMasters/notesMaster1.xml" Id="Re9b186d2221e412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8c9933be0434a68" /><Relationship Type="http://schemas.openxmlformats.org/officeDocument/2006/relationships/notesMaster" Target="/ppt/notesMasters/notesMaster1.xml" Id="R4b02c937f78a429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3550dcda5344675" /><Relationship Type="http://schemas.openxmlformats.org/officeDocument/2006/relationships/notesMaster" Target="/ppt/notesMasters/notesMaster1.xml" Id="Rdc3ef42779684f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핵심 메시지: 현재 팀에서 쓰는 도구를 새로 설명하기보다, 이미 연결된 업무 흐름이 전사 공통 운영 허브로 확장될 수 있음을 보여준다.</a:t>
            </a:r>
          </a:p>
          <a:p xmlns:a="http://schemas.openxmlformats.org/drawingml/2006/main">
            <a:r>
              <a:t>오프닝: 오늘은 기능 목록이 아니라 한 이슈가 발견되고, 확인되고, 협업되고, 산출물로 남는 흐름을 시연한다.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C:/Users/user/Desktop/project/Auto_Reports/README.md</a:t>
            </a:r>
          </a:p>
          <a:p xmlns:a="http://schemas.openxmlformats.org/drawingml/2006/main">
            <a:r>
              <a:t>- C:/Users/user/Desktop/project/Auto_Reports/frontend/src/app/router.tsx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시연 포인트: 파트너 조직을 선택하고 전체 이슈에서 특정 담당자로 범위를 좁힌다.</a:t>
            </a:r>
          </a:p>
          <a:p xmlns:a="http://schemas.openxmlformats.org/drawingml/2006/main">
            <a:r>
              <a:t>전사 확대 시에는 파트너 조직 및 계정 정보의 관리 주체를 먼저 정해야 한다.</a:t>
            </a:r>
          </a:p>
          <a:p xmlns:a="http://schemas.openxmlformats.org/drawingml/2006/main">
            <a:r>
              <a:t>화면의 조직명, 담당자, 이메일, 티켓은 발표용 샘플이다.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C:/Users/user/Desktop/project/Auto_Reports/frontend/src/presentation/pages/PartnerManagementPage.tsx</a:t>
            </a:r>
          </a:p>
          <a:p xmlns:a="http://schemas.openxmlformats.org/drawingml/2006/main">
            <a:r>
              <a:t>- Embedded screenshot generated from the cited frontend source with presentation sample data on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시연 포인트: 요청 유형 버튼을 한 번 끄고, 상반기 또는 하반기를 선택해 전체 위젯이 같은 범위로 바뀌는 흐름을 보여준다.</a:t>
            </a:r>
          </a:p>
          <a:p xmlns:a="http://schemas.openxmlformats.org/drawingml/2006/main">
            <a:r>
              <a:t>다음으로 최근 7일 생성 카드나 미완료 이슈 카드를 눌러 상세 모달까지 내려간다.</a:t>
            </a:r>
          </a:p>
          <a:p xmlns:a="http://schemas.openxmlformats.org/drawingml/2006/main">
            <a:r>
              <a:t>화면의 수치는 발표용 샘플이며 운영 성과 수치가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C:/Users/user/Desktop/project/Auto_Reports/frontend/src/presentation/pages/DashboardPage.tsx</a:t>
            </a:r>
          </a:p>
          <a:p xmlns:a="http://schemas.openxmlformats.org/drawingml/2006/main">
            <a:r>
              <a:t>- C:/Users/user/Desktop/project/Auto_Reports/frontend/src/presentation/hooks/useDashboardData.ts</a:t>
            </a:r>
          </a:p>
          <a:p xmlns:a="http://schemas.openxmlformats.org/drawingml/2006/main">
            <a:r>
              <a:t>- Embedded screenshot generated from the cited frontend source with presentation sample data on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시연 질문을 먼저 던진 뒤 화면을 이동한다. 메뉴 소개보다 사용자의 판단 과정을 중심으로 설명한다.</a:t>
            </a:r>
          </a:p>
          <a:p xmlns:a="http://schemas.openxmlformats.org/drawingml/2006/main">
            <a:r>
              <a:t>추천 동선: 대시보드 필터 → 미완료 상세 → SLA 댓글 → 파트너 조직 → 파일 보관함.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C:/Users/user/Desktop/project/Auto_Reports/frontend/src/app/router.tsx</a:t>
            </a:r>
          </a:p>
          <a:p xmlns:a="http://schemas.openxmlformats.org/drawingml/2006/main">
            <a:r>
              <a:t>- C:/Users/user/Desktop/project/Auto_Reports/frontend/src/presentation/pages/DashboardPage.tsx</a:t>
            </a:r>
          </a:p>
          <a:p xmlns:a="http://schemas.openxmlformats.org/drawingml/2006/main">
            <a:r>
              <a:t>- C:/Users/user/Desktop/project/Auto_Reports/frontend/src/presentation/pages/SlaDashboardPage.tsx</a:t>
            </a:r>
          </a:p>
          <a:p xmlns:a="http://schemas.openxmlformats.org/drawingml/2006/main">
            <a:r>
              <a:t>- C:/Users/user/Desktop/project/Auto_Reports/frontend/src/presentation/pages/PartnerManagementPage.tsx</a:t>
            </a:r>
          </a:p>
          <a:p xmlns:a="http://schemas.openxmlformats.org/drawingml/2006/main">
            <a:r>
              <a:t>- C:/Users/user/Desktop/project/Auto_Reports/frontend/src/presentation/pages/StoragePage.tsx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시연 포인트: 티켓 행을 펼쳐 최근 댓글을 보여주고, 생성 시간과 마지막 업데이트 시간을 함께 읽는다.</a:t>
            </a:r>
          </a:p>
          <a:p xmlns:a="http://schemas.openxmlformats.org/drawingml/2006/main">
            <a:r>
              <a:t>전사 관점의 의미: SLA 판단과 후속 조치의 문맥을 동일한 화면에서 공유할 수 있다.</a:t>
            </a:r>
          </a:p>
          <a:p xmlns:a="http://schemas.openxmlformats.org/drawingml/2006/main">
            <a:r>
              <a:t>화면의 티켓과 댓글은 발표용 샘플이다.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C:/Users/user/Desktop/project/Auto_Reports/frontend/src/presentation/pages/SlaDashboardPage.tsx</a:t>
            </a:r>
          </a:p>
          <a:p xmlns:a="http://schemas.openxmlformats.org/drawingml/2006/main">
            <a:r>
              <a:t>- C:/Users/user/Desktop/project/Auto_Reports/frontend/src/presentation/components/sla/SlaIssueActivityTable.tsx</a:t>
            </a:r>
          </a:p>
          <a:p xmlns:a="http://schemas.openxmlformats.org/drawingml/2006/main">
            <a:r>
              <a:t>- Embedded screenshot generated from the cited frontend source with presentation sample data on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핵심 메시지: 전사 확대의 이유를 메뉴 수가 아니라 동일한 맥락과 기준을 공유하는 문제로 정의한다.</a:t>
            </a:r>
          </a:p>
          <a:p xmlns:a="http://schemas.openxmlformats.org/drawingml/2006/main">
            <a:r>
              <a:t>이 슬라이드는 저장소가 Jira 보고, SLA, 파트너, 사이트, 파일을 한 라우터 아래 통합한 현재 범위에서 도출한 시연 관점이다.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C:/Users/user/Desktop/project/Auto_Reports/README.md</a:t>
            </a:r>
          </a:p>
          <a:p xmlns:a="http://schemas.openxmlformats.org/drawingml/2006/main">
            <a:r>
              <a:t>- C:/Users/user/Desktop/project/Auto_Reports/frontend/src/app/router.tsx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핵심 메시지: 전사 확대는 현재 구조를 버리고 새로 만드는 일이 아니라, 경계가 분리된 구조에 권한과 운영 기준을 확장하는 일이다.</a:t>
            </a:r>
          </a:p>
          <a:p xmlns:a="http://schemas.openxmlformats.org/drawingml/2006/main">
            <a:r>
              <a:t>기술 질의가 나오면 Domain, Application, Infrastructure, Presentation의 의존 방향과 실행 진입점의 Composition Root를 설명한다.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C:/Users/user/Desktop/project/Auto_Reports/README.md</a:t>
            </a:r>
          </a:p>
          <a:p xmlns:a="http://schemas.openxmlformats.org/drawingml/2006/main">
            <a:r>
              <a:t>- C:/Users/user/Desktop/project/Auto_Reports/backend/docs/01_architecture.md</a:t>
            </a:r>
          </a:p>
          <a:p xmlns:a="http://schemas.openxmlformats.org/drawingml/2006/main">
            <a:r>
              <a:t>- C:/Users/user/Desktop/project/Auto_Reports/docker-compose.yml</a:t>
            </a:r>
          </a:p>
          <a:p xmlns:a="http://schemas.openxmlformats.org/drawingml/2006/main">
            <a:r>
              <a:t>- C:/Users/user/Desktop/project/Auto_Reports/backend/src/infrastructure/security/jwt_service.py</a:t>
            </a:r>
          </a:p>
          <a:p xmlns:a="http://schemas.openxmlformats.org/drawingml/2006/main">
            <a:r>
              <a:t>- C:/Users/user/Desktop/project/Auto_Reports/backend/src/infrastructure/security/credential_encryptor.py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로드맵은 일정 약속이 아니라 확대 순서에 대한 제안이다.</a:t>
            </a:r>
          </a:p>
          <a:p xmlns:a="http://schemas.openxmlformats.org/drawingml/2006/main">
            <a:r>
              <a:t>파일럿 단계에서 권한, 데이터 책임, 공통 지표, 운영 오너를 합의해야 이후 부서 추가가 반복 가능한 방식이 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rollout recommendation based on the current repository scope and architecture</a:t>
            </a:r>
          </a:p>
          <a:p xmlns:a="http://schemas.openxmlformats.org/drawingml/2006/main">
            <a:r>
              <a:t>- C:/Users/user/Desktop/project/Auto_Reports/README.md</a:t>
            </a:r>
          </a:p>
          <a:p xmlns:a="http://schemas.openxmlformats.org/drawingml/2006/main">
            <a:r>
              <a:t>- C:/Users/user/Desktop/project/Auto_Reports/backend/docs/01_architecture.md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마무리 질문: 첫 파일럿 부서, 연결할 데이터 범위, 운영 오너를 오늘 어디까지 정할 수 있는지 확인한다.</a:t>
            </a:r>
          </a:p>
          <a:p xmlns:a="http://schemas.openxmlformats.org/drawingml/2006/main">
            <a:r>
              <a:t>최종 제안: 현재 팀의 검증된 사용 흐름을 기준선으로 삼고, 작은 범위에서 권한과 운영 기준을 검증한 뒤 순차 확대한다.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decision proposal based on the current product scope</a:t>
            </a:r>
          </a:p>
          <a:p xmlns:a="http://schemas.openxmlformats.org/drawingml/2006/main">
            <a:r>
              <a:t>- C:/Users/user/Desktop/project/Auto_Reports/README.md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ddcdd4abd9451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1e6f6ccd8945b1" /><Relationship Type="http://schemas.openxmlformats.org/officeDocument/2006/relationships/slideLayout" Target="/ppt/slideLayouts/slideLayout1.xml" Id="R98a08dada014423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a08dada014423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2696ae46794e32" /><Relationship Type="http://schemas.openxmlformats.org/officeDocument/2006/relationships/notesSlide" Target="/ppt/notesSlides/notesSlide1.xml" Id="Re6e62c1cf652436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97165d15a54479" /><Relationship Type="http://schemas.openxmlformats.org/officeDocument/2006/relationships/image" Target="/ppt/media/image.jpeg" Id="R96cbf646fbe54f80" /><Relationship Type="http://schemas.openxmlformats.org/officeDocument/2006/relationships/notesSlide" Target="/ppt/notesSlides/notesSlide2.xml" Id="Rd32dca61ae374f7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f85661ef464cf2" /><Relationship Type="http://schemas.openxmlformats.org/officeDocument/2006/relationships/image" Target="/ppt/media/image2.jpeg" Id="Raae6e3bb147e4d3c" /><Relationship Type="http://schemas.openxmlformats.org/officeDocument/2006/relationships/notesSlide" Target="/ppt/notesSlides/notesSlide3.xml" Id="Re39c0c88027c40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7b71a0ff164ad8" /><Relationship Type="http://schemas.openxmlformats.org/officeDocument/2006/relationships/notesSlide" Target="/ppt/notesSlides/notesSlide4.xml" Id="R6f0e375a409b4da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589d02c1d044b6" /><Relationship Type="http://schemas.openxmlformats.org/officeDocument/2006/relationships/image" Target="/ppt/media/image3.jpeg" Id="Ra259a05876e44a8b" /><Relationship Type="http://schemas.openxmlformats.org/officeDocument/2006/relationships/notesSlide" Target="/ppt/notesSlides/notesSlide5.xml" Id="R8001650ac26542e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b4bfd8c7f041ad" /><Relationship Type="http://schemas.openxmlformats.org/officeDocument/2006/relationships/notesSlide" Target="/ppt/notesSlides/notesSlide6.xml" Id="R428c1ecbbeec4b2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2f8987b12b41dd" /><Relationship Type="http://schemas.openxmlformats.org/officeDocument/2006/relationships/notesSlide" Target="/ppt/notesSlides/notesSlide7.xml" Id="R0b5374cd00f4453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3d2b88c6e64c25" /><Relationship Type="http://schemas.openxmlformats.org/officeDocument/2006/relationships/notesSlide" Target="/ppt/notesSlides/notesSlide8.xml" Id="R7c6cde54411b4eb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72f48d432e4439" /><Relationship Type="http://schemas.openxmlformats.org/officeDocument/2006/relationships/notesSlide" Target="/ppt/notesSlides/notesSlide9.xml" Id="R52092b18c9c043b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42DF3C50-A3FB-479B-8576-177D3663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AUTO REPORTS WORKSPACE</a:t>
            </a:r>
          </a:p>
        </p:txBody>
      </p:sp>
      <p:sp>
        <p:nvSpPr>
          <p:cNvPr id="2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09D2EBE0-F337-404C-838F-349486903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7620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83A0F21-5A71-4FE0-9183-FE1901A5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409700"/>
            <a:ext cx="9810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48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팀 전용 워크스페이스,</a:t>
            </a:r>
          </a:p>
          <a:p xmlns:a="http://schemas.openxmlformats.org/drawingml/2006/main">
            <a:pPr algn="l">
              <a:buNone/>
              <a:defRPr sz="48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48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전사 공통 운영 허브로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355D1CE-3009-4399-AFBC-C25818926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5295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Jira 보고 · SLA · 파트너 · 사이트 · 파일을 하나의 업무 흐름으로</a:t>
            </a:r>
          </a:p>
        </p:txBody>
      </p:sp>
      <p:sp>
        <p:nvSpPr>
          <p:cNvPr id="5" name="cover-date">
            <a:extLst xmlns:a="http://schemas.openxmlformats.org/drawingml/2006/main">
              <a:ext uri="{FF2B5EF4-FFF2-40B4-BE49-F238E27FC236}">
                <a16:creationId xmlns:a16="http://schemas.microsoft.com/office/drawing/2014/main" id="{D50E9F86-0AA9-4957-BC93-1308F8D9D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435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rPr>
              <a:t>전사 확대 시연 자료  |  2026.08</a:t>
            </a:r>
          </a:p>
        </p:txBody>
      </p:sp>
    </p:spTree>
    <p:extLst>
      <p:ext uri="{BB962C8B-B14F-4D97-AF65-F5344CB8AC3E}">
        <p14:creationId xmlns:p14="http://schemas.microsoft.com/office/powerpoint/2010/main" val="2332485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-6">
            <a:extLst xmlns:a="http://schemas.openxmlformats.org/drawingml/2006/main">
              <a:ext uri="{FF2B5EF4-FFF2-40B4-BE49-F238E27FC236}">
                <a16:creationId xmlns:a16="http://schemas.microsoft.com/office/drawing/2014/main" id="{16285647-470A-4D4C-9941-0DB4196DE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PARTNER OPERATIONS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1A81EF9E-5808-483A-B448-C49EFBD2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협업 대상을 조직·담당자·이슈로 연결합니다</a:t>
            </a:r>
          </a:p>
        </p:txBody>
      </p:sp>
      <p:sp>
        <p:nvSpPr>
          <p:cNvPr id="3" name="title-rule-6">
            <a:extLst xmlns:a="http://schemas.openxmlformats.org/drawingml/2006/main">
              <a:ext uri="{FF2B5EF4-FFF2-40B4-BE49-F238E27FC236}">
                <a16:creationId xmlns:a16="http://schemas.microsoft.com/office/drawing/2014/main" id="{844A74D9-5E20-4A7E-BDEF-3FE93C0B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F9E136C9-D0B6-4E81-8D40-51C4E555A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0BF205-D14D-46DD-9284-ECA9E3BA0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342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누가 맡고 있는지</a:t>
            </a:r>
          </a:p>
          <a:p xmlns:a="http://schemas.openxmlformats.org/drawingml/2006/main">
            <a:pPr algn="l">
              <a:buNone/>
              <a:defRPr sz="28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바로 좁혀집니다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B2AA9A-D2A0-4090-9041-FADC786F4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3429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조직을 고르고, 담당자를 선택하고, 진행 중인 이슈를 확인하는 흐름이 한 화면에 이어집니다.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1B1895-E638-4951-A935-E384BE4D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53237B-4451-494D-85A2-FC15ADEC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24400"/>
            <a:ext cx="320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단계·경과일</a:t>
            </a:r>
            <a:r>
              <a:rPr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을 함께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00D5BF-6C92-4166-9FCE-9F68DDD0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00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73D1DD-FD8A-462E-986D-80AC781B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14950"/>
            <a:ext cx="320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Jira 티켓</a:t>
            </a:r>
            <a:r>
              <a:rPr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을 새 탭으로 연결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E6334-2D16-49A8-9015-C4406DA9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33550"/>
            <a:ext cx="729615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cbf646fbe54f80"/>
          <a:srcRect xmlns:a="http://schemas.openxmlformats.org/drawingml/2006/main" l="15" t="0" r="1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38650" y="1809750"/>
            <a:ext cx="7143750" cy="4019550"/>
          </a:xfrm>
          <a:prstGeom xmlns:a="http://schemas.openxmlformats.org/drawingml/2006/main" prst="roundRect">
            <a:avLst>
              <a:gd name="adj" fmla="val 2844"/>
            </a:avLst>
          </a:prstGeom>
        </p:spPr>
      </p:pic>
      <p:sp>
        <p:nvSpPr>
          <p:cNvPr id="13" name="footer-note">
            <a:extLst xmlns:a="http://schemas.openxmlformats.org/drawingml/2006/main">
              <a:ext uri="{FF2B5EF4-FFF2-40B4-BE49-F238E27FC236}">
                <a16:creationId xmlns:a16="http://schemas.microsoft.com/office/drawing/2014/main" id="{91CDC568-4AF4-4CC5-AC87-A9C7602D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rPr>
              <a:t>시연 화면: 현재 프런트엔드 UI + 비식별 샘플 데이터</a:t>
            </a:r>
          </a:p>
        </p:txBody>
      </p:sp>
    </p:spTree>
    <p:extLst>
      <p:ext uri="{BB962C8B-B14F-4D97-AF65-F5344CB8AC3E}">
        <p14:creationId xmlns:p14="http://schemas.microsoft.com/office/powerpoint/2010/main" val="2679791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-3">
            <a:extLst xmlns:a="http://schemas.openxmlformats.org/drawingml/2006/main">
              <a:ext uri="{FF2B5EF4-FFF2-40B4-BE49-F238E27FC236}">
                <a16:creationId xmlns:a16="http://schemas.microsoft.com/office/drawing/2014/main" id="{5B193CC5-30F1-4B44-8608-9EF545DE4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PRODUCT VIEW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B5E099BA-8508-4BB5-94B0-CE24FB5AD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한 화면에서 현황을 보고 바로 상세로 내려갑니다</a:t>
            </a:r>
          </a:p>
        </p:txBody>
      </p:sp>
      <p:sp>
        <p:nvSpPr>
          <p:cNvPr id="3" name="title-rule-3">
            <a:extLst xmlns:a="http://schemas.openxmlformats.org/drawingml/2006/main">
              <a:ext uri="{FF2B5EF4-FFF2-40B4-BE49-F238E27FC236}">
                <a16:creationId xmlns:a16="http://schemas.microsoft.com/office/drawing/2014/main" id="{E94A5D3F-299E-4C26-B77F-83A10A6E5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3CA76B21-0A4F-4394-88B3-EB22F95B7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85C4EF-8B34-4798-B4D6-6F4BFBF13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필터 → 요약 → 상세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36E0A1-5343-4139-8BC6-54081A17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3429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보고 기간과 요청 유형을 바꾸면 같은 기준으로 카드, 차트, 상세 목록이 함께 움직입니다.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AD41D4-DEB2-4790-8B6F-81BB7760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82F346-7188-4BFC-BE9A-EEF4A4C7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433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요청 유형·반기</a:t>
            </a:r>
            <a:r>
              <a:rPr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 필터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F35901-31D5-41F0-87CB-9F36D3E7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E41321-15CC-427E-87E5-CDBC8C98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요약 카드</a:t>
            </a:r>
            <a:r>
              <a:rPr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 클릭 상세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1AEEB0-91CE-4426-9E23-324EA4E45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01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F43A84-FDA9-4DA9-97D2-DD9C6C78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244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최근 이슈</a:t>
            </a:r>
            <a:r>
              <a:rPr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 담당·경과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AE901A-0D8D-4FF2-8481-5C732C09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14500"/>
            <a:ext cx="7219950" cy="4124325"/>
          </a:xfrm>
          <a:prstGeom xmlns:a="http://schemas.openxmlformats.org/drawingml/2006/main" prst="roundRect">
            <a:avLst>
              <a:gd name="adj" fmla="val 1848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e6e3bb147e4d3c"/>
          <a:srcRect xmlns:a="http://schemas.openxmlformats.org/drawingml/2006/main" l="0" t="45" r="0" b="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14850" y="1790700"/>
            <a:ext cx="7067550" cy="3971925"/>
          </a:xfrm>
          <a:prstGeom xmlns:a="http://schemas.openxmlformats.org/drawingml/2006/main" prst="roundRect">
            <a:avLst>
              <a:gd name="adj" fmla="val 2878"/>
            </a:avLst>
          </a:prstGeom>
        </p:spPr>
      </p:pic>
      <p:sp>
        <p:nvSpPr>
          <p:cNvPr id="15" name="footer-note">
            <a:extLst xmlns:a="http://schemas.openxmlformats.org/drawingml/2006/main">
              <a:ext uri="{FF2B5EF4-FFF2-40B4-BE49-F238E27FC236}">
                <a16:creationId xmlns:a16="http://schemas.microsoft.com/office/drawing/2014/main" id="{59C9B443-2865-4302-BB2A-ED31BC2D9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rPr>
              <a:t>시연 화면: 현재 프런트엔드 UI + 비식별 샘플 데이터</a:t>
            </a:r>
          </a:p>
        </p:txBody>
      </p:sp>
    </p:spTree>
    <p:extLst>
      <p:ext uri="{BB962C8B-B14F-4D97-AF65-F5344CB8AC3E}">
        <p14:creationId xmlns:p14="http://schemas.microsoft.com/office/powerpoint/2010/main" val="439601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eyebrow-4">
            <a:extLst xmlns:a="http://schemas.openxmlformats.org/drawingml/2006/main">
              <a:ext uri="{FF2B5EF4-FFF2-40B4-BE49-F238E27FC236}">
                <a16:creationId xmlns:a16="http://schemas.microsoft.com/office/drawing/2014/main" id="{14299B77-C250-4ADF-9A83-8A1031F3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DEMO PATH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1EF13118-7887-49E5-8494-49F54F03E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시연은 한 이슈의 흐름을 끝까지 따라가면 충분합니다</a:t>
            </a:r>
          </a:p>
        </p:txBody>
      </p:sp>
      <p:sp>
        <p:nvSpPr>
          <p:cNvPr id="3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4C2ED378-35C7-4563-98D1-5B3F3113B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7F328F8C-4426-4E9A-8C01-39A82F1F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6CE549-C092-4198-9953-9947D9F7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발견에서 산출물까지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BDB19F-8B1D-4AC1-9075-AD3C3C52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476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메뉴를 순서대로 소개하기보다 하나의 운영 질문이 어디까지 연결되는지 보여줍니다.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3E6BBE-0D83-43A0-B67D-6CBE230D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“지금 가장 오래 머문 이슈는 무엇이고,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누가 어떤 근거로 후속 조치하고 있는가?”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E809BC-8650-4ADE-80E9-287CDF1A2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669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83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1DC9BE-8A34-411D-AC5F-E03AAD834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859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767C2E-59FF-4C90-8161-F77E059B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8097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필터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67F5CE-E626-4B44-8F80-10FB9935B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288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요청 유형·기간을 맞춘다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3B6E45-5C79-4107-B9D3-E31A74498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190750"/>
            <a:ext cx="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5F1ED3-26BB-475A-AF9E-78F04FB2B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051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83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58A726-9E16-4CA3-A536-A15437F4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241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02C561-AA34-49DF-BBFF-089A8002C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6479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드릴다운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18DCB9-3254-4598-BB13-35E1695D8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670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카드에서 상세 이슈를 연다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2C09E3-C366-4ADF-A244-43BD55EB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028950"/>
            <a:ext cx="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EB29F5-9733-4FF2-8019-8A149A46F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5433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83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0E7735-696D-4D1C-88A2-19E57D3EE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5623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103956-7D68-454B-8E0A-DABCF1CD5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861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SLA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79B64E-4AA0-4579-803C-8994FB20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052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업데이트와 댓글 근거를 확인한다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CD2902-42E3-4200-A8CE-0B3BF9A4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867150"/>
            <a:ext cx="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4E32B1-62A3-4F38-8882-DB888B67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3815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83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F5DAAF-CD6C-4516-A709-2874FB5F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005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2D0E84-4865-476A-AFF4-2356D833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3243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협업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F639E2-F7B1-4F3C-86B9-D531DE98D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3434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파트너·담당자 기준으로 좁힌다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28D128-6087-4E1B-96CD-E2F1FF821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705350"/>
            <a:ext cx="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8E76F3-F415-4F02-8B3E-B2EDD1AB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2197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83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24FA2E-0AF2-43AE-95F5-EA5B61FC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2387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8CBCF6-FEF8-4C5A-B86F-B94DB378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1625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산출물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E14297-619B-4516-9A94-05B18B81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1816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파일을 저장·미리보기·공유한다</a:t>
            </a:r>
          </a:p>
        </p:txBody>
      </p:sp>
    </p:spTree>
    <p:extLst>
      <p:ext uri="{BB962C8B-B14F-4D97-AF65-F5344CB8AC3E}">
        <p14:creationId xmlns:p14="http://schemas.microsoft.com/office/powerpoint/2010/main" val="6703737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-5">
            <a:extLst xmlns:a="http://schemas.openxmlformats.org/drawingml/2006/main">
              <a:ext uri="{FF2B5EF4-FFF2-40B4-BE49-F238E27FC236}">
                <a16:creationId xmlns:a16="http://schemas.microsoft.com/office/drawing/2014/main" id="{EB066E23-8C65-4D58-B8CB-05DA725E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OPERATING EVIDENCE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B9495919-E101-42BE-85FD-166C5FE3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SLA는 수치가 아니라 후속 조치의 근거까지 보여줍니다</a:t>
            </a:r>
          </a:p>
        </p:txBody>
      </p:sp>
      <p:sp>
        <p:nvSpPr>
          <p:cNvPr id="3" name="title-rule-5">
            <a:extLst xmlns:a="http://schemas.openxmlformats.org/drawingml/2006/main">
              <a:ext uri="{FF2B5EF4-FFF2-40B4-BE49-F238E27FC236}">
                <a16:creationId xmlns:a16="http://schemas.microsoft.com/office/drawing/2014/main" id="{28C1629F-9BC3-40D0-B0D7-071AD4A69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13FC222C-1F95-4FE3-879A-CE16DA429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9BFD02-97C0-4C87-8F6E-1EDF45AB9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7581900" cy="4333875"/>
          </a:xfrm>
          <a:prstGeom xmlns:a="http://schemas.openxmlformats.org/drawingml/2006/main" prst="roundRect">
            <a:avLst>
              <a:gd name="adj" fmla="val 1758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59a05876e44a8b"/>
          <a:srcRect xmlns:a="http://schemas.openxmlformats.org/drawingml/2006/main" l="28" t="0" r="2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809750"/>
            <a:ext cx="7429500" cy="4181475"/>
          </a:xfrm>
          <a:prstGeom xmlns:a="http://schemas.openxmlformats.org/drawingml/2006/main" prst="roundRect">
            <a:avLst>
              <a:gd name="adj" fmla="val 273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27E092-AEC5-43F6-8D04-2CABEFC0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0025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운영자가 바로 확인하는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6F1B1F-F82D-4548-8F92-B244E4E6F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76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BA9313-9B93-46A5-B12D-1D4B7AB95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90850"/>
            <a:ext cx="2724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최초 생성</a:t>
            </a:r>
            <a:r>
              <a:rPr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과 마지막 업데이트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FCE099-7744-4690-88BF-88794B114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528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42244D-AE45-4F94-BADB-A77D240F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867150"/>
            <a:ext cx="2724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최근 댓글</a:t>
            </a:r>
            <a:r>
              <a:rPr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을 이슈별로 펼쳐 보기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2BC9F3-4682-47CC-BDAE-05B3CCBCB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291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28B949-CAE7-4FC7-B2A7-FCE83FAC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743450"/>
            <a:ext cx="2724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Jira 원문</a:t>
            </a:r>
            <a:r>
              <a:rPr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으로 즉시 이동</a:t>
            </a:r>
          </a:p>
        </p:txBody>
      </p:sp>
      <p:sp>
        <p:nvSpPr>
          <p:cNvPr id="14" name="footer-note">
            <a:extLst xmlns:a="http://schemas.openxmlformats.org/drawingml/2006/main">
              <a:ext uri="{FF2B5EF4-FFF2-40B4-BE49-F238E27FC236}">
                <a16:creationId xmlns:a16="http://schemas.microsoft.com/office/drawing/2014/main" id="{D59C3EF1-1735-4C5A-B201-9AC8B227A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rPr>
              <a:t>시연 화면: 현재 프런트엔드 UI + 비식별 샘플 데이터</a:t>
            </a:r>
          </a:p>
        </p:txBody>
      </p:sp>
    </p:spTree>
    <p:extLst>
      <p:ext uri="{BB962C8B-B14F-4D97-AF65-F5344CB8AC3E}">
        <p14:creationId xmlns:p14="http://schemas.microsoft.com/office/powerpoint/2010/main" val="18699544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-2">
            <a:extLst xmlns:a="http://schemas.openxmlformats.org/drawingml/2006/main">
              <a:ext uri="{FF2B5EF4-FFF2-40B4-BE49-F238E27FC236}">
                <a16:creationId xmlns:a16="http://schemas.microsoft.com/office/drawing/2014/main" id="{328F622E-11A5-443A-BA20-F1A9913CC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WHY NOW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C849195E-A529-481C-9255-AAC934BD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전사 확대의 출발점은 기능이 아니라 맥락 통합입니다</a:t>
            </a:r>
          </a:p>
        </p:txBody>
      </p:sp>
      <p:sp>
        <p:nvSpPr>
          <p:cNvPr id="3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58E8D465-A4AE-4CA5-9D11-00593597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F74BACE1-E533-4A60-B33B-5EAD8D79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9CE975-846D-418B-B94F-94CBCEF7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오늘의 업무 정보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D70950-741C-47D4-B69D-4D522CCF2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466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운영 판단에 필요한 정보가 서로 다른 화면과 담당자에게 나뉘어 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799C46-AD2D-454B-9F4F-C3D3467A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31737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Jira 이슈와 보고서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8D3455-8DE0-4911-B976-D3F02985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381375"/>
            <a:ext cx="14001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현황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1D6874-3BA1-4D4A-99EA-CCFEC802A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466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A39024-0875-4737-9155-8D3D786FA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31737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SLA와 댓글 이력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EE8740-CB6A-4C59-8C40-A67677FCC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048125"/>
            <a:ext cx="14001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근거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E5F3B6-AB1C-4289-A96E-C688A51AA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466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76F067-5F1B-4C8B-BC26-9FB31088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31737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파트너·사이트·파일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6FD445-FD4A-4B9E-B2B4-A4B39FA69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714875"/>
            <a:ext cx="14001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맥락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7FAEED-345E-4545-B20D-0E25E583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466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6" name="thesis-panel">
            <a:extLst xmlns:a="http://schemas.openxmlformats.org/drawingml/2006/main">
              <a:ext uri="{FF2B5EF4-FFF2-40B4-BE49-F238E27FC236}">
                <a16:creationId xmlns:a16="http://schemas.microsoft.com/office/drawing/2014/main" id="{4E180D24-2E42-424C-9637-63AE9F71C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771650"/>
            <a:ext cx="55054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BDEB59-FE7B-40CB-A4FB-F9E67EC2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860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같은 데이터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858BA9-F439-46FC-B2F3-171782219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같은 지표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E1D122-5D51-4B4B-AF14-40C906EDF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005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같은 후속 조치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BC8139-DB42-4A96-AEFB-87EAE19B1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53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워크스페이스가 묶는 것은 화면이 아니라 업무의 기준입니다.</a:t>
            </a:r>
          </a:p>
        </p:txBody>
      </p:sp>
    </p:spTree>
    <p:extLst>
      <p:ext uri="{BB962C8B-B14F-4D97-AF65-F5344CB8AC3E}">
        <p14:creationId xmlns:p14="http://schemas.microsoft.com/office/powerpoint/2010/main" val="2749193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-8">
            <a:extLst xmlns:a="http://schemas.openxmlformats.org/drawingml/2006/main">
              <a:ext uri="{FF2B5EF4-FFF2-40B4-BE49-F238E27FC236}">
                <a16:creationId xmlns:a16="http://schemas.microsoft.com/office/drawing/2014/main" id="{BDF480AE-8D61-4CF9-AD3E-63FE432A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FOUNDATION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74EB98C5-805A-49DE-AF36-C1C8380A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전사 확대를 견딜 구조는 화면 아래에 이미 분리돼 있습니다</a:t>
            </a:r>
          </a:p>
        </p:txBody>
      </p:sp>
      <p:sp>
        <p:nvSpPr>
          <p:cNvPr id="3" name="title-rule-8">
            <a:extLst xmlns:a="http://schemas.openxmlformats.org/drawingml/2006/main">
              <a:ext uri="{FF2B5EF4-FFF2-40B4-BE49-F238E27FC236}">
                <a16:creationId xmlns:a16="http://schemas.microsoft.com/office/drawing/2014/main" id="{177DB089-3EA9-4FEE-8113-E74EF1BBE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4" name="page-8">
            <a:extLst xmlns:a="http://schemas.openxmlformats.org/drawingml/2006/main">
              <a:ext uri="{FF2B5EF4-FFF2-40B4-BE49-F238E27FC236}">
                <a16:creationId xmlns:a16="http://schemas.microsoft.com/office/drawing/2014/main" id="{775E6192-C21C-4376-9E54-C7E93D01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sp>
        <p:nvSpPr>
          <p:cNvPr id="5" name="arrow-1">
            <a:extLst xmlns:a="http://schemas.openxmlformats.org/drawingml/2006/main">
              <a:ext uri="{FF2B5EF4-FFF2-40B4-BE49-F238E27FC236}">
                <a16:creationId xmlns:a16="http://schemas.microsoft.com/office/drawing/2014/main" id="{F8C1ECAC-F417-41E2-B7F2-F0C014B8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762250"/>
            <a:ext cx="6858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C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rrow-2">
            <a:extLst xmlns:a="http://schemas.openxmlformats.org/drawingml/2006/main">
              <a:ext uri="{FF2B5EF4-FFF2-40B4-BE49-F238E27FC236}">
                <a16:creationId xmlns:a16="http://schemas.microsoft.com/office/drawing/2014/main" id="{B28F66D0-172B-4BCE-A178-D1B5BAB0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762250"/>
            <a:ext cx="6858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C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rrow-3">
            <a:extLst xmlns:a="http://schemas.openxmlformats.org/drawingml/2006/main">
              <a:ext uri="{FF2B5EF4-FFF2-40B4-BE49-F238E27FC236}">
                <a16:creationId xmlns:a16="http://schemas.microsoft.com/office/drawing/2014/main" id="{3E2FF07D-FE4B-42C6-AB1B-B0C51C3E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62250"/>
            <a:ext cx="6858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C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rch-node-1">
            <a:extLst xmlns:a="http://schemas.openxmlformats.org/drawingml/2006/main">
              <a:ext uri="{FF2B5EF4-FFF2-40B4-BE49-F238E27FC236}">
                <a16:creationId xmlns:a16="http://schemas.microsoft.com/office/drawing/2014/main" id="{8FD92F13-E821-4806-ACB8-54C707042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4765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AD20AD-3DFD-4956-A710-81EA2C31A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201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React UI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AB7225-198A-4A25-9D51-F4DA7DC5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201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대시보드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운영 화면</a:t>
            </a:r>
          </a:p>
        </p:txBody>
      </p:sp>
      <p:sp>
        <p:nvSpPr>
          <p:cNvPr id="11" name="arch-node-2">
            <a:extLst xmlns:a="http://schemas.openxmlformats.org/drawingml/2006/main">
              <a:ext uri="{FF2B5EF4-FFF2-40B4-BE49-F238E27FC236}">
                <a16:creationId xmlns:a16="http://schemas.microsoft.com/office/drawing/2014/main" id="{CC47B21C-B011-4474-AD76-00B42BE04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133600"/>
            <a:ext cx="24765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83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3C99AF-58ED-4231-9290-7A0725328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400300"/>
            <a:ext cx="201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2AC3A0-3CBC-482F-BCB4-6CBF81E5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952750"/>
            <a:ext cx="201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게이트웨이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유스케이스</a:t>
            </a:r>
          </a:p>
        </p:txBody>
      </p:sp>
      <p:sp>
        <p:nvSpPr>
          <p:cNvPr id="14" name="arch-node-3">
            <a:extLst xmlns:a="http://schemas.openxmlformats.org/drawingml/2006/main">
              <a:ext uri="{FF2B5EF4-FFF2-40B4-BE49-F238E27FC236}">
                <a16:creationId xmlns:a16="http://schemas.microsoft.com/office/drawing/2014/main" id="{E8BD60FF-F093-4C2B-A6E4-7FBD4E047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33600"/>
            <a:ext cx="24765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02D952-7549-44DA-972B-6954DCE2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00300"/>
            <a:ext cx="201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FastAPI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96CE04-696A-4E0C-9245-6A4005C3A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52750"/>
            <a:ext cx="201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API·매퍼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Composition Root</a:t>
            </a:r>
          </a:p>
        </p:txBody>
      </p:sp>
      <p:sp>
        <p:nvSpPr>
          <p:cNvPr id="17" name="arch-node-4">
            <a:extLst xmlns:a="http://schemas.openxmlformats.org/drawingml/2006/main">
              <a:ext uri="{FF2B5EF4-FFF2-40B4-BE49-F238E27FC236}">
                <a16:creationId xmlns:a16="http://schemas.microsoft.com/office/drawing/2014/main" id="{A500B598-167C-4A12-9FFE-CFD80FBDD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33600"/>
            <a:ext cx="24765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CEAA84-4885-44C5-B768-76FCB9699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00300"/>
            <a:ext cx="201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Adapters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BD063B-AEF8-4561-B204-E8E7A1D0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952750"/>
            <a:ext cx="201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Jira·DB·파일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메일·스케줄러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96095E-F873-45CF-8B09-E8099DBD3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05300"/>
            <a:ext cx="914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의존성은 안쪽을 향하고, 외부 시스템은 어댑터로 교체됩니다.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DFFA5A-E660-46BE-AFC2-D65C5640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387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아키텍처 경계 테스트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BDF4F2-29AB-4076-BE96-60467793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2387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Docker Compose 운영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40853B-3DA0-4190-83C5-950EEC1F0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387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인증·자격정보 보호</a:t>
            </a:r>
          </a:p>
        </p:txBody>
      </p:sp>
    </p:spTree>
    <p:extLst>
      <p:ext uri="{BB962C8B-B14F-4D97-AF65-F5344CB8AC3E}">
        <p14:creationId xmlns:p14="http://schemas.microsoft.com/office/powerpoint/2010/main" val="226048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-9">
            <a:extLst xmlns:a="http://schemas.openxmlformats.org/drawingml/2006/main">
              <a:ext uri="{FF2B5EF4-FFF2-40B4-BE49-F238E27FC236}">
                <a16:creationId xmlns:a16="http://schemas.microsoft.com/office/drawing/2014/main" id="{18BEE61D-FCA2-4B10-8F25-7766AF503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ROLLOUT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16A6FCDA-B3BA-46E8-8107-B7C634C5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확대는 부서 수보다 운영 기준을 먼저 맞추는 순서가 안전합니다</a:t>
            </a:r>
          </a:p>
        </p:txBody>
      </p:sp>
      <p:sp>
        <p:nvSpPr>
          <p:cNvPr id="3" name="title-rule-9">
            <a:extLst xmlns:a="http://schemas.openxmlformats.org/drawingml/2006/main">
              <a:ext uri="{FF2B5EF4-FFF2-40B4-BE49-F238E27FC236}">
                <a16:creationId xmlns:a16="http://schemas.microsoft.com/office/drawing/2014/main" id="{153378EB-E050-4ED9-8913-786184F34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4" name="page-9">
            <a:extLst xmlns:a="http://schemas.openxmlformats.org/drawingml/2006/main">
              <a:ext uri="{FF2B5EF4-FFF2-40B4-BE49-F238E27FC236}">
                <a16:creationId xmlns:a16="http://schemas.microsoft.com/office/drawing/2014/main" id="{42940E17-9DC3-4D62-AE4A-C705DFE98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8B93A1"/>
                </a:solidFill>
                <a:latin typeface="Noto Sans KR"/>
                <a:ea typeface="Noto Sans KR"/>
                <a:cs typeface="Noto Sans KR"/>
              </a:rPr>
              <a:t>09</a:t>
            </a:r>
          </a:p>
        </p:txBody>
      </p:sp>
      <p:sp>
        <p:nvSpPr>
          <p:cNvPr id="5" name="rollout-line">
            <a:extLst xmlns:a="http://schemas.openxmlformats.org/drawingml/2006/main">
              <a:ext uri="{FF2B5EF4-FFF2-40B4-BE49-F238E27FC236}">
                <a16:creationId xmlns:a16="http://schemas.microsoft.com/office/drawing/2014/main" id="{1355FD4A-26A9-4E04-8161-F1A7AF4E7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CD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B6AEBB-90DC-4C1D-8DE5-D8AD0F014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24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02AD4D-BEBB-494F-B577-F0A4A26E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527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PHASE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980CEF-A4DE-4277-95FE-5B6C97FF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14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파일럿 정렬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0D59E8-99AE-41C9-9792-465062217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291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참여 부서 선정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공통 JQL·SLA 용어 합의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역할과 데이터 범위 정의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C2593B-EE6F-4C6D-8FA3-56ABEC4CE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24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BF24CD-6B26-463E-AE46-11F5B7E91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527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PHASE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1A06AE-160D-41BF-AEF9-BCD5F2217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14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확대 검증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A3A02A-5F3C-4FA0-9F24-01FBAA37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2291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권한·감사 흐름 확인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운영 데이터 연결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지원·장애 대응 절차 검증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890945-62D8-4C98-ACDB-68558D7F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24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6AF171-723E-4D23-A1C7-261CEA08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527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PHASE 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72902E-09A5-463B-9DA3-2F1C52807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14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전사 표준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A9A074-A095-42E2-9DCC-8602FE82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291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제품 오너와 거버넌스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지표·카탈로그 표준화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조직별 순차 전개와 교육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C67F46-C010-4982-B707-BC292D4F1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기능 확장보다 먼저 정할 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909C05-E75D-4FA0-B2B9-D26121CD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90700"/>
            <a:ext cx="720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권한 · 데이터 책임 · 지표 정의 · 운영 오너</a:t>
            </a:r>
          </a:p>
        </p:txBody>
      </p:sp>
    </p:spTree>
    <p:extLst>
      <p:ext uri="{BB962C8B-B14F-4D97-AF65-F5344CB8AC3E}">
        <p14:creationId xmlns:p14="http://schemas.microsoft.com/office/powerpoint/2010/main" val="17737484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51064B-91D6-4E44-A983-17DD5C04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61B158-263A-47FC-9E9A-B9C1A8459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98107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40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다음 세 가지가 정해지면</a:t>
            </a:r>
          </a:p>
          <a:p xmlns:a="http://schemas.openxmlformats.org/drawingml/2006/main">
            <a:pPr algn="l">
              <a:buNone/>
              <a:defRPr sz="40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40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전사 파일럿을 시작할 수 있습니다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A060FF-F1AF-4713-9934-A9B1BD5FC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E0C433-16D7-4415-BFBC-A67A103EF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참여 범위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5302DF-292A-4125-AE8A-3DAD265E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첫 파일럿 부서와 대표 사용 시나리오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29F379-17A2-402A-B9FD-D8A331C3C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733800"/>
            <a:ext cx="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A100E3-1721-41E2-9BDE-27207D62B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957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19A267-1C84-43B9-B54B-7A249A47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1719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데이터·권한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C9D057-0197-4CCF-92C8-9447BBD30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78155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연결할 시스템과 조회·관리 권한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2A0FFD-703F-4A69-9AED-3D6909A6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33800"/>
            <a:ext cx="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91BBC3-653C-42DA-B946-2AB8F7840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957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683E8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800D53-B858-4447-A091-45B444627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719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오너·성공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3FBC62-19A5-4FCA-A9EF-C4AB02C68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8155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운영 책임자와 검증할 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993542-A005-40B6-A4EF-565C7172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8FBB43-EB4B-48B3-93A9-C95DAE9E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11827"/>
                </a:solidFill>
                <a:latin typeface="Noto Sans KR"/>
                <a:ea typeface="Noto Sans KR"/>
                <a:cs typeface="Noto Sans KR"/>
              </a:rPr>
              <a:t>제안: 현재 팀 사용 흐름을 기준선으로 삼아 작은 범위에서 검증한 뒤 순차 확대</a:t>
            </a:r>
          </a:p>
        </p:txBody>
      </p:sp>
    </p:spTree>
    <p:extLst>
      <p:ext uri="{BB962C8B-B14F-4D97-AF65-F5344CB8AC3E}">
        <p14:creationId xmlns:p14="http://schemas.microsoft.com/office/powerpoint/2010/main" val="18704279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2026-08-31T05:08:28.6060000Z</dcterms:created>
  <dcterms:modified xsi:type="dcterms:W3CDTF">2026-08-31T05:08:28.6060000Z</dcterms:modified>
</coreProperties>
</file>