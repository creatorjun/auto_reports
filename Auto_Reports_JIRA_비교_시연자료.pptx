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87c28a51234fce" /><Relationship Type="http://schemas.openxmlformats.org/officeDocument/2006/relationships/extended-properties" Target="/docProps/app.xml" Id="Ra4f87b3a16c44828" /><Relationship Type="http://schemas.openxmlformats.org/officeDocument/2006/relationships/officeDocument" Target="/ppt/presentation.xml" Id="R78f0240e422047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0a9837fe2c4901"/>
  </p:sldMasterIdLst>
  <p:notesMasterIdLst>
    <p:notesMasterId xmlns:r="http://schemas.openxmlformats.org/officeDocument/2006/relationships" r:id="R001b96060dc540a5"/>
  </p:notesMasterIdLst>
  <p:sldIdLst>
    <p:sldId xmlns:r="http://schemas.openxmlformats.org/officeDocument/2006/relationships" id="256" r:id="Rc5ecce9df7d44ccc"/>
    <p:sldId xmlns:r="http://schemas.openxmlformats.org/officeDocument/2006/relationships" id="257" r:id="R0cd1fa5b64704dd0"/>
    <p:sldId xmlns:r="http://schemas.openxmlformats.org/officeDocument/2006/relationships" id="258" r:id="R394c984976c94d0a"/>
    <p:sldId xmlns:r="http://schemas.openxmlformats.org/officeDocument/2006/relationships" id="259" r:id="Rf2fa964394db4db0"/>
    <p:sldId xmlns:r="http://schemas.openxmlformats.org/officeDocument/2006/relationships" id="260" r:id="Rbfa07dfabc394542"/>
    <p:sldId xmlns:r="http://schemas.openxmlformats.org/officeDocument/2006/relationships" id="261" r:id="R99c2d86f0e21451e"/>
    <p:sldId xmlns:r="http://schemas.openxmlformats.org/officeDocument/2006/relationships" id="262" r:id="R7aa9927053a8492b"/>
    <p:sldId xmlns:r="http://schemas.openxmlformats.org/officeDocument/2006/relationships" id="263" r:id="Rd59c6708f5cb44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3baa86ae124904" /><Relationship Type="http://schemas.openxmlformats.org/officeDocument/2006/relationships/slideMaster" Target="/ppt/slideMasters/slideMaster1.xml" Id="R290a9837fe2c4901" /><Relationship Type="http://schemas.openxmlformats.org/officeDocument/2006/relationships/notesMaster" Target="/ppt/notesMasters/notesMaster1.xml" Id="R001b96060dc540a5" /><Relationship Type="http://schemas.openxmlformats.org/officeDocument/2006/relationships/presProps" Target="/ppt/presProps.xml" Id="R7c4213678a054cce" /><Relationship Type="http://schemas.openxmlformats.org/officeDocument/2006/relationships/tableStyles" Target="/ppt/tableStyles.xml" Id="R2545f55718c94e26" /><Relationship Type="http://schemas.openxmlformats.org/officeDocument/2006/relationships/slide" Target="/ppt/slides/slide1.xml" Id="Rc5ecce9df7d44ccc" /><Relationship Type="http://schemas.openxmlformats.org/officeDocument/2006/relationships/slide" Target="/ppt/slides/slide2.xml" Id="R0cd1fa5b64704dd0" /><Relationship Type="http://schemas.openxmlformats.org/officeDocument/2006/relationships/slide" Target="/ppt/slides/slide3.xml" Id="R394c984976c94d0a" /><Relationship Type="http://schemas.openxmlformats.org/officeDocument/2006/relationships/slide" Target="/ppt/slides/slide4.xml" Id="Rf2fa964394db4db0" /><Relationship Type="http://schemas.openxmlformats.org/officeDocument/2006/relationships/slide" Target="/ppt/slides/slide5.xml" Id="Rbfa07dfabc394542" /><Relationship Type="http://schemas.openxmlformats.org/officeDocument/2006/relationships/slide" Target="/ppt/slides/slide6.xml" Id="R99c2d86f0e21451e" /><Relationship Type="http://schemas.openxmlformats.org/officeDocument/2006/relationships/slide" Target="/ppt/slides/slide7.xml" Id="R7aa9927053a8492b" /><Relationship Type="http://schemas.openxmlformats.org/officeDocument/2006/relationships/slide" Target="/ppt/slides/slide8.xml" Id="Rd59c6708f5cb44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5706e509a34d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c0428848ab4d1b" /><Relationship Type="http://schemas.openxmlformats.org/officeDocument/2006/relationships/notesMaster" Target="/ppt/notesMasters/notesMaster1.xml" Id="Rc17c17ae9a774d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e22181bb724585" /><Relationship Type="http://schemas.openxmlformats.org/officeDocument/2006/relationships/notesMaster" Target="/ppt/notesMasters/notesMaster1.xml" Id="R95b02a7ff8ff4f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3bf6c632c143f3" /><Relationship Type="http://schemas.openxmlformats.org/officeDocument/2006/relationships/notesMaster" Target="/ppt/notesMasters/notesMaster1.xml" Id="R987e69248ef748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95ef4e60684bc5" /><Relationship Type="http://schemas.openxmlformats.org/officeDocument/2006/relationships/notesMaster" Target="/ppt/notesMasters/notesMaster1.xml" Id="R85a1c0c5f3ac43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00505eef854d43" /><Relationship Type="http://schemas.openxmlformats.org/officeDocument/2006/relationships/notesMaster" Target="/ppt/notesMasters/notesMaster1.xml" Id="R76434689f9aa4d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ca9881ef9c4c64" /><Relationship Type="http://schemas.openxmlformats.org/officeDocument/2006/relationships/notesMaster" Target="/ppt/notesMasters/notesMaster1.xml" Id="R481f7b6a49ba4f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77b596ec624913" /><Relationship Type="http://schemas.openxmlformats.org/officeDocument/2006/relationships/notesMaster" Target="/ppt/notesMasters/notesMaster1.xml" Id="R82bdf935a87548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74f653b06243e6" /><Relationship Type="http://schemas.openxmlformats.org/officeDocument/2006/relationships/notesMaster" Target="/ppt/notesMasters/notesMaster1.xml" Id="Rbbca4839966e43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오프닝: JIRA 대체가 아니라, 현재 JIRA 데이터를 운영 판단에 맞게 재구성한 화면이라는 점을 먼저 설명한다.</a:t>
            </a:r>
          </a:p>
          <a:p xmlns:a="http://schemas.openxmlformats.org/drawingml/2006/main">
            <a:r>
              <a:t>근거 없는 시간 절감률은 사용하지 않고, 이후 슬라이드에서 실제 화면과 단계 수로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https://seculayer.atlassian.net/issues/?jql=project%20%3D%20TACEA%20ORDER%20BY%20updated%20DESC</a:t>
            </a:r>
          </a:p>
          <a:p xmlns:a="http://schemas.openxmlformats.org/drawingml/2006/main">
            <a:r>
              <a:t>- http://10.1.43.100/</a:t>
            </a:r>
          </a:p>
          <a:p xmlns:a="http://schemas.openxmlformats.org/drawingml/2006/main">
            <a:r>
              <a:t>- C:/Users/user/Desktop/project/Auto_Reports/README.md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로그인된 JIRA TACEA 업무 검색 화면을 2026-08-31에 직접 확인했다.</a:t>
            </a:r>
          </a:p>
          <a:p xmlns:a="http://schemas.openxmlformats.org/drawingml/2006/main">
            <a:r>
              <a:t>화면에는 TACEA 1,000+건, 50건 결과, 선택 티켓 상세, 담당 및 SLA 패널이 동시에 보인다.</a:t>
            </a:r>
          </a:p>
          <a:p xmlns:a="http://schemas.openxmlformats.org/drawingml/2006/main">
            <a:r>
              <a:t>개별 티켓 확인 강점과 운영 집계 시 반복 필터가 필요한 지점을 구분해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https://seculayer.atlassian.net/issues/?jql=project%20%3D%20TACEA%20ORDER%20BY%20updated%20DESC</a:t>
            </a:r>
          </a:p>
          <a:p xmlns:a="http://schemas.openxmlformats.org/drawingml/2006/main">
            <a:r>
              <a:t>- Current JIRA screenshot captured from the authenticated internal browser on 2026-08-31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배포 화면에서 요청 유형 7/7, 생성 966, 해결 865, 미완료 130, 상태별 대기 수치와 월별 차트를 확인했다.</a:t>
            </a:r>
          </a:p>
          <a:p xmlns:a="http://schemas.openxmlformats.org/drawingml/2006/main">
            <a:r>
              <a:t>수치는 2026-08-31 화면 스냅샷이며 운영 성과 개선률을 뜻하지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http://10.1.43.100/</a:t>
            </a:r>
          </a:p>
          <a:p xmlns:a="http://schemas.openxmlformats.org/drawingml/2006/main">
            <a:r>
              <a:t>- C:/Users/user/Desktop/project/Auto_Reports/frontend/src/presentation/pages/DashboardPage.tsx</a:t>
            </a:r>
          </a:p>
          <a:p xmlns:a="http://schemas.openxmlformats.org/drawingml/2006/main">
            <a:r>
              <a:t>- C:/Users/user/Desktop/project/Auto_Reports/frontend/src/presentation/hooks/useDashboardData.ts</a:t>
            </a:r>
          </a:p>
          <a:p xmlns:a="http://schemas.openxmlformats.org/drawingml/2006/main">
            <a:r>
              <a:t>- Current deployed workspace screenshot captured on 2026-08-31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단계 비교는 현재 보이는 UI를 기준으로 동일한 운영 질문에 답하는 조작 단위를 정리한 것이다.</a:t>
            </a:r>
          </a:p>
          <a:p xmlns:a="http://schemas.openxmlformats.org/drawingml/2006/main">
            <a:r>
              <a:t>JIRA는 필터, 결과 탐색, 티켓 상세, 재집계, 보고 작성이 필요하고 워크스페이스는 유형·기간 선택 후 카드·차트에서 근거로 내려간다.</a:t>
            </a:r>
          </a:p>
          <a:p xmlns:a="http://schemas.openxmlformats.org/drawingml/2006/main">
            <a:r>
              <a:t>실측 시간 절감 수치는 아직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https://seculayer.atlassian.net/issues/?jql=project%20%3D%20TACEA%20ORDER%20BY%20updated%20DESC</a:t>
            </a:r>
          </a:p>
          <a:p xmlns:a="http://schemas.openxmlformats.org/drawingml/2006/main">
            <a:r>
              <a:t>- http://10.1.43.100/</a:t>
            </a:r>
          </a:p>
          <a:p xmlns:a="http://schemas.openxmlformats.org/drawingml/2006/main">
            <a:r>
              <a:t>- C:/Users/user/Desktop/project/Auto_Reports/frontend/src/presentation/pages/DashboardPage.tsx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SLA 대시보드는 티켓별 최근 댓글 최대 5개를 행 아래에서 펼치고 JIRA 원문 링크를 유지한다.</a:t>
            </a:r>
          </a:p>
          <a:p xmlns:a="http://schemas.openxmlformats.org/drawingml/2006/main">
            <a:r>
              <a:t>발표에서는 댓글 내용 자체보다 티켓 이동 없이 최신 근거를 훑는 흐름을 보여준다.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http://10.1.43.100/sla-dashboard</a:t>
            </a:r>
          </a:p>
          <a:p xmlns:a="http://schemas.openxmlformats.org/drawingml/2006/main">
            <a:r>
              <a:t>- https://seculayer.atlassian.net/issues/?jql=project%20%3D%20TACEA%20ORDER%20BY%20updated%20DESC</a:t>
            </a:r>
          </a:p>
          <a:p xmlns:a="http://schemas.openxmlformats.org/drawingml/2006/main">
            <a:r>
              <a:t>- C:/Users/user/Desktop/project/Auto_Reports/frontend/src/presentation/pages/SlaDashboardPage.tsx</a:t>
            </a:r>
          </a:p>
          <a:p xmlns:a="http://schemas.openxmlformats.org/drawingml/2006/main">
            <a:r>
              <a:t>- C:/Users/user/Desktop/project/Auto_Reports/frontend/src/presentation/components/sla/SlaIssueActivityTable.tsx</a:t>
            </a:r>
          </a:p>
          <a:p xmlns:a="http://schemas.openxmlformats.org/drawingml/2006/main">
            <a:r>
              <a:t>- Current deployed SLA screenshot captured on 2026-08-31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비교 기준은 화면 개수 자체가 아니라 반복 운영 질문에 답하기 위한 재조회, 재필터, 티켓별 이동 여부다.</a:t>
            </a:r>
          </a:p>
          <a:p xmlns:a="http://schemas.openxmlformats.org/drawingml/2006/main">
            <a:r>
              <a:t>워크스페이스는 동일한 유형·기간 범위를 카드, 차트, 상세 목록에 적용하고 JIRA 원문으로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https://seculayer.atlassian.net/issues/?jql=project%20%3D%20TACEA%20ORDER%20BY%20updated%20DESC</a:t>
            </a:r>
          </a:p>
          <a:p xmlns:a="http://schemas.openxmlformats.org/drawingml/2006/main">
            <a:r>
              <a:t>- http://10.1.43.100/</a:t>
            </a:r>
          </a:p>
          <a:p xmlns:a="http://schemas.openxmlformats.org/drawingml/2006/main">
            <a:r>
              <a:t>- http://10.1.43.100/sla-dashboard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JIRA를 시스템 오브 레코드로 유지하고, 애플리케이션이 프로젝트 전체 기준으로 읽어 운영 화면을 구성하는 모델을 설명한다.</a:t>
            </a:r>
          </a:p>
          <a:p xmlns:a="http://schemas.openxmlformats.org/drawingml/2006/main">
            <a:r>
              <a:t>이 슬라이드는 대체가 아니라 읽기·판단 레이어의 역할 분리를 보여준다.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C:/Users/user/Desktop/project/Auto_Reports/README.md</a:t>
            </a:r>
          </a:p>
          <a:p xmlns:a="http://schemas.openxmlformats.org/drawingml/2006/main">
            <a:r>
              <a:t>- C:/Users/user/Desktop/project/Auto_Reports/backend/docs/01_architecture.md</a:t>
            </a:r>
          </a:p>
          <a:p xmlns:a="http://schemas.openxmlformats.org/drawingml/2006/main">
            <a:r>
              <a:t>- C:/Users/user/Desktop/project/Auto_Reports/frontend/src/app/router.tsx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전사 확대 판단은 시간, 화면·필터 전환, 결과 재사용성을 동일 업무에서 전후 측정하는 방식으로 제안한다.</a:t>
            </a:r>
          </a:p>
          <a:p xmlns:a="http://schemas.openxmlformats.org/drawingml/2006/main">
            <a:r>
              <a:t>2개 부서와 2주 기간은 의사결정을 위한 파일럿 제안이며 현재 성과 수치가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pilot measurement proposal based on the current JIRA and workspace workflows</a:t>
            </a:r>
          </a:p>
          <a:p xmlns:a="http://schemas.openxmlformats.org/drawingml/2006/main">
            <a:r>
              <a:t>- https://seculayer.atlassian.net/issues/?jql=project%20%3D%20TACEA%20ORDER%20BY%20updated%20DESC</a:t>
            </a:r>
          </a:p>
          <a:p xmlns:a="http://schemas.openxmlformats.org/drawingml/2006/main">
            <a:r>
              <a:t>- http://10.1.43.100/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c23c3d57d340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244cdc913a4372" /><Relationship Type="http://schemas.openxmlformats.org/officeDocument/2006/relationships/slideLayout" Target="/ppt/slideLayouts/slideLayout1.xml" Id="Reba46d88a1e341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a46d88a1e341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e35dbcf754321" /><Relationship Type="http://schemas.openxmlformats.org/officeDocument/2006/relationships/notesSlide" Target="/ppt/notesSlides/notesSlide1.xml" Id="Rc7c8bb9c3f0b46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8b463ef7a4e2c" /><Relationship Type="http://schemas.openxmlformats.org/officeDocument/2006/relationships/image" Target="/ppt/media/image.jpeg" Id="R6a5f2e9458de4d73" /><Relationship Type="http://schemas.openxmlformats.org/officeDocument/2006/relationships/notesSlide" Target="/ppt/notesSlides/notesSlide2.xml" Id="R2b172c67555c4b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2999ce8b04692" /><Relationship Type="http://schemas.openxmlformats.org/officeDocument/2006/relationships/image" Target="/ppt/media/image2.jpeg" Id="R7f118b0b130c41a3" /><Relationship Type="http://schemas.openxmlformats.org/officeDocument/2006/relationships/notesSlide" Target="/ppt/notesSlides/notesSlide3.xml" Id="R75609cfb40144d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258a4b17a45f1" /><Relationship Type="http://schemas.openxmlformats.org/officeDocument/2006/relationships/notesSlide" Target="/ppt/notesSlides/notesSlide4.xml" Id="Re94a8a7573934f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0415d9f004dfa" /><Relationship Type="http://schemas.openxmlformats.org/officeDocument/2006/relationships/image" Target="/ppt/media/image3.jpeg" Id="R10bc3e5403c64d97" /><Relationship Type="http://schemas.openxmlformats.org/officeDocument/2006/relationships/notesSlide" Target="/ppt/notesSlides/notesSlide5.xml" Id="R3d8fae207d1344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99c4dece047f3" /><Relationship Type="http://schemas.openxmlformats.org/officeDocument/2006/relationships/notesSlide" Target="/ppt/notesSlides/notesSlide6.xml" Id="R23f0996157614b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e532843dc4dc5" /><Relationship Type="http://schemas.openxmlformats.org/officeDocument/2006/relationships/notesSlide" Target="/ppt/notesSlides/notesSlide7.xml" Id="Rfa404066a70546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0bde4a17e4d90" /><Relationship Type="http://schemas.openxmlformats.org/officeDocument/2006/relationships/notesSlide" Target="/ppt/notesSlides/notesSlide8.xml" Id="Ra5e628a7cd9f43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42DF3C50-A3FB-479B-8576-177D3663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AUTO REPORTS × JIRA</a:t>
            </a:r>
          </a:p>
        </p:txBody>
      </p:sp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09D2EBE0-F337-404C-838F-34948690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62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83A0F21-5A71-4FE0-9183-FE1901A5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09700"/>
            <a:ext cx="9810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4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JIRA 원천은 그대로,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4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운영 판단까지는 더 짧게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355D1CE-3009-4399-AFBC-C2581892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현재 TACEA 화면과 워크스페이스를 같은 업무 질문으로 직접 비교합니다</a:t>
            </a:r>
          </a:p>
        </p:txBody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D50E9F86-0AA9-4957-BC93-1308F8D9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435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전사 확대 비교 시연 자료  |  2026.08.31</a:t>
            </a:r>
          </a:p>
        </p:txBody>
      </p:sp>
    </p:spTree>
    <p:extLst>
      <p:ext uri="{BB962C8B-B14F-4D97-AF65-F5344CB8AC3E}">
        <p14:creationId xmlns:p14="http://schemas.microsoft.com/office/powerpoint/2010/main" val="2332485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6">
            <a:extLst xmlns:a="http://schemas.openxmlformats.org/drawingml/2006/main">
              <a:ext uri="{FF2B5EF4-FFF2-40B4-BE49-F238E27FC236}">
                <a16:creationId xmlns:a16="http://schemas.microsoft.com/office/drawing/2014/main" id="{16285647-470A-4D4C-9941-0DB4196D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CURRENT JIRA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1A81EF9E-5808-483A-B448-C49EFBD2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현재 JIRA는 한 건을 깊게 보지만 전체 현황은 다시 만들어야 합니다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844A74D9-5E20-4A7E-BDEF-3FE93C0B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F9E136C9-D0B6-4E81-8D40-51C4E555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BF205-D14D-46DD-9284-ECA9E3BA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42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한 건은 깊게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전체는 다시 묻습니다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2AA9A-D2A0-4090-9041-FADC786F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342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TACEA 1,000+건 중 50건을 펼쳐 보고, 선택한 한 건의 설명·담당·SLA를 자세히 확인하는 현재 화면입니다.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B1895-E638-4951-A935-E384BE4D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3237B-4451-494D-85A2-FC15ADE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현황 질문마다 유형·상태·기간 재필터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0D5BF-6C92-4166-9FCE-9F68DDD0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3D1DD-FD8A-462E-986D-80AC781B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합계·추세·병목은 별도 쿼리·재조합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E6334-2D16-49A8-9015-C4406DA9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33550"/>
            <a:ext cx="72961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f2e9458de4d73"/>
          <a:srcRect xmlns:a="http://schemas.openxmlformats.org/drawingml/2006/main" l="15" t="0" r="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438650" y="1809750"/>
            <a:ext cx="7143750" cy="4019550"/>
          </a:xfrm>
          <a:prstGeom xmlns:a="http://schemas.openxmlformats.org/drawingml/2006/main" prst="roundRect">
            <a:avLst>
              <a:gd name="adj" fmla="val 2844"/>
            </a:avLst>
          </a:prstGeom>
        </p:spPr>
      </p:pic>
      <p:sp>
        <p:nvSpPr>
          <p:cNvPr id="13" name="footer-note">
            <a:extLst xmlns:a="http://schemas.openxmlformats.org/drawingml/2006/main">
              <a:ext uri="{FF2B5EF4-FFF2-40B4-BE49-F238E27FC236}">
                <a16:creationId xmlns:a16="http://schemas.microsoft.com/office/drawing/2014/main" id="{91CDC568-4AF4-4CC5-AC87-A9C7602D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현재 운영 JIRA · TACEA 업무 검색 화면 캡처  |  2026-08-31</a:t>
            </a:r>
          </a:p>
        </p:txBody>
      </p:sp>
    </p:spTree>
    <p:extLst>
      <p:ext uri="{BB962C8B-B14F-4D97-AF65-F5344CB8AC3E}">
        <p14:creationId xmlns:p14="http://schemas.microsoft.com/office/powerpoint/2010/main" val="2679791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3">
            <a:extLst xmlns:a="http://schemas.openxmlformats.org/drawingml/2006/main">
              <a:ext uri="{FF2B5EF4-FFF2-40B4-BE49-F238E27FC236}">
                <a16:creationId xmlns:a16="http://schemas.microsoft.com/office/drawing/2014/main" id="{5B193CC5-30F1-4B44-8608-9EF545DE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WORKSPACE VIEW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B5E099BA-8508-4BB5-94B0-CE24FB5A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같은 TACEA를 한 화면에서 운영 질문으로 바꿉니다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E94A5D3F-299E-4C26-B77F-83A10A6E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3CA76B21-0A4F-4394-88B3-EB22F95B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5C4EF-8B34-4798-B4D6-6F4BFBF1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유형 선택 → 요약 → 추세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6E0A1-5343-4139-8BC6-54081A17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3429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요청 유형 7종과 조회 기간을 맞추면 생성·해결·미완료·대기 상태와 월별 추세가 함께 갱신됩니다.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D41D4-DEB2-4790-8B6F-81BB7760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2F346-7188-4BFC-BE9A-EEF4A4C7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생성 966 · 해결 865 · 미완료 130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F35901-31D5-41F0-87CB-9F36D3E7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41321-15CC-427E-87E5-CDBC8C98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리뷰 20 · 자료 요청 14 · 결과 대기 44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1AEEB0-91CE-4426-9E23-324EA4E4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F43A84-FDA9-4DA9-97D2-DD9C6C78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44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열림: 지원 31 · 개선 63 · 인시던트 30 · CVE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AE901A-0D8D-4FF2-8481-5C732C09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14500"/>
            <a:ext cx="7219950" cy="4124325"/>
          </a:xfrm>
          <a:prstGeom xmlns:a="http://schemas.openxmlformats.org/drawingml/2006/main" prst="roundRect">
            <a:avLst>
              <a:gd name="adj" fmla="val 1848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118b0b130c41a3"/>
          <a:srcRect xmlns:a="http://schemas.openxmlformats.org/drawingml/2006/main" l="0" t="45" r="0" b="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514850" y="1790700"/>
            <a:ext cx="7067550" cy="3971925"/>
          </a:xfrm>
          <a:prstGeom xmlns:a="http://schemas.openxmlformats.org/drawingml/2006/main" prst="roundRect">
            <a:avLst>
              <a:gd name="adj" fmla="val 2878"/>
            </a:avLst>
          </a:prstGeom>
        </p:spPr>
      </p:pic>
      <p:sp>
        <p:nvSpPr>
          <p:cNvPr id="15" name="footer-note">
            <a:extLst xmlns:a="http://schemas.openxmlformats.org/drawingml/2006/main">
              <a:ext uri="{FF2B5EF4-FFF2-40B4-BE49-F238E27FC236}">
                <a16:creationId xmlns:a16="http://schemas.microsoft.com/office/drawing/2014/main" id="{59C9B443-2865-4302-BB2A-ED31BC2D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현재 배포 워크스페이스 대시보드 캡처  |  2026-08-31</a:t>
            </a:r>
          </a:p>
        </p:txBody>
      </p:sp>
    </p:spTree>
    <p:extLst>
      <p:ext uri="{BB962C8B-B14F-4D97-AF65-F5344CB8AC3E}">
        <p14:creationId xmlns:p14="http://schemas.microsoft.com/office/powerpoint/2010/main" val="439601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yebrow-4">
            <a:extLst xmlns:a="http://schemas.openxmlformats.org/drawingml/2006/main">
              <a:ext uri="{FF2B5EF4-FFF2-40B4-BE49-F238E27FC236}">
                <a16:creationId xmlns:a16="http://schemas.microsoft.com/office/drawing/2014/main" id="{14299B77-C250-4ADF-9A83-8A1031F3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TASK PATH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1EF13118-7887-49E5-8494-49F54F03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859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같은 질문에 답하는 경로가 다릅니다: JIRA 5단계, 워크스페이스 2단계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4C2ED378-35C7-4563-98D1-5B3F3113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7F328F8C-4426-4E9A-8C01-39A82F1F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CE549-C092-4198-9953-9947D9F7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주간 운영 현황을 묻는다면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DB19F-8B1D-4AC1-9075-AD3C3C52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질문: 이번 달 유입·해결 차이와 지금 막힌 상태는 무엇인가?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E6BBE-0D83-43A0-B67D-6CBE230D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워크스페이스는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유형·반기 선택 → 카드·차트 클릭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809BC-8650-4ADE-80E9-287CDF1A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66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83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DC9BE-8A34-411D-AC5F-E03AAD83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859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767C2E-59FF-4C90-8161-F77E059B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097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JIRA 필터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67F5CE-E626-4B44-8F80-10FB9935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288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프로젝트·유형·상태·기간 지정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B6E45-5C79-4107-B9D3-E31A7449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1907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F1ED3-26BB-475A-AF9E-78F04FB2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05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83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8A726-9E16-4CA3-A536-A15437F4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1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2C561-AA34-49DF-BBFF-089A8002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479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결과 탐색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8DCB9-3254-4598-BB13-35E1695D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670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50건 목록에서 관련 티켓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2C09E3-C366-4ADF-A244-43BD55EB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0289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EB29F5-9733-4FF2-8019-8A149A46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43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83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0E7735-696D-4D1C-88A2-19E57D3E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623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103956-7D68-454B-8E0A-DABCF1CD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861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상세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79B64E-4AA0-4579-803C-8994FB20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052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티켓별 SLA·담당·업데이트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CD2902-42E3-4200-A8CE-0B3BF9A4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8671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4E32B1-62A3-4F38-8882-DB888B67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81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83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F5DAAF-CD6C-4516-A709-2874FB5F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005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2D0E84-4865-476A-AFF4-2356D833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243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재집계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F639E2-F7B1-4F3C-86B9-D531DE98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43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상태·유형별 쿼리를 반복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28D128-6087-4E1B-96CD-E2F1FF82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7053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8E76F3-F415-4F02-8B3E-B2EDD1AB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19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83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24FA2E-0AF2-43AE-95F5-EA5B61FC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387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8CBCF6-FEF8-4C5A-B86F-B94DB378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1625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보고 작성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E14297-619B-4516-9A94-05B18B81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816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수치를 복사해 표·문장으로 정리</a:t>
            </a:r>
          </a:p>
        </p:txBody>
      </p:sp>
    </p:spTree>
    <p:extLst>
      <p:ext uri="{BB962C8B-B14F-4D97-AF65-F5344CB8AC3E}">
        <p14:creationId xmlns:p14="http://schemas.microsoft.com/office/powerpoint/2010/main" val="6703737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5">
            <a:extLst xmlns:a="http://schemas.openxmlformats.org/drawingml/2006/main">
              <a:ext uri="{FF2B5EF4-FFF2-40B4-BE49-F238E27FC236}">
                <a16:creationId xmlns:a16="http://schemas.microsoft.com/office/drawing/2014/main" id="{EB066E23-8C65-4D58-B8CB-05DA725E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SLA FOLLOW-UP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B9495919-E101-42BE-85FD-166C5FE3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지연 이슈 후속 조치는 티켓 이동보다 최근 근거가 먼저입니다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28C1629F-9BC3-40D0-B0D7-071AD4A6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13FC222C-1F95-4FE3-879A-CE16DA42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BFD02-97C0-4C87-8F6E-1EDF45AB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758190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c3e5403c64d97"/>
          <a:srcRect xmlns:a="http://schemas.openxmlformats.org/drawingml/2006/main" l="28" t="0" r="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85800" y="1809750"/>
            <a:ext cx="7429500" cy="4181475"/>
          </a:xfrm>
          <a:prstGeom xmlns:a="http://schemas.openxmlformats.org/drawingml/2006/main" prst="roundRect">
            <a:avLst>
              <a:gd name="adj" fmla="val 273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7E092-AEC5-43F6-8D04-2CABEFC0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같은 업무, 더 짧은 확인 흐름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F1B1F-F82D-4548-8F92-B244E4E6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76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A9313-9B93-46A5-B12D-1D4B7AB9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908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JIRA: 검색 → 티켓 선택 → 활동·SLA 이동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CE099-7744-4690-88BF-88794B11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52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42244D-AE45-4F94-BADB-A77D240F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671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워크스페이스: 지연 티켓 + 최근 댓글 최대 5개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BC9F3-4682-47CC-BDAE-05B3CCBC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29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8B949-CAE7-4FC7-B2A7-FCE83FAC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434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원문이 필요할 때 JIRA 티켓으로 즉시 연결</a:t>
            </a:r>
          </a:p>
        </p:txBody>
      </p:sp>
      <p:sp>
        <p:nvSpPr>
          <p:cNvPr id="14" name="footer-note">
            <a:extLst xmlns:a="http://schemas.openxmlformats.org/drawingml/2006/main">
              <a:ext uri="{FF2B5EF4-FFF2-40B4-BE49-F238E27FC236}">
                <a16:creationId xmlns:a16="http://schemas.microsoft.com/office/drawing/2014/main" id="{D59C3EF1-1735-4C5A-B201-9AC8B227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현재 배포 SLA 대시보드 캡처  |  2026-08-31</a:t>
            </a:r>
          </a:p>
        </p:txBody>
      </p:sp>
    </p:spTree>
    <p:extLst>
      <p:ext uri="{BB962C8B-B14F-4D97-AF65-F5344CB8AC3E}">
        <p14:creationId xmlns:p14="http://schemas.microsoft.com/office/powerpoint/2010/main" val="18699544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2">
            <a:extLst xmlns:a="http://schemas.openxmlformats.org/drawingml/2006/main">
              <a:ext uri="{FF2B5EF4-FFF2-40B4-BE49-F238E27FC236}">
                <a16:creationId xmlns:a16="http://schemas.microsoft.com/office/drawing/2014/main" id="{328F622E-11A5-443A-BA20-F1A9913C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VISIBILITY MATRIX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C849195E-A529-481C-9255-AAC934BD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가시성 차이는 화면 수보다 답변 단위에서 납니다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58E8D465-A4AE-4CA5-9D11-00593597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F74BACE1-E533-4A60-B33B-5EAD8D79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CE975-846D-418B-B94F-94CBCEF7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운영 질문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70950-741C-47D4-B69D-4D522CCF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현재 TACEA 화면에서 반복되는 세 가지 질문을 기준으로 비교했습니다.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99C46-AD2D-454B-9F4F-C3D3467A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31737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이번 달 유입·해결 차이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8D3455-8DE0-4911-B976-D3F02985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381375"/>
            <a:ext cx="1400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재조회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1D6874-3BA1-4D4A-99EA-CCFEC802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A39024-0875-4737-9155-8D3D786F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31737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지금 막힌 상태·유형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E8740-CB6A-4C59-8C40-A67677FC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048125"/>
            <a:ext cx="1400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재필터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E5F3B6-AB1C-4289-A96E-C688A51A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76F067-5F1B-4C8B-BC26-9FB31088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31737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SLA 위험과 최근 근거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6FD445-FD4A-4B9E-B2B4-A4B39FA6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714875"/>
            <a:ext cx="1400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티켓별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FAEED-345E-4545-B20D-0E25E583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6" name="thesis-panel">
            <a:extLst xmlns:a="http://schemas.openxmlformats.org/drawingml/2006/main">
              <a:ext uri="{FF2B5EF4-FFF2-40B4-BE49-F238E27FC236}">
                <a16:creationId xmlns:a16="http://schemas.microsoft.com/office/drawing/2014/main" id="{4E180D24-2E42-424C-9637-63AE9F71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71650"/>
            <a:ext cx="55054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BDEB59-FE7B-40CB-A4FB-F9E67EC2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워크스페이스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858BA9-F439-46FC-B2F3-17178221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한 필터 기준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E1D122-5D51-4B4B-AF14-40C906ED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요약 → 근거 → 원문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C8139-DB42-4A96-AEFB-87EAE19B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53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같은 원천을 유지하면서 재조회와 수기 합산을 줄입니다.</a:t>
            </a:r>
          </a:p>
        </p:txBody>
      </p:sp>
    </p:spTree>
    <p:extLst>
      <p:ext uri="{BB962C8B-B14F-4D97-AF65-F5344CB8AC3E}">
        <p14:creationId xmlns:p14="http://schemas.microsoft.com/office/powerpoint/2010/main" val="2749193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-8">
            <a:extLst xmlns:a="http://schemas.openxmlformats.org/drawingml/2006/main">
              <a:ext uri="{FF2B5EF4-FFF2-40B4-BE49-F238E27FC236}">
                <a16:creationId xmlns:a16="http://schemas.microsoft.com/office/drawing/2014/main" id="{BDF480AE-8D61-4CF9-AD3E-63FE432A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OPERATING MODEL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74EB98C5-805A-49DE-AF36-C1C8380A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JIRA는 기록 시스템, 워크스페이스는 운영 판단 레이어입니다</a:t>
            </a:r>
          </a:p>
        </p:txBody>
      </p:sp>
      <p:sp>
        <p:nvSpPr>
          <p:cNvPr id="3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177DB089-3EA9-4FEE-8113-E74EF1BB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775E6192-C21C-4376-9E54-C7E93D01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5" name="arrow-1">
            <a:extLst xmlns:a="http://schemas.openxmlformats.org/drawingml/2006/main">
              <a:ext uri="{FF2B5EF4-FFF2-40B4-BE49-F238E27FC236}">
                <a16:creationId xmlns:a16="http://schemas.microsoft.com/office/drawing/2014/main" id="{F8C1ECAC-F417-41E2-B7F2-F0C014B8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62250"/>
            <a:ext cx="685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2">
            <a:extLst xmlns:a="http://schemas.openxmlformats.org/drawingml/2006/main">
              <a:ext uri="{FF2B5EF4-FFF2-40B4-BE49-F238E27FC236}">
                <a16:creationId xmlns:a16="http://schemas.microsoft.com/office/drawing/2014/main" id="{B28F66D0-172B-4BCE-A178-D1B5BAB0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62250"/>
            <a:ext cx="685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-3">
            <a:extLst xmlns:a="http://schemas.openxmlformats.org/drawingml/2006/main">
              <a:ext uri="{FF2B5EF4-FFF2-40B4-BE49-F238E27FC236}">
                <a16:creationId xmlns:a16="http://schemas.microsoft.com/office/drawing/2014/main" id="{3E2FF07D-FE4B-42C6-AB1B-B0C51C3E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62250"/>
            <a:ext cx="685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ch-node-1">
            <a:extLst xmlns:a="http://schemas.openxmlformats.org/drawingml/2006/main">
              <a:ext uri="{FF2B5EF4-FFF2-40B4-BE49-F238E27FC236}">
                <a16:creationId xmlns:a16="http://schemas.microsoft.com/office/drawing/2014/main" id="{8FD92F13-E821-4806-ACB8-54C70704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D20AD-3DFD-4956-A710-81EA2C31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JIRA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AB7225-198A-4A25-9D51-F4DA7DC5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TACEA 원천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이슈·상태·SLA</a:t>
            </a:r>
          </a:p>
        </p:txBody>
      </p:sp>
      <p:sp>
        <p:nvSpPr>
          <p:cNvPr id="11" name="arch-node-2">
            <a:extLst xmlns:a="http://schemas.openxmlformats.org/drawingml/2006/main">
              <a:ext uri="{FF2B5EF4-FFF2-40B4-BE49-F238E27FC236}">
                <a16:creationId xmlns:a16="http://schemas.microsoft.com/office/drawing/2014/main" id="{CC47B21C-B011-4474-AD76-00B42BE0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33600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83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3C99AF-58ED-4231-9290-7A072532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003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수집·정규화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2AC3A0-3CBC-482F-BCB4-6CBF81E5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5275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프로젝트 전체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유형·기간 기준</a:t>
            </a:r>
          </a:p>
        </p:txBody>
      </p:sp>
      <p:sp>
        <p:nvSpPr>
          <p:cNvPr id="14" name="arch-node-3">
            <a:extLst xmlns:a="http://schemas.openxmlformats.org/drawingml/2006/main">
              <a:ext uri="{FF2B5EF4-FFF2-40B4-BE49-F238E27FC236}">
                <a16:creationId xmlns:a16="http://schemas.microsoft.com/office/drawing/2014/main" id="{E8BD60FF-F093-4C2B-A6E4-7FBD4E04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33600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02D952-7549-44DA-972B-6954DCE2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운영 화면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96CE04-696A-4E0C-9245-6A4005C3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요약·추세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SLA·파트너</a:t>
            </a:r>
          </a:p>
        </p:txBody>
      </p:sp>
      <p:sp>
        <p:nvSpPr>
          <p:cNvPr id="17" name="arch-node-4">
            <a:extLst xmlns:a="http://schemas.openxmlformats.org/drawingml/2006/main">
              <a:ext uri="{FF2B5EF4-FFF2-40B4-BE49-F238E27FC236}">
                <a16:creationId xmlns:a16="http://schemas.microsoft.com/office/drawing/2014/main" id="{A500B598-167C-4A12-9FFE-CFD80FBD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33600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CEAA84-4885-44C5-B768-76FCB969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003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후속 조치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BD063B-AEF8-4561-B204-E8E7A1D0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5275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JIRA 원문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보고서·파일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96095E-F873-45CF-8B09-E8099DBD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05300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원천을 복제하지 않고, 전사 공통 질문에 맞는 읽기 모델을 제공합니다.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DFFA5A-E660-46BE-AFC2-D65C5640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프로젝트 전체 기준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BDF4F2-29AB-4076-BE96-60467793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38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JIRA 직접 연결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40853B-3DA0-4190-83C5-950EEC1F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38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권한·자격정보 보호</a:t>
            </a:r>
          </a:p>
        </p:txBody>
      </p:sp>
    </p:spTree>
    <p:extLst>
      <p:ext uri="{BB962C8B-B14F-4D97-AF65-F5344CB8AC3E}">
        <p14:creationId xmlns:p14="http://schemas.microsoft.com/office/powerpoint/2010/main" val="226048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51064B-91D6-4E44-A983-17DD5C04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1B158-263A-47FC-9E9A-B9C1A845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98107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40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전사 확대 여부는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40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이 세 지표로 판단하면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060FF-F1AF-4713-9934-A9B1BD5F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0C433-16D7-4415-BFBC-A67A103E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답변까지 걸린 시간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302DF-292A-4125-AE8A-3DAD265E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운영 질문 제시 → 근거 화면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9F379-17A2-402A-B9FD-D8A331C3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33800"/>
            <a:ext cx="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100E3-1721-41E2-9BDE-27207D62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957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9A267-1C84-43B9-B54B-7A249A47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719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화면·필터 전환 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C9D057-0197-4CCF-92C8-9447BBD3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815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JIRA 재조회·티켓 이동·수기 합산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A0FFD-703F-4A69-9AED-3D6909A6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33800"/>
            <a:ext cx="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1BBC3-653C-42DA-B946-2AB8F784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957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800D53-B858-4447-A091-45B44462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719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결과 재사용성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3FBC62-19A5-4FCA-A9EF-C4AB02C6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815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보고서 생성·공유·원문 추적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993542-A005-40B6-A4EF-565C7172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FBB43-EB4B-48B3-93A9-C95DAE9E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제안: 2개 부서의 동일 업무를 JIRA 기준선과 비교해 2주간 측정 후 확대 결정</a:t>
            </a:r>
          </a:p>
        </p:txBody>
      </p:sp>
    </p:spTree>
    <p:extLst>
      <p:ext uri="{BB962C8B-B14F-4D97-AF65-F5344CB8AC3E}">
        <p14:creationId xmlns:p14="http://schemas.microsoft.com/office/powerpoint/2010/main" val="18704279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2026-08-31T05:01:53.1510000Z</dcterms:created>
  <dcterms:modified xsi:type="dcterms:W3CDTF">2026-08-31T05:01:53.1510000Z</dcterms:modified>
</coreProperties>
</file>